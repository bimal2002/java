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5" r:id="rId1"/>
  </p:sldMasterIdLst>
  <p:notesMasterIdLst>
    <p:notesMasterId r:id="rId47"/>
  </p:notesMasterIdLst>
  <p:handoutMasterIdLst>
    <p:handoutMasterId r:id="rId48"/>
  </p:handoutMasterIdLst>
  <p:sldIdLst>
    <p:sldId id="256" r:id="rId2"/>
    <p:sldId id="257" r:id="rId3"/>
    <p:sldId id="258" r:id="rId4"/>
    <p:sldId id="259" r:id="rId5"/>
    <p:sldId id="260" r:id="rId6"/>
    <p:sldId id="261" r:id="rId7"/>
    <p:sldId id="262" r:id="rId8"/>
    <p:sldId id="301" r:id="rId9"/>
    <p:sldId id="269" r:id="rId10"/>
    <p:sldId id="263" r:id="rId11"/>
    <p:sldId id="267" r:id="rId12"/>
    <p:sldId id="268" r:id="rId13"/>
    <p:sldId id="264" r:id="rId14"/>
    <p:sldId id="265" r:id="rId15"/>
    <p:sldId id="266" r:id="rId16"/>
    <p:sldId id="270" r:id="rId17"/>
    <p:sldId id="271" r:id="rId18"/>
    <p:sldId id="302" r:id="rId19"/>
    <p:sldId id="284" r:id="rId20"/>
    <p:sldId id="272" r:id="rId21"/>
    <p:sldId id="273" r:id="rId22"/>
    <p:sldId id="274" r:id="rId23"/>
    <p:sldId id="275" r:id="rId24"/>
    <p:sldId id="277" r:id="rId25"/>
    <p:sldId id="276" r:id="rId26"/>
    <p:sldId id="280" r:id="rId27"/>
    <p:sldId id="281" r:id="rId28"/>
    <p:sldId id="279" r:id="rId29"/>
    <p:sldId id="282" r:id="rId30"/>
    <p:sldId id="283" r:id="rId31"/>
    <p:sldId id="285" r:id="rId32"/>
    <p:sldId id="286" r:id="rId33"/>
    <p:sldId id="287" r:id="rId34"/>
    <p:sldId id="289" r:id="rId35"/>
    <p:sldId id="290" r:id="rId36"/>
    <p:sldId id="291" r:id="rId37"/>
    <p:sldId id="292" r:id="rId38"/>
    <p:sldId id="293" r:id="rId39"/>
    <p:sldId id="294" r:id="rId40"/>
    <p:sldId id="295" r:id="rId41"/>
    <p:sldId id="296" r:id="rId42"/>
    <p:sldId id="297" r:id="rId43"/>
    <p:sldId id="300" r:id="rId44"/>
    <p:sldId id="298" r:id="rId45"/>
    <p:sldId id="299"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04" autoAdjust="0"/>
    <p:restoredTop sz="94660" autoAdjust="0"/>
  </p:normalViewPr>
  <p:slideViewPr>
    <p:cSldViewPr snapToGrid="0">
      <p:cViewPr varScale="1">
        <p:scale>
          <a:sx n="95" d="100"/>
          <a:sy n="95" d="100"/>
        </p:scale>
        <p:origin x="46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15C63A-5773-452F-B688-F306EDF895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22032DED-DE25-4E68-B382-2092B76A14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CC8DA5-D0A4-4326-9A63-531F37D488D9}" type="datetimeFigureOut">
              <a:rPr lang="en-IN" smtClean="0"/>
              <a:t>17-07-2026</a:t>
            </a:fld>
            <a:endParaRPr lang="en-IN"/>
          </a:p>
        </p:txBody>
      </p:sp>
      <p:sp>
        <p:nvSpPr>
          <p:cNvPr id="4" name="Footer Placeholder 3">
            <a:extLst>
              <a:ext uri="{FF2B5EF4-FFF2-40B4-BE49-F238E27FC236}">
                <a16:creationId xmlns:a16="http://schemas.microsoft.com/office/drawing/2014/main" id="{5A17434D-8610-4258-ACD1-DA10ACAA10E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B268EF6-7317-48CA-BCD8-94C6AD74CB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D8A958-E0CF-45C6-ABA6-78B4899F7491}" type="slidenum">
              <a:rPr lang="en-IN" smtClean="0"/>
              <a:t>‹#›</a:t>
            </a:fld>
            <a:endParaRPr lang="en-IN"/>
          </a:p>
        </p:txBody>
      </p:sp>
    </p:spTree>
    <p:extLst>
      <p:ext uri="{BB962C8B-B14F-4D97-AF65-F5344CB8AC3E}">
        <p14:creationId xmlns:p14="http://schemas.microsoft.com/office/powerpoint/2010/main" val="35623803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EE7FE5-4027-4852-ACB7-0E3D6A24DBC0}" type="datetimeFigureOut">
              <a:rPr lang="en-IN" smtClean="0"/>
              <a:t>17-07-2026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28A52A-BA7A-439C-83AE-7C82A5AE3454}" type="slidenum">
              <a:rPr lang="en-IN" smtClean="0"/>
              <a:t>‹#›</a:t>
            </a:fld>
            <a:endParaRPr lang="en-IN"/>
          </a:p>
        </p:txBody>
      </p:sp>
    </p:spTree>
    <p:extLst>
      <p:ext uri="{BB962C8B-B14F-4D97-AF65-F5344CB8AC3E}">
        <p14:creationId xmlns:p14="http://schemas.microsoft.com/office/powerpoint/2010/main" val="4042144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E28A52A-BA7A-439C-83AE-7C82A5AE3454}" type="slidenum">
              <a:rPr lang="en-IN" smtClean="0"/>
              <a:t>1</a:t>
            </a:fld>
            <a:endParaRPr lang="en-IN"/>
          </a:p>
        </p:txBody>
      </p:sp>
    </p:spTree>
    <p:extLst>
      <p:ext uri="{BB962C8B-B14F-4D97-AF65-F5344CB8AC3E}">
        <p14:creationId xmlns:p14="http://schemas.microsoft.com/office/powerpoint/2010/main" val="2157256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E28A52A-BA7A-439C-83AE-7C82A5AE3454}" type="slidenum">
              <a:rPr lang="en-IN" smtClean="0"/>
              <a:t>2</a:t>
            </a:fld>
            <a:endParaRPr lang="en-IN"/>
          </a:p>
        </p:txBody>
      </p:sp>
    </p:spTree>
    <p:extLst>
      <p:ext uri="{BB962C8B-B14F-4D97-AF65-F5344CB8AC3E}">
        <p14:creationId xmlns:p14="http://schemas.microsoft.com/office/powerpoint/2010/main" val="2402954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E28A52A-BA7A-439C-83AE-7C82A5AE3454}" type="slidenum">
              <a:rPr lang="en-IN" smtClean="0"/>
              <a:t>3</a:t>
            </a:fld>
            <a:endParaRPr lang="en-IN"/>
          </a:p>
        </p:txBody>
      </p:sp>
    </p:spTree>
    <p:extLst>
      <p:ext uri="{BB962C8B-B14F-4D97-AF65-F5344CB8AC3E}">
        <p14:creationId xmlns:p14="http://schemas.microsoft.com/office/powerpoint/2010/main" val="2353062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E28A52A-BA7A-439C-83AE-7C82A5AE3454}" type="slidenum">
              <a:rPr lang="en-IN" smtClean="0"/>
              <a:t>4</a:t>
            </a:fld>
            <a:endParaRPr lang="en-IN"/>
          </a:p>
        </p:txBody>
      </p:sp>
    </p:spTree>
    <p:extLst>
      <p:ext uri="{BB962C8B-B14F-4D97-AF65-F5344CB8AC3E}">
        <p14:creationId xmlns:p14="http://schemas.microsoft.com/office/powerpoint/2010/main" val="1942925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E28A52A-BA7A-439C-83AE-7C82A5AE3454}" type="slidenum">
              <a:rPr lang="en-IN" smtClean="0"/>
              <a:t>5</a:t>
            </a:fld>
            <a:endParaRPr lang="en-IN"/>
          </a:p>
        </p:txBody>
      </p:sp>
    </p:spTree>
    <p:extLst>
      <p:ext uri="{BB962C8B-B14F-4D97-AF65-F5344CB8AC3E}">
        <p14:creationId xmlns:p14="http://schemas.microsoft.com/office/powerpoint/2010/main" val="42373138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ctrTitle"/>
          </p:nvPr>
        </p:nvSpPr>
        <p:spPr>
          <a:xfrm>
            <a:off x="3962399" y="1964267"/>
            <a:ext cx="7197727"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4"/>
            <a:ext cx="7197727" cy="1405467"/>
          </a:xfrm>
        </p:spPr>
        <p:txBody>
          <a:bodyPr anchor="t">
            <a:normAutofit/>
          </a:bodyPr>
          <a:lstStyle>
            <a:lvl1pPr marL="0" indent="0" algn="r">
              <a:buNone/>
              <a:defRPr sz="1800" cap="all">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9" y="5870577"/>
            <a:ext cx="1600200" cy="377825"/>
          </a:xfrm>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a:xfrm>
            <a:off x="3962399" y="5870577"/>
            <a:ext cx="4893959" cy="377825"/>
          </a:xfrm>
        </p:spPr>
        <p:txBody>
          <a:bodyPr/>
          <a:lstStyle/>
          <a:p>
            <a:endParaRPr lang="en-US" dirty="0"/>
          </a:p>
        </p:txBody>
      </p:sp>
      <p:sp>
        <p:nvSpPr>
          <p:cNvPr id="6" name="Slide Number Placeholder 5"/>
          <p:cNvSpPr>
            <a:spLocks noGrp="1"/>
          </p:cNvSpPr>
          <p:nvPr>
            <p:ph type="sldNum" sz="quarter" idx="12"/>
          </p:nvPr>
        </p:nvSpPr>
        <p:spPr>
          <a:xfrm>
            <a:off x="10608959" y="5870577"/>
            <a:ext cx="551167" cy="3778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327693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6966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7184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5"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9"/>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3550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5" cy="576262"/>
          </a:xfrm>
        </p:spPr>
        <p:txBody>
          <a:bodyPr anchor="b">
            <a:noAutofit/>
          </a:bodyPr>
          <a:lstStyle>
            <a:lvl1pPr marL="0" indent="0">
              <a:buNone/>
              <a:defRPr sz="28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4" y="2226734"/>
            <a:ext cx="4722813" cy="576262"/>
          </a:xfrm>
        </p:spPr>
        <p:txBody>
          <a:bodyPr anchor="b">
            <a:noAutofit/>
          </a:bodyPr>
          <a:lstStyle>
            <a:lvl1pPr marL="0" indent="0">
              <a:buNone/>
              <a:defRPr sz="28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5"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46599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4226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82717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7"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248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4" y="914400"/>
            <a:ext cx="3280975"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92479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1"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5299603"/>
            <a:ext cx="10131427" cy="493712"/>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0944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609603"/>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343400"/>
            <a:ext cx="10131428" cy="1447800"/>
          </a:xfrm>
        </p:spPr>
        <p:txBody>
          <a:bodyPr anchor="ctr">
            <a:normAutofit/>
          </a:bodyPr>
          <a:lstStyle>
            <a:lvl1pPr marL="0" indent="0" algn="l">
              <a:buNone/>
              <a:defRPr sz="20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3689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9" y="609603"/>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Edit Master text styles</a:t>
            </a:r>
          </a:p>
        </p:txBody>
      </p:sp>
      <p:sp>
        <p:nvSpPr>
          <p:cNvPr id="3" name="Text Placeholder 2"/>
          <p:cNvSpPr>
            <a:spLocks noGrp="1"/>
          </p:cNvSpPr>
          <p:nvPr>
            <p:ph type="body" idx="1"/>
          </p:nvPr>
        </p:nvSpPr>
        <p:spPr>
          <a:xfrm>
            <a:off x="687466" y="4343400"/>
            <a:ext cx="10152367" cy="1447800"/>
          </a:xfrm>
        </p:spPr>
        <p:txBody>
          <a:bodyPr anchor="ctr">
            <a:normAutofit/>
          </a:bodyPr>
          <a:lstStyle>
            <a:lvl1pPr marL="0" indent="0" algn="l">
              <a:buNone/>
              <a:defRPr sz="20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4748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4"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7" cy="860400"/>
          </a:xfrm>
        </p:spPr>
        <p:txBody>
          <a:bodyPr anchor="t">
            <a:normAutofit/>
          </a:bodyPr>
          <a:lstStyle>
            <a:lvl1pPr marL="0" indent="0" algn="l">
              <a:buNone/>
              <a:defRPr sz="20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65468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9" y="609603"/>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1"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93224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609603"/>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2"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1" y="4343400"/>
            <a:ext cx="10131428" cy="1447800"/>
          </a:xfrm>
        </p:spPr>
        <p:txBody>
          <a:bodyPr anchor="t">
            <a:normAutofit/>
          </a:bodyPr>
          <a:lstStyle>
            <a:lvl1pPr marL="0" indent="0" algn="l">
              <a:buNone/>
              <a:defRPr sz="18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6331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8" name="Title 1"/>
          <p:cNvSpPr>
            <a:spLocks noGrp="1"/>
          </p:cNvSpPr>
          <p:nvPr>
            <p:ph type="title"/>
          </p:nvPr>
        </p:nvSpPr>
        <p:spPr>
          <a:xfrm>
            <a:off x="685802" y="609602"/>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245067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Vertical Title 1"/>
          <p:cNvSpPr>
            <a:spLocks noGrp="1"/>
          </p:cNvSpPr>
          <p:nvPr>
            <p:ph type="title" orient="vert"/>
          </p:nvPr>
        </p:nvSpPr>
        <p:spPr>
          <a:xfrm>
            <a:off x="8658675" y="609601"/>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1"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2816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2" y="609602"/>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2" y="2142069"/>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7"/>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7/17/2026</a:t>
            </a:fld>
            <a:endParaRPr lang="en-US" dirty="0"/>
          </a:p>
        </p:txBody>
      </p:sp>
      <p:sp>
        <p:nvSpPr>
          <p:cNvPr id="5" name="Footer Placeholder 4"/>
          <p:cNvSpPr>
            <a:spLocks noGrp="1"/>
          </p:cNvSpPr>
          <p:nvPr>
            <p:ph type="ftr" sz="quarter" idx="3"/>
          </p:nvPr>
        </p:nvSpPr>
        <p:spPr>
          <a:xfrm>
            <a:off x="685801" y="5870577"/>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2" y="5870577"/>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4591265"/>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txStyles>
    <p:titleStyle>
      <a:lvl1pPr algn="l" defTabSz="457189"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44" indent="-285744" algn="l" defTabSz="457189"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32" indent="-285744" algn="l" defTabSz="457189"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21" indent="-285744" algn="l" defTabSz="457189"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12" indent="-171446" algn="l" defTabSz="457189"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01" indent="-171446" algn="l" defTabSz="457189"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537" indent="-228594" algn="l" defTabSz="457189"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726" indent="-228594" algn="l" defTabSz="457189"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8914" indent="-228594" algn="l" defTabSz="457189"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103" indent="-228594" algn="l" defTabSz="457189"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hyperlink" Target="https://www.mongodb.com/download-center/community"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mongodb.com/nosql-explained" TargetMode="External"/><Relationship Id="rId2" Type="http://schemas.openxmlformats.org/officeDocument/2006/relationships/hyperlink" Target="https://docs.mongodb.com/manual/reference/sql-comparison/" TargetMode="External"/><Relationship Id="rId1" Type="http://schemas.openxmlformats.org/officeDocument/2006/relationships/slideLayout" Target="../slideLayouts/slideLayout2.xml"/><Relationship Id="rId6" Type="http://schemas.openxmlformats.org/officeDocument/2006/relationships/hyperlink" Target="https://dzone.com/refcardz/mongodb?chapter=1" TargetMode="External"/><Relationship Id="rId5" Type="http://schemas.openxmlformats.org/officeDocument/2006/relationships/hyperlink" Target="https://blog.codecentric.de/files/2012/12/MongoDB-CheatSheet-v1_0.pdf" TargetMode="External"/><Relationship Id="rId4" Type="http://schemas.openxmlformats.org/officeDocument/2006/relationships/hyperlink" Target="https://www.mongodb.com/compare/mongodb-mysql"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resources.mongodb.com/getting-started-with-mongodb" TargetMode="External"/><Relationship Id="rId2" Type="http://schemas.openxmlformats.org/officeDocument/2006/relationships/hyperlink" Target="https://university.mongodb.com/courses/catalog" TargetMode="External"/><Relationship Id="rId1" Type="http://schemas.openxmlformats.org/officeDocument/2006/relationships/slideLayout" Target="../slideLayouts/slideLayout2.xml"/><Relationship Id="rId4" Type="http://schemas.openxmlformats.org/officeDocument/2006/relationships/hyperlink" Target="https://www.youtube.com/watch?v=EE8ZTQxa0A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99006FE-DF95-424C-9A61-7B32A2D1B850}"/>
              </a:ext>
            </a:extLst>
          </p:cNvPr>
          <p:cNvSpPr txBox="1"/>
          <p:nvPr/>
        </p:nvSpPr>
        <p:spPr>
          <a:xfrm>
            <a:off x="4270859" y="4963174"/>
            <a:ext cx="4629683" cy="646331"/>
          </a:xfrm>
          <a:prstGeom prst="rect">
            <a:avLst/>
          </a:prstGeom>
          <a:noFill/>
        </p:spPr>
        <p:txBody>
          <a:bodyPr wrap="square" rtlCol="0">
            <a:spAutoFit/>
          </a:bodyPr>
          <a:lstStyle/>
          <a:p>
            <a:pPr algn="r"/>
            <a:r>
              <a:rPr lang="en-IN" sz="3600" dirty="0"/>
              <a:t>Shyani  Sharma</a:t>
            </a:r>
            <a:endParaRPr lang="en-IN" sz="2000" dirty="0"/>
          </a:p>
        </p:txBody>
      </p:sp>
      <p:pic>
        <p:nvPicPr>
          <p:cNvPr id="8" name="Picture 7">
            <a:extLst>
              <a:ext uri="{FF2B5EF4-FFF2-40B4-BE49-F238E27FC236}">
                <a16:creationId xmlns:a16="http://schemas.microsoft.com/office/drawing/2014/main" id="{FA630C96-E6E8-4BC1-B7C4-9503AE4B6BE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992157" y="297101"/>
            <a:ext cx="2237449" cy="766095"/>
          </a:xfrm>
          <a:prstGeom prst="rect">
            <a:avLst/>
          </a:prstGeom>
        </p:spPr>
      </p:pic>
      <p:sp>
        <p:nvSpPr>
          <p:cNvPr id="11" name="Rectangle 10">
            <a:extLst>
              <a:ext uri="{FF2B5EF4-FFF2-40B4-BE49-F238E27FC236}">
                <a16:creationId xmlns:a16="http://schemas.microsoft.com/office/drawing/2014/main" id="{AB7413DB-B60B-498C-B17B-3531A93B2C72}"/>
              </a:ext>
            </a:extLst>
          </p:cNvPr>
          <p:cNvSpPr/>
          <p:nvPr/>
        </p:nvSpPr>
        <p:spPr>
          <a:xfrm>
            <a:off x="5992157" y="1198197"/>
            <a:ext cx="4916247" cy="2208105"/>
          </a:xfrm>
          <a:prstGeom prst="rect">
            <a:avLst/>
          </a:prstGeom>
        </p:spPr>
        <p:txBody>
          <a:bodyPr wrap="square">
            <a:spAutoFit/>
          </a:bodyPr>
          <a:lstStyle/>
          <a:p>
            <a:pPr>
              <a:lnSpc>
                <a:spcPct val="107000"/>
              </a:lnSpc>
              <a:spcAft>
                <a:spcPts val="800"/>
              </a:spcAft>
            </a:pPr>
            <a:r>
              <a:rPr lang="en-IN" sz="4400" dirty="0">
                <a:effectLst>
                  <a:outerShdw blurRad="38100" dist="38100" dir="2700000" algn="tl">
                    <a:srgbClr val="000000">
                      <a:alpha val="43137"/>
                    </a:srgbClr>
                  </a:outerShdw>
                </a:effectLst>
                <a:latin typeface="Berlin Sans FB Demi" panose="020E0802020502020306" pitchFamily="34" charset="0"/>
                <a:ea typeface="Calibri" panose="020F0502020204030204" pitchFamily="34" charset="0"/>
                <a:cs typeface="Mangal" panose="020B0502040204020203" pitchFamily="18" charset="0"/>
              </a:rPr>
              <a:t>Basics of </a:t>
            </a:r>
            <a:r>
              <a:rPr lang="en-IN" sz="4400" dirty="0">
                <a:solidFill>
                  <a:schemeClr val="accent1"/>
                </a:solidFill>
                <a:effectLst>
                  <a:outerShdw blurRad="38100" dist="38100" dir="2700000" algn="tl">
                    <a:srgbClr val="000000">
                      <a:alpha val="43137"/>
                    </a:srgbClr>
                  </a:outerShdw>
                </a:effectLst>
                <a:latin typeface="Berlin Sans FB Demi" panose="020E0802020502020306" pitchFamily="34" charset="0"/>
                <a:ea typeface="Calibri" panose="020F0502020204030204" pitchFamily="34" charset="0"/>
                <a:cs typeface="Mangal" panose="020B0502040204020203" pitchFamily="18" charset="0"/>
              </a:rPr>
              <a:t>MongoDB</a:t>
            </a:r>
            <a:r>
              <a:rPr lang="en-IN" sz="4400" dirty="0">
                <a:effectLst>
                  <a:outerShdw blurRad="38100" dist="38100" dir="2700000" algn="tl">
                    <a:srgbClr val="000000">
                      <a:alpha val="43137"/>
                    </a:srgbClr>
                  </a:outerShdw>
                </a:effectLst>
                <a:latin typeface="Berlin Sans FB Demi" panose="020E0802020502020306" pitchFamily="34" charset="0"/>
                <a:ea typeface="Calibri" panose="020F0502020204030204" pitchFamily="34" charset="0"/>
                <a:cs typeface="Mangal" panose="020B0502040204020203" pitchFamily="18" charset="0"/>
              </a:rPr>
              <a:t> in Windows Environment</a:t>
            </a:r>
          </a:p>
        </p:txBody>
      </p:sp>
    </p:spTree>
    <p:extLst>
      <p:ext uri="{BB962C8B-B14F-4D97-AF65-F5344CB8AC3E}">
        <p14:creationId xmlns:p14="http://schemas.microsoft.com/office/powerpoint/2010/main" val="2853886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63CBD-0A7E-4C86-81F4-8B0FE4D61823}"/>
              </a:ext>
            </a:extLst>
          </p:cNvPr>
          <p:cNvSpPr>
            <a:spLocks noGrp="1"/>
          </p:cNvSpPr>
          <p:nvPr>
            <p:ph type="title"/>
          </p:nvPr>
        </p:nvSpPr>
        <p:spPr>
          <a:xfrm>
            <a:off x="685803" y="609602"/>
            <a:ext cx="8193156" cy="1456267"/>
          </a:xfrm>
        </p:spPr>
        <p:txBody>
          <a:bodyPr/>
          <a:lstStyle/>
          <a:p>
            <a:r>
              <a:rPr lang="en-IN" dirty="0"/>
              <a:t>Contents</a:t>
            </a:r>
          </a:p>
        </p:txBody>
      </p:sp>
      <p:sp>
        <p:nvSpPr>
          <p:cNvPr id="3" name="Content Placeholder 2">
            <a:extLst>
              <a:ext uri="{FF2B5EF4-FFF2-40B4-BE49-F238E27FC236}">
                <a16:creationId xmlns:a16="http://schemas.microsoft.com/office/drawing/2014/main" id="{A9BACC3F-5847-4D47-B219-EF1AB01F4E17}"/>
              </a:ext>
            </a:extLst>
          </p:cNvPr>
          <p:cNvSpPr>
            <a:spLocks noGrp="1"/>
          </p:cNvSpPr>
          <p:nvPr>
            <p:ph sz="half" idx="1"/>
          </p:nvPr>
        </p:nvSpPr>
        <p:spPr>
          <a:xfrm>
            <a:off x="709971" y="1844977"/>
            <a:ext cx="4072410" cy="3630304"/>
          </a:xfrm>
        </p:spPr>
        <p:txBody>
          <a:bodyPr>
            <a:normAutofit fontScale="25000" lnSpcReduction="20000"/>
          </a:bodyPr>
          <a:lstStyle/>
          <a:p>
            <a:pPr>
              <a:buFont typeface="Wingdings" panose="05000000000000000000" pitchFamily="2" charset="2"/>
              <a:buChar char="ü"/>
            </a:pPr>
            <a:endParaRPr lang="en-IN" dirty="0"/>
          </a:p>
          <a:p>
            <a:pPr marL="0" indent="0">
              <a:buNone/>
            </a:pPr>
            <a:endParaRPr lang="en-IN" sz="7200" dirty="0"/>
          </a:p>
          <a:p>
            <a:pPr>
              <a:buFont typeface="Wingdings" panose="05000000000000000000" pitchFamily="2" charset="2"/>
              <a:buChar char="ü"/>
            </a:pPr>
            <a:endParaRPr lang="en-IN" sz="7200" dirty="0"/>
          </a:p>
          <a:p>
            <a:pPr>
              <a:buFont typeface="Wingdings" panose="05000000000000000000" pitchFamily="2" charset="2"/>
              <a:buChar char="ü"/>
            </a:pPr>
            <a:endParaRPr lang="en-IN" sz="7200" dirty="0"/>
          </a:p>
          <a:p>
            <a:pPr>
              <a:buFont typeface="Wingdings" panose="05000000000000000000" pitchFamily="2" charset="2"/>
              <a:buChar char="ü"/>
            </a:pPr>
            <a:endParaRPr lang="en-IN" sz="7200" dirty="0"/>
          </a:p>
          <a:p>
            <a:pPr>
              <a:buFont typeface="Wingdings" panose="05000000000000000000" pitchFamily="2" charset="2"/>
              <a:buChar char="ü"/>
            </a:pPr>
            <a:endParaRPr lang="en-IN" sz="7200" dirty="0"/>
          </a:p>
          <a:p>
            <a:pPr>
              <a:buFont typeface="Wingdings" panose="05000000000000000000" pitchFamily="2" charset="2"/>
              <a:buChar char="ü"/>
            </a:pPr>
            <a:endParaRPr lang="en-IN" sz="7200" dirty="0"/>
          </a:p>
          <a:p>
            <a:pPr>
              <a:buFont typeface="Wingdings" panose="05000000000000000000" pitchFamily="2" charset="2"/>
              <a:buChar char="ü"/>
            </a:pPr>
            <a:endParaRPr lang="en-IN" sz="7200" dirty="0"/>
          </a:p>
          <a:p>
            <a:pPr>
              <a:buFont typeface="Wingdings" panose="05000000000000000000" pitchFamily="2" charset="2"/>
              <a:buChar char="ü"/>
            </a:pPr>
            <a:r>
              <a:rPr lang="en-IN" sz="7200" dirty="0"/>
              <a:t>What is MongoDB?</a:t>
            </a:r>
          </a:p>
          <a:p>
            <a:pPr>
              <a:buFont typeface="Wingdings" panose="05000000000000000000" pitchFamily="2" charset="2"/>
              <a:buChar char="ü"/>
            </a:pPr>
            <a:r>
              <a:rPr lang="en-IN" sz="7200" dirty="0"/>
              <a:t>What is NoSQL?</a:t>
            </a:r>
          </a:p>
          <a:p>
            <a:pPr>
              <a:buFont typeface="Wingdings" panose="05000000000000000000" pitchFamily="2" charset="2"/>
              <a:buChar char="ü"/>
            </a:pPr>
            <a:r>
              <a:rPr lang="en-IN" sz="7200" dirty="0"/>
              <a:t>How is NoSQL(MongoDB) different from conventional RDBMS?</a:t>
            </a:r>
          </a:p>
          <a:p>
            <a:pPr>
              <a:buFont typeface="Wingdings" panose="05000000000000000000" pitchFamily="2" charset="2"/>
              <a:buChar char="ü"/>
            </a:pPr>
            <a:r>
              <a:rPr lang="en-IN" sz="7200" dirty="0"/>
              <a:t>Why MongoDB is important?</a:t>
            </a:r>
          </a:p>
          <a:p>
            <a:pPr>
              <a:buFont typeface="Wingdings" panose="05000000000000000000" pitchFamily="2" charset="2"/>
              <a:buChar char="ü"/>
            </a:pPr>
            <a:r>
              <a:rPr lang="en-IN" sz="7200" dirty="0"/>
              <a:t>Key features of MongoDB</a:t>
            </a:r>
          </a:p>
          <a:p>
            <a:pPr>
              <a:buFont typeface="Wingdings" panose="05000000000000000000" pitchFamily="2" charset="2"/>
              <a:buChar char="ü"/>
            </a:pPr>
            <a:r>
              <a:rPr lang="en-IN" sz="7200" dirty="0"/>
              <a:t>How to install &amp; run MongoDB?</a:t>
            </a:r>
          </a:p>
          <a:p>
            <a:pPr>
              <a:buFont typeface="Wingdings" panose="05000000000000000000" pitchFamily="2" charset="2"/>
              <a:buChar char="ü"/>
            </a:pPr>
            <a:r>
              <a:rPr lang="en-IN" sz="7200" dirty="0"/>
              <a:t>What we get in installation package?</a:t>
            </a:r>
          </a:p>
          <a:p>
            <a:pPr>
              <a:buFont typeface="Wingdings" panose="05000000000000000000" pitchFamily="2" charset="2"/>
              <a:buChar char="ü"/>
            </a:pPr>
            <a:r>
              <a:rPr lang="en-IN" sz="7200" dirty="0"/>
              <a:t>What is JSON</a:t>
            </a:r>
          </a:p>
          <a:p>
            <a:pPr>
              <a:buFont typeface="Wingdings" panose="05000000000000000000" pitchFamily="2" charset="2"/>
              <a:buChar char="ü"/>
            </a:pPr>
            <a:r>
              <a:rPr lang="en-IN" sz="7200" dirty="0"/>
              <a:t>JSON Example</a:t>
            </a:r>
          </a:p>
          <a:p>
            <a:pPr marL="0" indent="0">
              <a:buNone/>
            </a:pPr>
            <a:endParaRPr lang="en-IN" sz="7200" dirty="0"/>
          </a:p>
          <a:p>
            <a:pPr>
              <a:buFont typeface="Wingdings" panose="05000000000000000000" pitchFamily="2" charset="2"/>
              <a:buChar char="ü"/>
            </a:pPr>
            <a:endParaRPr lang="en-IN" sz="7200" dirty="0"/>
          </a:p>
          <a:p>
            <a:pPr>
              <a:buFont typeface="Wingdings" panose="05000000000000000000" pitchFamily="2" charset="2"/>
              <a:buChar char="ü"/>
            </a:pPr>
            <a:endParaRPr lang="en-IN" sz="7200" dirty="0"/>
          </a:p>
          <a:p>
            <a:pPr>
              <a:buFont typeface="Wingdings" panose="05000000000000000000" pitchFamily="2" charset="2"/>
              <a:buChar char="ü"/>
            </a:pPr>
            <a:endParaRPr lang="en-IN" dirty="0"/>
          </a:p>
          <a:p>
            <a:pPr>
              <a:buFont typeface="Wingdings" panose="05000000000000000000" pitchFamily="2" charset="2"/>
              <a:buChar char="ü"/>
            </a:pPr>
            <a:endParaRPr lang="en-IN" dirty="0"/>
          </a:p>
          <a:p>
            <a:pPr>
              <a:buFont typeface="Wingdings" panose="05000000000000000000" pitchFamily="2" charset="2"/>
              <a:buChar char="ü"/>
            </a:pPr>
            <a:endParaRPr lang="en-IN" dirty="0"/>
          </a:p>
          <a:p>
            <a:pPr>
              <a:buFont typeface="Wingdings" panose="05000000000000000000" pitchFamily="2" charset="2"/>
              <a:buChar char="ü"/>
            </a:pPr>
            <a:endParaRPr lang="en-IN" dirty="0"/>
          </a:p>
          <a:p>
            <a:pPr>
              <a:buFont typeface="Wingdings" panose="05000000000000000000" pitchFamily="2" charset="2"/>
              <a:buChar char="ü"/>
            </a:pPr>
            <a:endParaRPr lang="en-IN" dirty="0"/>
          </a:p>
          <a:p>
            <a:pPr>
              <a:buFont typeface="Wingdings" panose="05000000000000000000" pitchFamily="2" charset="2"/>
              <a:buChar char="ü"/>
            </a:pPr>
            <a:endParaRPr lang="en-IN" dirty="0"/>
          </a:p>
          <a:p>
            <a:pPr>
              <a:buFont typeface="Wingdings" panose="05000000000000000000" pitchFamily="2" charset="2"/>
              <a:buChar char="ü"/>
            </a:pPr>
            <a:endParaRPr lang="en-IN" dirty="0"/>
          </a:p>
          <a:p>
            <a:pPr>
              <a:buFont typeface="Wingdings" panose="05000000000000000000" pitchFamily="2" charset="2"/>
              <a:buChar char="ü"/>
            </a:pPr>
            <a:endParaRPr lang="en-IN" dirty="0"/>
          </a:p>
          <a:p>
            <a:pPr>
              <a:buFont typeface="Wingdings" panose="05000000000000000000" pitchFamily="2" charset="2"/>
              <a:buChar char="ü"/>
            </a:pPr>
            <a:endParaRPr lang="en-IN" dirty="0"/>
          </a:p>
          <a:p>
            <a:pPr>
              <a:buFont typeface="Wingdings" panose="05000000000000000000" pitchFamily="2" charset="2"/>
              <a:buChar char="ü"/>
            </a:pPr>
            <a:endParaRPr lang="en-IN" dirty="0"/>
          </a:p>
        </p:txBody>
      </p:sp>
      <p:sp>
        <p:nvSpPr>
          <p:cNvPr id="4" name="Content Placeholder 3">
            <a:extLst>
              <a:ext uri="{FF2B5EF4-FFF2-40B4-BE49-F238E27FC236}">
                <a16:creationId xmlns:a16="http://schemas.microsoft.com/office/drawing/2014/main" id="{25472418-4F9F-4C0F-9C5C-B82AFB7D73E1}"/>
              </a:ext>
            </a:extLst>
          </p:cNvPr>
          <p:cNvSpPr>
            <a:spLocks noGrp="1"/>
          </p:cNvSpPr>
          <p:nvPr>
            <p:ph sz="half" idx="2"/>
          </p:nvPr>
        </p:nvSpPr>
        <p:spPr>
          <a:xfrm>
            <a:off x="4536437" y="1844977"/>
            <a:ext cx="4342522" cy="3630304"/>
          </a:xfrm>
        </p:spPr>
        <p:txBody>
          <a:bodyPr>
            <a:normAutofit fontScale="25000" lnSpcReduction="20000"/>
          </a:bodyPr>
          <a:lstStyle/>
          <a:p>
            <a:pPr marL="0" indent="0">
              <a:buNone/>
            </a:pPr>
            <a:endParaRPr lang="en-IN" sz="7200" dirty="0"/>
          </a:p>
          <a:p>
            <a:pPr>
              <a:buFont typeface="Wingdings" panose="05000000000000000000" pitchFamily="2" charset="2"/>
              <a:buChar char="ü"/>
            </a:pPr>
            <a:r>
              <a:rPr lang="en-IN" sz="7200" dirty="0"/>
              <a:t>Basic SQL to MongoDB Terminology Comparison</a:t>
            </a:r>
          </a:p>
          <a:p>
            <a:pPr>
              <a:buFont typeface="Wingdings" panose="05000000000000000000" pitchFamily="2" charset="2"/>
              <a:buChar char="ü"/>
            </a:pPr>
            <a:r>
              <a:rPr lang="en-IN" sz="7200" dirty="0"/>
              <a:t>Major Datatypes in MongoDB</a:t>
            </a:r>
          </a:p>
          <a:p>
            <a:pPr>
              <a:buFont typeface="Wingdings" panose="05000000000000000000" pitchFamily="2" charset="2"/>
              <a:buChar char="ü"/>
            </a:pPr>
            <a:r>
              <a:rPr lang="en-IN" sz="7200" dirty="0"/>
              <a:t>What is ObjectID (_id)?</a:t>
            </a:r>
          </a:p>
          <a:p>
            <a:pPr>
              <a:buFont typeface="Wingdings" panose="05000000000000000000" pitchFamily="2" charset="2"/>
              <a:buChar char="ü"/>
            </a:pPr>
            <a:r>
              <a:rPr lang="en-IN" sz="7200" dirty="0"/>
              <a:t>Basic CRUD operations in MongoDB</a:t>
            </a:r>
          </a:p>
          <a:p>
            <a:pPr>
              <a:buFont typeface="Wingdings" panose="05000000000000000000" pitchFamily="2" charset="2"/>
              <a:buChar char="ü"/>
            </a:pPr>
            <a:r>
              <a:rPr lang="en-IN" sz="7200" dirty="0"/>
              <a:t>Important Query methods in MongoDB</a:t>
            </a:r>
          </a:p>
          <a:p>
            <a:pPr>
              <a:buFont typeface="Wingdings" panose="05000000000000000000" pitchFamily="2" charset="2"/>
              <a:buChar char="ü"/>
            </a:pPr>
            <a:r>
              <a:rPr lang="en-IN" sz="7200" dirty="0"/>
              <a:t>Important operators</a:t>
            </a:r>
          </a:p>
          <a:p>
            <a:pPr>
              <a:buFont typeface="Wingdings" panose="05000000000000000000" pitchFamily="2" charset="2"/>
              <a:buChar char="ü"/>
            </a:pPr>
            <a:r>
              <a:rPr lang="en-IN" sz="7200" dirty="0"/>
              <a:t>RDBMS Where clause equivalents in MongoDB</a:t>
            </a:r>
          </a:p>
          <a:p>
            <a:pPr>
              <a:buFont typeface="Wingdings" panose="05000000000000000000" pitchFamily="2" charset="2"/>
              <a:buChar char="ü"/>
            </a:pPr>
            <a:r>
              <a:rPr lang="en-IN" sz="7200" dirty="0"/>
              <a:t>Where MongoDB is best suited?</a:t>
            </a:r>
          </a:p>
          <a:p>
            <a:pPr>
              <a:buFont typeface="Wingdings" panose="05000000000000000000" pitchFamily="2" charset="2"/>
              <a:buChar char="ü"/>
            </a:pPr>
            <a:r>
              <a:rPr lang="en-IN" sz="7200" dirty="0"/>
              <a:t>Excellent MongoDB learning references</a:t>
            </a:r>
          </a:p>
          <a:p>
            <a:pPr marL="0" indent="0">
              <a:buNone/>
            </a:pPr>
            <a:endParaRPr lang="en-IN" sz="7200" dirty="0"/>
          </a:p>
          <a:p>
            <a:endParaRPr lang="en-IN" dirty="0"/>
          </a:p>
        </p:txBody>
      </p:sp>
    </p:spTree>
    <p:extLst>
      <p:ext uri="{BB962C8B-B14F-4D97-AF65-F5344CB8AC3E}">
        <p14:creationId xmlns:p14="http://schemas.microsoft.com/office/powerpoint/2010/main" val="836387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F2AE7-8DE6-4231-9727-68DC88ED1CD0}"/>
              </a:ext>
            </a:extLst>
          </p:cNvPr>
          <p:cNvSpPr>
            <a:spLocks noGrp="1"/>
          </p:cNvSpPr>
          <p:nvPr>
            <p:ph type="title"/>
          </p:nvPr>
        </p:nvSpPr>
        <p:spPr>
          <a:xfrm>
            <a:off x="685806" y="401292"/>
            <a:ext cx="4204246" cy="633413"/>
          </a:xfrm>
        </p:spPr>
        <p:txBody>
          <a:bodyPr>
            <a:normAutofit fontScale="90000"/>
          </a:bodyPr>
          <a:lstStyle/>
          <a:p>
            <a:r>
              <a:rPr lang="en-IN" dirty="0">
                <a:latin typeface="Berlin Sans FB Demi" panose="020E0802020502020306" pitchFamily="34" charset="0"/>
              </a:rPr>
              <a:t>What is Mongodb?</a:t>
            </a:r>
          </a:p>
        </p:txBody>
      </p:sp>
      <p:sp>
        <p:nvSpPr>
          <p:cNvPr id="3" name="Content Placeholder 2">
            <a:extLst>
              <a:ext uri="{FF2B5EF4-FFF2-40B4-BE49-F238E27FC236}">
                <a16:creationId xmlns:a16="http://schemas.microsoft.com/office/drawing/2014/main" id="{A67B6AF2-9FE7-4C22-9792-80A8440F3BDC}"/>
              </a:ext>
            </a:extLst>
          </p:cNvPr>
          <p:cNvSpPr>
            <a:spLocks noGrp="1"/>
          </p:cNvSpPr>
          <p:nvPr>
            <p:ph idx="1"/>
          </p:nvPr>
        </p:nvSpPr>
        <p:spPr>
          <a:xfrm>
            <a:off x="625983" y="1384419"/>
            <a:ext cx="10885202" cy="5332574"/>
          </a:xfrm>
        </p:spPr>
        <p:txBody>
          <a:bodyPr>
            <a:normAutofit fontScale="85000" lnSpcReduction="20000"/>
          </a:bodyPr>
          <a:lstStyle/>
          <a:p>
            <a:pPr algn="just"/>
            <a:r>
              <a:rPr lang="en-IN" dirty="0"/>
              <a:t>MongoDB name comes from </a:t>
            </a:r>
            <a:r>
              <a:rPr lang="en-IN" sz="2000" b="1" dirty="0" err="1">
                <a:effectLst>
                  <a:outerShdw blurRad="38100" dist="38100" dir="2700000" algn="tl">
                    <a:srgbClr val="000000">
                      <a:alpha val="43137"/>
                    </a:srgbClr>
                  </a:outerShdw>
                </a:effectLst>
              </a:rPr>
              <a:t>Hu</a:t>
            </a:r>
            <a:r>
              <a:rPr lang="en-IN" sz="2000" b="1" dirty="0" err="1">
                <a:solidFill>
                  <a:schemeClr val="accent1"/>
                </a:solidFill>
                <a:effectLst>
                  <a:outerShdw blurRad="38100" dist="38100" dir="2700000" algn="tl">
                    <a:srgbClr val="000000">
                      <a:alpha val="43137"/>
                    </a:srgbClr>
                  </a:outerShdw>
                </a:effectLst>
              </a:rPr>
              <a:t>MONGO</a:t>
            </a:r>
            <a:r>
              <a:rPr lang="en-IN" sz="2000" b="1" dirty="0" err="1">
                <a:effectLst>
                  <a:outerShdw blurRad="38100" dist="38100" dir="2700000" algn="tl">
                    <a:srgbClr val="000000">
                      <a:alpha val="43137"/>
                    </a:srgbClr>
                  </a:outerShdw>
                </a:effectLst>
              </a:rPr>
              <a:t>us</a:t>
            </a:r>
            <a:r>
              <a:rPr lang="en-IN" dirty="0"/>
              <a:t> data.</a:t>
            </a:r>
          </a:p>
          <a:p>
            <a:pPr algn="just"/>
            <a:r>
              <a:rPr lang="en-IN" dirty="0"/>
              <a:t>According to the official website of MongoDB it is defined in the following way – </a:t>
            </a:r>
          </a:p>
          <a:p>
            <a:pPr marL="457189" lvl="1" indent="0" algn="just">
              <a:buNone/>
            </a:pPr>
            <a:r>
              <a:rPr lang="en-IN" sz="2000" b="1" i="1" dirty="0">
                <a:solidFill>
                  <a:schemeClr val="accent1"/>
                </a:solidFill>
                <a:effectLst>
                  <a:outerShdw blurRad="38100" dist="38100" dir="2700000" algn="tl">
                    <a:srgbClr val="000000">
                      <a:alpha val="43137"/>
                    </a:srgbClr>
                  </a:outerShdw>
                </a:effectLst>
              </a:rPr>
              <a:t>MongoDB is a document database with the scalability and flexibility that you want with the querying and indexing that you need.</a:t>
            </a:r>
          </a:p>
          <a:p>
            <a:pPr algn="just"/>
            <a:r>
              <a:rPr lang="en-IN" dirty="0"/>
              <a:t>It is a NoSQL Database.</a:t>
            </a:r>
          </a:p>
          <a:p>
            <a:pPr algn="just"/>
            <a:r>
              <a:rPr lang="en-IN" dirty="0"/>
              <a:t>It is Open source and free to use.</a:t>
            </a:r>
          </a:p>
          <a:p>
            <a:pPr algn="just"/>
            <a:r>
              <a:rPr lang="en-IN" dirty="0"/>
              <a:t>It is a cross-platform database which works with almost every platform (Windows, mac, Linux) .</a:t>
            </a:r>
          </a:p>
          <a:p>
            <a:pPr algn="just"/>
            <a:r>
              <a:rPr lang="en-IN" dirty="0"/>
              <a:t>It stores data in flexible, JSON like documents.</a:t>
            </a:r>
          </a:p>
          <a:p>
            <a:r>
              <a:rPr lang="en-US" dirty="0">
                <a:latin typeface="Constantia" panose="02030602050306030303" pitchFamily="18" charset="0"/>
              </a:rPr>
              <a:t>SQL was invented in the 70’s to store </a:t>
            </a:r>
            <a:r>
              <a:rPr lang="en-US" dirty="0">
                <a:solidFill>
                  <a:srgbClr val="93E50D"/>
                </a:solidFill>
                <a:latin typeface="Constantia" panose="02030602050306030303" pitchFamily="18" charset="0"/>
              </a:rPr>
              <a:t>data.</a:t>
            </a:r>
            <a:endParaRPr lang="en-US" dirty="0">
              <a:latin typeface="Constantia" panose="02030602050306030303" pitchFamily="18" charset="0"/>
            </a:endParaRPr>
          </a:p>
          <a:p>
            <a:r>
              <a:rPr lang="en-US" dirty="0" err="1">
                <a:latin typeface="Constantia" panose="02030602050306030303" pitchFamily="18" charset="0"/>
              </a:rPr>
              <a:t>MongoDB</a:t>
            </a:r>
            <a:r>
              <a:rPr lang="en-US" dirty="0">
                <a:latin typeface="Constantia" panose="02030602050306030303" pitchFamily="18" charset="0"/>
              </a:rPr>
              <a:t> stores </a:t>
            </a:r>
            <a:r>
              <a:rPr lang="en-US" dirty="0">
                <a:solidFill>
                  <a:srgbClr val="93E50D"/>
                </a:solidFill>
                <a:latin typeface="Constantia" panose="02030602050306030303" pitchFamily="18" charset="0"/>
              </a:rPr>
              <a:t>documents (or) objects.</a:t>
            </a:r>
            <a:endParaRPr lang="en-US" dirty="0">
              <a:latin typeface="Constantia" panose="02030602050306030303" pitchFamily="18" charset="0"/>
            </a:endParaRPr>
          </a:p>
          <a:p>
            <a:r>
              <a:rPr lang="en-US" dirty="0">
                <a:latin typeface="Constantia" panose="02030602050306030303" pitchFamily="18" charset="0"/>
              </a:rPr>
              <a:t>Now-a-days, everyone works with </a:t>
            </a:r>
            <a:r>
              <a:rPr lang="en-US" dirty="0">
                <a:solidFill>
                  <a:srgbClr val="93E50D"/>
                </a:solidFill>
                <a:latin typeface="Constantia" panose="02030602050306030303" pitchFamily="18" charset="0"/>
              </a:rPr>
              <a:t>objects </a:t>
            </a:r>
            <a:r>
              <a:rPr lang="en-US" dirty="0">
                <a:latin typeface="Constantia" panose="02030602050306030303" pitchFamily="18" charset="0"/>
              </a:rPr>
              <a:t>(Python/Ruby/Java/etc.) </a:t>
            </a:r>
          </a:p>
          <a:p>
            <a:r>
              <a:rPr lang="en-US" dirty="0">
                <a:latin typeface="Constantia" panose="02030602050306030303" pitchFamily="18" charset="0"/>
              </a:rPr>
              <a:t>And we need Databases to persist our </a:t>
            </a:r>
            <a:r>
              <a:rPr lang="en-US" dirty="0">
                <a:solidFill>
                  <a:srgbClr val="93E50D"/>
                </a:solidFill>
                <a:latin typeface="Constantia" panose="02030602050306030303" pitchFamily="18" charset="0"/>
              </a:rPr>
              <a:t>objects. </a:t>
            </a:r>
            <a:r>
              <a:rPr lang="en-US" dirty="0">
                <a:latin typeface="Constantia" panose="02030602050306030303" pitchFamily="18" charset="0"/>
              </a:rPr>
              <a:t>Then why not store </a:t>
            </a:r>
            <a:r>
              <a:rPr lang="en-US" dirty="0">
                <a:solidFill>
                  <a:srgbClr val="93E50D"/>
                </a:solidFill>
                <a:latin typeface="Constantia" panose="02030602050306030303" pitchFamily="18" charset="0"/>
              </a:rPr>
              <a:t>objects </a:t>
            </a:r>
            <a:r>
              <a:rPr lang="en-US" dirty="0">
                <a:latin typeface="Constantia" panose="02030602050306030303" pitchFamily="18" charset="0"/>
              </a:rPr>
              <a:t>directly ?</a:t>
            </a:r>
          </a:p>
          <a:p>
            <a:r>
              <a:rPr lang="en-US" dirty="0">
                <a:latin typeface="Constantia" panose="02030602050306030303" pitchFamily="18" charset="0"/>
              </a:rPr>
              <a:t>Embedded documents and arrays reduce need for joins. </a:t>
            </a:r>
            <a:r>
              <a:rPr lang="en-US" dirty="0">
                <a:solidFill>
                  <a:srgbClr val="93E50D"/>
                </a:solidFill>
                <a:latin typeface="Constantia" panose="02030602050306030303" pitchFamily="18" charset="0"/>
              </a:rPr>
              <a:t>No Joins </a:t>
            </a:r>
            <a:r>
              <a:rPr lang="en-US" dirty="0">
                <a:latin typeface="Constantia" panose="02030602050306030303" pitchFamily="18" charset="0"/>
              </a:rPr>
              <a:t>and No-multi document </a:t>
            </a:r>
            <a:r>
              <a:rPr lang="en-US" dirty="0">
                <a:solidFill>
                  <a:srgbClr val="93E50D"/>
                </a:solidFill>
                <a:latin typeface="Constantia" panose="02030602050306030303" pitchFamily="18" charset="0"/>
              </a:rPr>
              <a:t>transactions</a:t>
            </a:r>
            <a:r>
              <a:rPr lang="en-US" dirty="0">
                <a:latin typeface="Constantia" panose="02030602050306030303" pitchFamily="18" charset="0"/>
              </a:rPr>
              <a:t>.</a:t>
            </a:r>
          </a:p>
          <a:p>
            <a:r>
              <a:rPr lang="en-US" dirty="0">
                <a:latin typeface="Constantia" panose="02030602050306030303" pitchFamily="18" charset="0"/>
              </a:rPr>
              <a:t>RDBMS replacement for </a:t>
            </a:r>
            <a:r>
              <a:rPr lang="en-US" dirty="0">
                <a:solidFill>
                  <a:srgbClr val="93E50D"/>
                </a:solidFill>
                <a:latin typeface="Constantia" panose="02030602050306030303" pitchFamily="18" charset="0"/>
              </a:rPr>
              <a:t>Web Applications</a:t>
            </a:r>
            <a:r>
              <a:rPr lang="en-US" dirty="0">
                <a:latin typeface="Constantia" panose="02030602050306030303" pitchFamily="18" charset="0"/>
              </a:rPr>
              <a:t>.</a:t>
            </a:r>
          </a:p>
          <a:p>
            <a:r>
              <a:rPr lang="en-US" dirty="0">
                <a:solidFill>
                  <a:srgbClr val="93E50D"/>
                </a:solidFill>
                <a:latin typeface="Constantia" panose="02030602050306030303" pitchFamily="18" charset="0"/>
              </a:rPr>
              <a:t>Semi-structured </a:t>
            </a:r>
            <a:r>
              <a:rPr lang="en-US" dirty="0">
                <a:latin typeface="Constantia" panose="02030602050306030303" pitchFamily="18" charset="0"/>
              </a:rPr>
              <a:t>Content Management.</a:t>
            </a:r>
          </a:p>
          <a:p>
            <a:r>
              <a:rPr lang="en-US" dirty="0">
                <a:solidFill>
                  <a:srgbClr val="93E50D"/>
                </a:solidFill>
                <a:latin typeface="Constantia" panose="02030602050306030303" pitchFamily="18" charset="0"/>
              </a:rPr>
              <a:t>Real-time </a:t>
            </a:r>
            <a:r>
              <a:rPr lang="en-US" dirty="0">
                <a:latin typeface="Constantia" panose="02030602050306030303" pitchFamily="18" charset="0"/>
              </a:rPr>
              <a:t>Analytics &amp; High-Speed Logging. </a:t>
            </a:r>
          </a:p>
          <a:p>
            <a:r>
              <a:rPr lang="en-US" dirty="0">
                <a:latin typeface="Constantia" panose="02030602050306030303" pitchFamily="18" charset="0"/>
              </a:rPr>
              <a:t>Caching and </a:t>
            </a:r>
            <a:r>
              <a:rPr lang="en-US" dirty="0">
                <a:solidFill>
                  <a:srgbClr val="93E50D"/>
                </a:solidFill>
                <a:latin typeface="Constantia" panose="02030602050306030303" pitchFamily="18" charset="0"/>
              </a:rPr>
              <a:t>High Scalability</a:t>
            </a:r>
            <a:endParaRPr lang="en-IN" dirty="0"/>
          </a:p>
          <a:p>
            <a:pPr marL="0" indent="0">
              <a:buNone/>
            </a:pPr>
            <a:endParaRPr lang="en-IN" dirty="0"/>
          </a:p>
        </p:txBody>
      </p:sp>
      <p:pic>
        <p:nvPicPr>
          <p:cNvPr id="6" name="Picture 5">
            <a:extLst>
              <a:ext uri="{FF2B5EF4-FFF2-40B4-BE49-F238E27FC236}">
                <a16:creationId xmlns:a16="http://schemas.microsoft.com/office/drawing/2014/main" id="{BDC5BE68-C886-4A8A-80CF-D23B7C69E9BE}"/>
              </a:ext>
            </a:extLst>
          </p:cNvPr>
          <p:cNvPicPr>
            <a:picLocks noChangeAspect="1"/>
          </p:cNvPicPr>
          <p:nvPr/>
        </p:nvPicPr>
        <p:blipFill>
          <a:blip r:embed="rId3"/>
          <a:stretch>
            <a:fillRect/>
          </a:stretch>
        </p:blipFill>
        <p:spPr>
          <a:xfrm>
            <a:off x="9501689" y="626252"/>
            <a:ext cx="1298708" cy="1019381"/>
          </a:xfrm>
          <a:prstGeom prst="rect">
            <a:avLst/>
          </a:prstGeom>
        </p:spPr>
      </p:pic>
    </p:spTree>
    <p:extLst>
      <p:ext uri="{BB962C8B-B14F-4D97-AF65-F5344CB8AC3E}">
        <p14:creationId xmlns:p14="http://schemas.microsoft.com/office/powerpoint/2010/main" val="786457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E040A-53A6-4C5C-8C20-6E86D3E5727A}"/>
              </a:ext>
            </a:extLst>
          </p:cNvPr>
          <p:cNvSpPr>
            <a:spLocks noGrp="1"/>
          </p:cNvSpPr>
          <p:nvPr>
            <p:ph type="title"/>
          </p:nvPr>
        </p:nvSpPr>
        <p:spPr>
          <a:xfrm>
            <a:off x="685805" y="277881"/>
            <a:ext cx="10131425" cy="690563"/>
          </a:xfrm>
        </p:spPr>
        <p:txBody>
          <a:bodyPr/>
          <a:lstStyle/>
          <a:p>
            <a:r>
              <a:rPr lang="en-IN" dirty="0">
                <a:latin typeface="Berlin Sans FB Demi" panose="020E0802020502020306" pitchFamily="34" charset="0"/>
              </a:rPr>
              <a:t>What is NOSQL?</a:t>
            </a:r>
            <a:endParaRPr lang="en-IN" dirty="0"/>
          </a:p>
        </p:txBody>
      </p:sp>
      <p:sp>
        <p:nvSpPr>
          <p:cNvPr id="3" name="Content Placeholder 2">
            <a:extLst>
              <a:ext uri="{FF2B5EF4-FFF2-40B4-BE49-F238E27FC236}">
                <a16:creationId xmlns:a16="http://schemas.microsoft.com/office/drawing/2014/main" id="{E02FDE3E-399B-4FA3-809B-D61F0EB4800B}"/>
              </a:ext>
            </a:extLst>
          </p:cNvPr>
          <p:cNvSpPr>
            <a:spLocks noGrp="1"/>
          </p:cNvSpPr>
          <p:nvPr>
            <p:ph idx="1"/>
          </p:nvPr>
        </p:nvSpPr>
        <p:spPr>
          <a:xfrm>
            <a:off x="685806" y="987702"/>
            <a:ext cx="8206403" cy="4432435"/>
          </a:xfrm>
        </p:spPr>
        <p:txBody>
          <a:bodyPr>
            <a:normAutofit fontScale="92500" lnSpcReduction="10000"/>
          </a:bodyPr>
          <a:lstStyle/>
          <a:p>
            <a:pPr algn="just"/>
            <a:r>
              <a:rPr lang="en-IN" dirty="0"/>
              <a:t>The mechanism of storing and retrieving the data without using the conventional way of storage i.e.,  inside table.</a:t>
            </a:r>
          </a:p>
          <a:p>
            <a:pPr algn="just"/>
            <a:r>
              <a:rPr lang="en-IN" dirty="0"/>
              <a:t>The storage mechanism adapted here is the non relational form of data.</a:t>
            </a:r>
          </a:p>
          <a:p>
            <a:pPr algn="just"/>
            <a:r>
              <a:rPr lang="en-IN" dirty="0"/>
              <a:t>NoSQL databases are also sometimes referred as “</a:t>
            </a:r>
            <a:r>
              <a:rPr lang="en-IN" b="1" dirty="0">
                <a:effectLst>
                  <a:outerShdw blurRad="38100" dist="38100" dir="2700000" algn="tl">
                    <a:srgbClr val="000000">
                      <a:alpha val="43137"/>
                    </a:srgbClr>
                  </a:outerShdw>
                </a:effectLst>
              </a:rPr>
              <a:t>Not Only SQL</a:t>
            </a:r>
            <a:r>
              <a:rPr lang="en-IN" dirty="0"/>
              <a:t>”</a:t>
            </a:r>
          </a:p>
          <a:p>
            <a:pPr algn="just"/>
            <a:r>
              <a:rPr lang="en-IN" dirty="0"/>
              <a:t>Structured Query Language (SQL) adapts the conventional methods of having relations and some proper schema but NoSQL is completely different and it follows no schema.</a:t>
            </a:r>
          </a:p>
          <a:p>
            <a:pPr algn="just"/>
            <a:r>
              <a:rPr lang="en-IN" dirty="0"/>
              <a:t>NoSQL databases are divided in the following parts:</a:t>
            </a:r>
          </a:p>
          <a:p>
            <a:pPr lvl="1" algn="just"/>
            <a:r>
              <a:rPr lang="en-IN" b="1" dirty="0">
                <a:solidFill>
                  <a:schemeClr val="accent1"/>
                </a:solidFill>
                <a:effectLst>
                  <a:outerShdw blurRad="38100" dist="38100" dir="2700000" algn="tl">
                    <a:srgbClr val="000000">
                      <a:alpha val="43137"/>
                    </a:srgbClr>
                  </a:outerShdw>
                </a:effectLst>
              </a:rPr>
              <a:t>Document databases</a:t>
            </a:r>
            <a:r>
              <a:rPr lang="en-IN" b="1" dirty="0"/>
              <a:t>:  used to store semi-structured data as documents (MongoDB, </a:t>
            </a:r>
            <a:r>
              <a:rPr lang="en-IN" b="1" dirty="0" err="1"/>
              <a:t>ArangoDB</a:t>
            </a:r>
            <a:r>
              <a:rPr lang="en-IN" b="1" dirty="0"/>
              <a:t>, </a:t>
            </a:r>
            <a:r>
              <a:rPr lang="en-IN" b="1" dirty="0" err="1"/>
              <a:t>RethinkDB</a:t>
            </a:r>
            <a:r>
              <a:rPr lang="en-IN" b="1" dirty="0"/>
              <a:t>, CouchDB). Data is represented as a JSON document.</a:t>
            </a:r>
          </a:p>
          <a:p>
            <a:pPr lvl="1" algn="just"/>
            <a:r>
              <a:rPr lang="en-IN" b="1" dirty="0">
                <a:solidFill>
                  <a:schemeClr val="accent1"/>
                </a:solidFill>
                <a:effectLst>
                  <a:outerShdw blurRad="38100" dist="38100" dir="2700000" algn="tl">
                    <a:srgbClr val="000000">
                      <a:alpha val="43137"/>
                    </a:srgbClr>
                  </a:outerShdw>
                </a:effectLst>
              </a:rPr>
              <a:t>Graph stores</a:t>
            </a:r>
            <a:r>
              <a:rPr lang="en-IN" b="1" dirty="0"/>
              <a:t>:  used to store the  information about the network of the data (Neo4J, </a:t>
            </a:r>
            <a:r>
              <a:rPr lang="en-IN" b="1" dirty="0" err="1"/>
              <a:t>GraphBase</a:t>
            </a:r>
            <a:r>
              <a:rPr lang="en-IN" b="1" dirty="0"/>
              <a:t>, </a:t>
            </a:r>
            <a:r>
              <a:rPr lang="en-IN" b="1" dirty="0" err="1"/>
              <a:t>WhiteDB</a:t>
            </a:r>
            <a:r>
              <a:rPr lang="en-IN" b="1" dirty="0"/>
              <a:t>)</a:t>
            </a:r>
          </a:p>
          <a:p>
            <a:pPr lvl="1" algn="just"/>
            <a:r>
              <a:rPr lang="en-IN" b="1" dirty="0">
                <a:solidFill>
                  <a:schemeClr val="accent1"/>
                </a:solidFill>
                <a:effectLst>
                  <a:outerShdw blurRad="38100" dist="38100" dir="2700000" algn="tl">
                    <a:srgbClr val="000000">
                      <a:alpha val="43137"/>
                    </a:srgbClr>
                  </a:outerShdw>
                </a:effectLst>
              </a:rPr>
              <a:t>Key-value stores</a:t>
            </a:r>
            <a:r>
              <a:rPr lang="en-IN" b="1" dirty="0"/>
              <a:t>:  Data is stored in the form of key-value pairs. They are the simplest NoSQL Databases (Redis, DynamoDB, </a:t>
            </a:r>
            <a:r>
              <a:rPr lang="en-IN" b="1" dirty="0" err="1"/>
              <a:t>Riak</a:t>
            </a:r>
            <a:r>
              <a:rPr lang="en-IN" b="1" dirty="0"/>
              <a:t>, Berkeley DB).</a:t>
            </a:r>
          </a:p>
          <a:p>
            <a:pPr lvl="1" algn="just"/>
            <a:r>
              <a:rPr lang="en-IN" b="1" dirty="0">
                <a:solidFill>
                  <a:schemeClr val="accent1"/>
                </a:solidFill>
                <a:effectLst>
                  <a:outerShdw blurRad="38100" dist="38100" dir="2700000" algn="tl">
                    <a:srgbClr val="000000">
                      <a:alpha val="43137"/>
                    </a:srgbClr>
                  </a:outerShdw>
                </a:effectLst>
              </a:rPr>
              <a:t>Wide-column stores</a:t>
            </a:r>
            <a:r>
              <a:rPr lang="en-IN" b="1" dirty="0"/>
              <a:t>:  It uses tables, rows and columns but the names and formats of the columns can vary from  row to row in the same table (Cassandra and HBase).</a:t>
            </a:r>
          </a:p>
        </p:txBody>
      </p:sp>
    </p:spTree>
    <p:extLst>
      <p:ext uri="{BB962C8B-B14F-4D97-AF65-F5344CB8AC3E}">
        <p14:creationId xmlns:p14="http://schemas.microsoft.com/office/powerpoint/2010/main" val="3972580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359C0-D8E0-4C16-8351-5B4D2C63B33F}"/>
              </a:ext>
            </a:extLst>
          </p:cNvPr>
          <p:cNvSpPr>
            <a:spLocks noGrp="1"/>
          </p:cNvSpPr>
          <p:nvPr>
            <p:ph type="title"/>
          </p:nvPr>
        </p:nvSpPr>
        <p:spPr>
          <a:xfrm>
            <a:off x="685802" y="139726"/>
            <a:ext cx="9571383" cy="781879"/>
          </a:xfrm>
        </p:spPr>
        <p:txBody>
          <a:bodyPr>
            <a:noAutofit/>
          </a:bodyPr>
          <a:lstStyle/>
          <a:p>
            <a:r>
              <a:rPr lang="en-IN" sz="2400" dirty="0">
                <a:latin typeface="Berlin Sans FB Demi" panose="020E0802020502020306" pitchFamily="34" charset="0"/>
              </a:rPr>
              <a:t>How </a:t>
            </a:r>
            <a:r>
              <a:rPr lang="en-IN" sz="2400" dirty="0" err="1">
                <a:latin typeface="Berlin Sans FB Demi" panose="020E0802020502020306" pitchFamily="34" charset="0"/>
              </a:rPr>
              <a:t>nosql</a:t>
            </a:r>
            <a:r>
              <a:rPr lang="en-IN" sz="2400" dirty="0">
                <a:latin typeface="Berlin Sans FB Demi" panose="020E0802020502020306" pitchFamily="34" charset="0"/>
              </a:rPr>
              <a:t> is different from conventional </a:t>
            </a:r>
            <a:r>
              <a:rPr lang="en-IN" sz="2400" dirty="0" err="1">
                <a:latin typeface="Berlin Sans FB Demi" panose="020E0802020502020306" pitchFamily="34" charset="0"/>
              </a:rPr>
              <a:t>rdbms</a:t>
            </a:r>
            <a:r>
              <a:rPr lang="en-IN" sz="2400" dirty="0">
                <a:latin typeface="Berlin Sans FB Demi" panose="020E0802020502020306" pitchFamily="34" charset="0"/>
              </a:rPr>
              <a:t>?</a:t>
            </a:r>
            <a:endParaRPr lang="en-IN" sz="2400" dirty="0"/>
          </a:p>
        </p:txBody>
      </p:sp>
      <p:sp>
        <p:nvSpPr>
          <p:cNvPr id="3" name="Content Placeholder 2">
            <a:extLst>
              <a:ext uri="{FF2B5EF4-FFF2-40B4-BE49-F238E27FC236}">
                <a16:creationId xmlns:a16="http://schemas.microsoft.com/office/drawing/2014/main" id="{168C59B3-2E68-4B06-83DA-2F2B07586169}"/>
              </a:ext>
            </a:extLst>
          </p:cNvPr>
          <p:cNvSpPr>
            <a:spLocks noGrp="1"/>
          </p:cNvSpPr>
          <p:nvPr>
            <p:ph idx="1"/>
          </p:nvPr>
        </p:nvSpPr>
        <p:spPr>
          <a:xfrm>
            <a:off x="685802" y="1391478"/>
            <a:ext cx="7702824" cy="2186612"/>
          </a:xfrm>
        </p:spPr>
        <p:txBody>
          <a:bodyPr>
            <a:normAutofit fontScale="85000" lnSpcReduction="10000"/>
          </a:bodyPr>
          <a:lstStyle/>
          <a:p>
            <a:pPr algn="just"/>
            <a:r>
              <a:rPr lang="en-IN" dirty="0"/>
              <a:t>SQL databases are table based databases whereas NoSQL databases are document based, key-value pairs, graph databases or wide-column stores.</a:t>
            </a:r>
          </a:p>
          <a:p>
            <a:pPr algn="just"/>
            <a:r>
              <a:rPr lang="en-IN" dirty="0"/>
              <a:t>SQL databases have predefined schema whereas NoSQL databases have dynamic schema for unstructured data.</a:t>
            </a:r>
          </a:p>
          <a:p>
            <a:pPr algn="just"/>
            <a:r>
              <a:rPr lang="en-IN" dirty="0"/>
              <a:t>SQL databases are vertically scalable whereas the NoSQL databases are horizontally scalable. </a:t>
            </a:r>
          </a:p>
          <a:p>
            <a:pPr algn="just"/>
            <a:r>
              <a:rPr lang="en-IN" dirty="0"/>
              <a:t>SQL databases are not best suited for hierarchal  data storage whereas NoSQL is best suited for it.</a:t>
            </a:r>
          </a:p>
          <a:p>
            <a:pPr lvl="1"/>
            <a:endParaRPr lang="en-IN" dirty="0"/>
          </a:p>
          <a:p>
            <a:endParaRPr lang="en-IN" dirty="0"/>
          </a:p>
          <a:p>
            <a:endParaRPr lang="en-IN" dirty="0"/>
          </a:p>
        </p:txBody>
      </p:sp>
      <p:graphicFrame>
        <p:nvGraphicFramePr>
          <p:cNvPr id="5" name="Table 4">
            <a:extLst>
              <a:ext uri="{FF2B5EF4-FFF2-40B4-BE49-F238E27FC236}">
                <a16:creationId xmlns:a16="http://schemas.microsoft.com/office/drawing/2014/main" id="{01C1C705-BF05-4164-BF2F-8EA709D69A7B}"/>
              </a:ext>
            </a:extLst>
          </p:cNvPr>
          <p:cNvGraphicFramePr>
            <a:graphicFrameLocks noGrp="1"/>
          </p:cNvGraphicFramePr>
          <p:nvPr>
            <p:extLst>
              <p:ext uri="{D42A27DB-BD31-4B8C-83A1-F6EECF244321}">
                <p14:modId xmlns:p14="http://schemas.microsoft.com/office/powerpoint/2010/main" val="118369887"/>
              </p:ext>
            </p:extLst>
          </p:nvPr>
        </p:nvGraphicFramePr>
        <p:xfrm>
          <a:off x="1060174" y="3152748"/>
          <a:ext cx="9305874" cy="3239504"/>
        </p:xfrm>
        <a:graphic>
          <a:graphicData uri="http://schemas.openxmlformats.org/drawingml/2006/table">
            <a:tbl>
              <a:tblPr firstRow="1" firstCol="1" bandRow="1">
                <a:effectLst>
                  <a:outerShdw blurRad="50800" dist="38100" dir="5400000" algn="t" rotWithShape="0">
                    <a:prstClr val="black">
                      <a:alpha val="40000"/>
                    </a:prstClr>
                  </a:outerShdw>
                </a:effectLst>
                <a:tableStyleId>{5C22544A-7EE6-4342-B048-85BDC9FD1C3A}</a:tableStyleId>
              </a:tblPr>
              <a:tblGrid>
                <a:gridCol w="3101627">
                  <a:extLst>
                    <a:ext uri="{9D8B030D-6E8A-4147-A177-3AD203B41FA5}">
                      <a16:colId xmlns:a16="http://schemas.microsoft.com/office/drawing/2014/main" val="3082064878"/>
                    </a:ext>
                  </a:extLst>
                </a:gridCol>
                <a:gridCol w="3101627">
                  <a:extLst>
                    <a:ext uri="{9D8B030D-6E8A-4147-A177-3AD203B41FA5}">
                      <a16:colId xmlns:a16="http://schemas.microsoft.com/office/drawing/2014/main" val="2450877790"/>
                    </a:ext>
                  </a:extLst>
                </a:gridCol>
                <a:gridCol w="3102620">
                  <a:extLst>
                    <a:ext uri="{9D8B030D-6E8A-4147-A177-3AD203B41FA5}">
                      <a16:colId xmlns:a16="http://schemas.microsoft.com/office/drawing/2014/main" val="3582377715"/>
                    </a:ext>
                  </a:extLst>
                </a:gridCol>
              </a:tblGrid>
              <a:tr h="364718">
                <a:tc>
                  <a:txBody>
                    <a:bodyPr/>
                    <a:lstStyle/>
                    <a:p>
                      <a:pPr algn="just">
                        <a:lnSpc>
                          <a:spcPct val="107000"/>
                        </a:lnSpc>
                        <a:spcAft>
                          <a:spcPts val="0"/>
                        </a:spcAft>
                      </a:pPr>
                      <a:r>
                        <a:rPr lang="en-IN" sz="1100" dirty="0">
                          <a:effectLst/>
                        </a:rPr>
                        <a:t> </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dirty="0">
                          <a:effectLst/>
                        </a:rPr>
                        <a:t>RDBMS (SQL)</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NoSQL</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4020825652"/>
                  </a:ext>
                </a:extLst>
              </a:tr>
              <a:tr h="730314">
                <a:tc>
                  <a:txBody>
                    <a:bodyPr/>
                    <a:lstStyle/>
                    <a:p>
                      <a:pPr algn="just">
                        <a:lnSpc>
                          <a:spcPct val="107000"/>
                        </a:lnSpc>
                        <a:spcAft>
                          <a:spcPts val="0"/>
                        </a:spcAft>
                      </a:pPr>
                      <a:r>
                        <a:rPr lang="en-IN" sz="1100" dirty="0">
                          <a:effectLst/>
                        </a:rPr>
                        <a:t>Base</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dirty="0">
                          <a:effectLst/>
                        </a:rPr>
                        <a:t>Table (rows and columns)</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Document, key-value pairs, graph and wide-column stores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4044421379"/>
                  </a:ext>
                </a:extLst>
              </a:tr>
              <a:tr h="364718">
                <a:tc>
                  <a:txBody>
                    <a:bodyPr/>
                    <a:lstStyle/>
                    <a:p>
                      <a:pPr algn="just">
                        <a:lnSpc>
                          <a:spcPct val="107000"/>
                        </a:lnSpc>
                        <a:spcAft>
                          <a:spcPts val="0"/>
                        </a:spcAft>
                      </a:pPr>
                      <a:r>
                        <a:rPr lang="en-IN" sz="1100">
                          <a:effectLst/>
                        </a:rPr>
                        <a:t>Schema</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dirty="0">
                          <a:effectLst/>
                        </a:rPr>
                        <a:t>Predefined</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dirty="0">
                          <a:effectLst/>
                        </a:rPr>
                        <a:t>Dynamic</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503126174"/>
                  </a:ext>
                </a:extLst>
              </a:tr>
              <a:tr h="342800">
                <a:tc>
                  <a:txBody>
                    <a:bodyPr/>
                    <a:lstStyle/>
                    <a:p>
                      <a:pPr algn="just">
                        <a:lnSpc>
                          <a:spcPct val="107000"/>
                        </a:lnSpc>
                        <a:spcAft>
                          <a:spcPts val="0"/>
                        </a:spcAft>
                      </a:pPr>
                      <a:r>
                        <a:rPr lang="en-IN" sz="1100">
                          <a:effectLst/>
                        </a:rPr>
                        <a:t>Scalability</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Vertical</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Horizontal</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127761692"/>
                  </a:ext>
                </a:extLst>
              </a:tr>
              <a:tr h="364718">
                <a:tc>
                  <a:txBody>
                    <a:bodyPr/>
                    <a:lstStyle/>
                    <a:p>
                      <a:pPr algn="just">
                        <a:lnSpc>
                          <a:spcPct val="107000"/>
                        </a:lnSpc>
                        <a:spcAft>
                          <a:spcPts val="0"/>
                        </a:spcAft>
                      </a:pPr>
                      <a:r>
                        <a:rPr lang="en-IN" sz="1100">
                          <a:effectLst/>
                        </a:rPr>
                        <a:t>Category</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Relational </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Non-relational or Distributed</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709947265"/>
                  </a:ext>
                </a:extLst>
              </a:tr>
              <a:tr h="364718">
                <a:tc>
                  <a:txBody>
                    <a:bodyPr/>
                    <a:lstStyle/>
                    <a:p>
                      <a:pPr algn="just">
                        <a:lnSpc>
                          <a:spcPct val="107000"/>
                        </a:lnSpc>
                        <a:spcAft>
                          <a:spcPts val="0"/>
                        </a:spcAft>
                      </a:pPr>
                      <a:r>
                        <a:rPr lang="en-IN" sz="1100">
                          <a:effectLst/>
                        </a:rPr>
                        <a:t>Big Data Preference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dirty="0">
                          <a:effectLst/>
                        </a:rPr>
                        <a:t>Preferred</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Not preferred</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4143959504"/>
                  </a:ext>
                </a:extLst>
              </a:tr>
              <a:tr h="364718">
                <a:tc>
                  <a:txBody>
                    <a:bodyPr/>
                    <a:lstStyle/>
                    <a:p>
                      <a:pPr algn="just">
                        <a:lnSpc>
                          <a:spcPct val="107000"/>
                        </a:lnSpc>
                        <a:spcAft>
                          <a:spcPts val="0"/>
                        </a:spcAft>
                      </a:pPr>
                      <a:r>
                        <a:rPr lang="en-IN" sz="1100">
                          <a:effectLst/>
                        </a:rPr>
                        <a:t>Complex Query Preference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Preferred</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Not preferred</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742869777"/>
                  </a:ext>
                </a:extLst>
              </a:tr>
              <a:tr h="342800">
                <a:tc>
                  <a:txBody>
                    <a:bodyPr/>
                    <a:lstStyle/>
                    <a:p>
                      <a:pPr algn="just">
                        <a:lnSpc>
                          <a:spcPct val="107000"/>
                        </a:lnSpc>
                        <a:spcAft>
                          <a:spcPts val="0"/>
                        </a:spcAft>
                      </a:pPr>
                      <a:r>
                        <a:rPr lang="en-IN" sz="1100">
                          <a:effectLst/>
                        </a:rPr>
                        <a:t>Hierarchical Data Storage Preference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a:effectLst/>
                        </a:rPr>
                        <a:t>Not preferred</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07000"/>
                        </a:lnSpc>
                        <a:spcAft>
                          <a:spcPts val="0"/>
                        </a:spcAft>
                      </a:pPr>
                      <a:r>
                        <a:rPr lang="en-IN" sz="1100" dirty="0">
                          <a:effectLst/>
                        </a:rPr>
                        <a:t>Preferred</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491199803"/>
                  </a:ext>
                </a:extLst>
              </a:tr>
            </a:tbl>
          </a:graphicData>
        </a:graphic>
      </p:graphicFrame>
    </p:spTree>
    <p:extLst>
      <p:ext uri="{BB962C8B-B14F-4D97-AF65-F5344CB8AC3E}">
        <p14:creationId xmlns:p14="http://schemas.microsoft.com/office/powerpoint/2010/main" val="3792434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A43B3-2B5E-4D3E-9367-897B80EDDBA3}"/>
              </a:ext>
            </a:extLst>
          </p:cNvPr>
          <p:cNvSpPr>
            <a:spLocks noGrp="1"/>
          </p:cNvSpPr>
          <p:nvPr>
            <p:ph type="title"/>
          </p:nvPr>
        </p:nvSpPr>
        <p:spPr>
          <a:xfrm>
            <a:off x="685802" y="357809"/>
            <a:ext cx="10131425" cy="609600"/>
          </a:xfrm>
        </p:spPr>
        <p:txBody>
          <a:bodyPr>
            <a:normAutofit fontScale="90000"/>
          </a:bodyPr>
          <a:lstStyle/>
          <a:p>
            <a:r>
              <a:rPr lang="en-IN" dirty="0">
                <a:latin typeface="Berlin Sans FB Demi" panose="020E0802020502020306" pitchFamily="34" charset="0"/>
              </a:rPr>
              <a:t>Why mongodb is important ?</a:t>
            </a:r>
            <a:endParaRPr lang="en-IN" dirty="0"/>
          </a:p>
        </p:txBody>
      </p:sp>
      <p:sp>
        <p:nvSpPr>
          <p:cNvPr id="3" name="Content Placeholder 2">
            <a:extLst>
              <a:ext uri="{FF2B5EF4-FFF2-40B4-BE49-F238E27FC236}">
                <a16:creationId xmlns:a16="http://schemas.microsoft.com/office/drawing/2014/main" id="{2E7EC9F9-A619-4B3D-9E96-63395D059D51}"/>
              </a:ext>
            </a:extLst>
          </p:cNvPr>
          <p:cNvSpPr>
            <a:spLocks noGrp="1"/>
          </p:cNvSpPr>
          <p:nvPr>
            <p:ph idx="1"/>
          </p:nvPr>
        </p:nvSpPr>
        <p:spPr>
          <a:xfrm>
            <a:off x="685803" y="967410"/>
            <a:ext cx="11039027" cy="5091558"/>
          </a:xfrm>
        </p:spPr>
        <p:txBody>
          <a:bodyPr>
            <a:normAutofit/>
          </a:bodyPr>
          <a:lstStyle/>
          <a:p>
            <a:pPr marL="0" indent="0" algn="just">
              <a:buNone/>
            </a:pPr>
            <a:r>
              <a:rPr lang="en-IN" dirty="0" err="1"/>
              <a:t>MongoDB</a:t>
            </a:r>
            <a:r>
              <a:rPr lang="en-IN" dirty="0"/>
              <a:t> is important in many aspects and some of those major points are as follows:</a:t>
            </a:r>
          </a:p>
          <a:p>
            <a:pPr marL="0" indent="0" algn="just">
              <a:buNone/>
            </a:pPr>
            <a:endParaRPr lang="en-IN" dirty="0"/>
          </a:p>
          <a:p>
            <a:pPr marL="342900" indent="-342900" algn="just">
              <a:buFont typeface="+mj-lt"/>
              <a:buAutoNum type="arabicPeriod"/>
            </a:pPr>
            <a:r>
              <a:rPr lang="en-IN" dirty="0"/>
              <a:t>It is document oriented and does not need the row and column format of the data.</a:t>
            </a:r>
          </a:p>
          <a:p>
            <a:pPr marL="342900" indent="-342900" algn="just">
              <a:buFont typeface="+mj-lt"/>
              <a:buAutoNum type="arabicPeriod"/>
            </a:pPr>
            <a:r>
              <a:rPr lang="en-IN" dirty="0"/>
              <a:t>It gives high performance.</a:t>
            </a:r>
          </a:p>
          <a:p>
            <a:pPr marL="342900" indent="-342900" algn="just">
              <a:buFont typeface="+mj-lt"/>
              <a:buAutoNum type="arabicPeriod"/>
            </a:pPr>
            <a:r>
              <a:rPr lang="en-IN" dirty="0"/>
              <a:t>It is dynamic in nature where you don’t need to predefine a schema like in conventional RDBMS.</a:t>
            </a:r>
          </a:p>
          <a:p>
            <a:pPr marL="342900" indent="-342900" algn="just">
              <a:buFont typeface="+mj-lt"/>
              <a:buAutoNum type="arabicPeriod"/>
            </a:pPr>
            <a:r>
              <a:rPr lang="en-IN" dirty="0"/>
              <a:t>There is no concept of Joins in MongoDB instead it has </a:t>
            </a:r>
            <a:r>
              <a:rPr lang="en-IN" sz="2000" b="1" dirty="0">
                <a:solidFill>
                  <a:schemeClr val="accent1"/>
                </a:solidFill>
                <a:effectLst>
                  <a:outerShdw blurRad="38100" dist="38100" dir="2700000" algn="tl">
                    <a:srgbClr val="000000">
                      <a:alpha val="43137"/>
                    </a:srgbClr>
                  </a:outerShdw>
                </a:effectLst>
              </a:rPr>
              <a:t>$lookup</a:t>
            </a:r>
            <a:r>
              <a:rPr lang="en-IN" sz="2000" dirty="0">
                <a:solidFill>
                  <a:schemeClr val="accent1"/>
                </a:solidFill>
              </a:rPr>
              <a:t> </a:t>
            </a:r>
            <a:r>
              <a:rPr lang="en-IN" dirty="0"/>
              <a:t>aggregation operator in versions &gt;=3.2. There is a mongoose alternative as well which is called as </a:t>
            </a:r>
            <a:r>
              <a:rPr lang="en-IN" sz="2000" b="1" dirty="0">
                <a:solidFill>
                  <a:schemeClr val="accent1"/>
                </a:solidFill>
                <a:effectLst>
                  <a:outerShdw blurRad="38100" dist="38100" dir="2700000" algn="tl">
                    <a:srgbClr val="000000">
                      <a:alpha val="43137"/>
                    </a:srgbClr>
                  </a:outerShdw>
                </a:effectLst>
              </a:rPr>
              <a:t>populate() </a:t>
            </a:r>
            <a:r>
              <a:rPr lang="en-IN" dirty="0"/>
              <a:t>that is used to reference documents in other collections</a:t>
            </a:r>
            <a:r>
              <a:rPr lang="en-IN" sz="2000" b="1" dirty="0">
                <a:effectLst>
                  <a:outerShdw blurRad="38100" dist="38100" dir="2700000" algn="tl">
                    <a:srgbClr val="000000">
                      <a:alpha val="43137"/>
                    </a:srgbClr>
                  </a:outerShdw>
                </a:effectLst>
              </a:rPr>
              <a:t>.</a:t>
            </a:r>
          </a:p>
          <a:p>
            <a:pPr marL="342900" indent="-342900" algn="just">
              <a:buFont typeface="+mj-lt"/>
              <a:buAutoNum type="arabicPeriod"/>
            </a:pPr>
            <a:r>
              <a:rPr lang="en-IN" dirty="0">
                <a:effectLst>
                  <a:outerShdw blurRad="38100" dist="38100" dir="2700000" algn="tl">
                    <a:srgbClr val="000000">
                      <a:alpha val="43137"/>
                    </a:srgbClr>
                  </a:outerShdw>
                </a:effectLst>
              </a:rPr>
              <a:t>MongoDB stores data in JSON format which allows to send the data in whatever form you want.</a:t>
            </a:r>
            <a:endParaRPr lang="en-IN" dirty="0"/>
          </a:p>
          <a:p>
            <a:pPr marL="342900" indent="-342900">
              <a:buFont typeface="+mj-lt"/>
              <a:buAutoNum type="arabicPeriod"/>
            </a:pPr>
            <a:endParaRPr lang="en-IN" sz="2000" b="1" dirty="0">
              <a:solidFill>
                <a:schemeClr val="accent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91880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748EA-6DA9-470A-94EB-49DC12B45F21}"/>
              </a:ext>
            </a:extLst>
          </p:cNvPr>
          <p:cNvSpPr>
            <a:spLocks noGrp="1"/>
          </p:cNvSpPr>
          <p:nvPr>
            <p:ph type="title"/>
          </p:nvPr>
        </p:nvSpPr>
        <p:spPr>
          <a:xfrm>
            <a:off x="685802" y="185531"/>
            <a:ext cx="10131425" cy="881268"/>
          </a:xfrm>
        </p:spPr>
        <p:txBody>
          <a:bodyPr>
            <a:normAutofit/>
          </a:bodyPr>
          <a:lstStyle/>
          <a:p>
            <a:r>
              <a:rPr lang="en-IN" dirty="0">
                <a:latin typeface="Berlin Sans FB Demi" panose="020E0802020502020306" pitchFamily="34" charset="0"/>
              </a:rPr>
              <a:t>Key features of mongodb ?</a:t>
            </a:r>
            <a:endParaRPr lang="en-IN" dirty="0"/>
          </a:p>
        </p:txBody>
      </p:sp>
      <p:sp>
        <p:nvSpPr>
          <p:cNvPr id="3" name="Content Placeholder 2">
            <a:extLst>
              <a:ext uri="{FF2B5EF4-FFF2-40B4-BE49-F238E27FC236}">
                <a16:creationId xmlns:a16="http://schemas.microsoft.com/office/drawing/2014/main" id="{30047C13-A851-4ED7-AB90-BA49DA4735F1}"/>
              </a:ext>
            </a:extLst>
          </p:cNvPr>
          <p:cNvSpPr>
            <a:spLocks noGrp="1"/>
          </p:cNvSpPr>
          <p:nvPr>
            <p:ph idx="1"/>
          </p:nvPr>
        </p:nvSpPr>
        <p:spPr>
          <a:xfrm>
            <a:off x="685802" y="1431235"/>
            <a:ext cx="11039028" cy="4379905"/>
          </a:xfrm>
        </p:spPr>
        <p:txBody>
          <a:bodyPr>
            <a:normAutofit/>
          </a:bodyPr>
          <a:lstStyle/>
          <a:p>
            <a:pPr marL="342900" lvl="0" indent="-342900" algn="just">
              <a:buFont typeface="+mj-lt"/>
              <a:buAutoNum type="arabicPeriod"/>
            </a:pPr>
            <a:r>
              <a:rPr lang="en-IN" dirty="0"/>
              <a:t>Data is stored in </a:t>
            </a:r>
            <a:r>
              <a:rPr lang="en-IN" b="1" dirty="0">
                <a:solidFill>
                  <a:schemeClr val="accent1"/>
                </a:solidFill>
                <a:effectLst>
                  <a:outerShdw blurRad="38100" dist="38100" dir="2700000" algn="tl">
                    <a:srgbClr val="000000">
                      <a:alpha val="43137"/>
                    </a:srgbClr>
                  </a:outerShdw>
                </a:effectLst>
              </a:rPr>
              <a:t>BSON</a:t>
            </a:r>
            <a:r>
              <a:rPr lang="en-IN" dirty="0"/>
              <a:t> and presented in </a:t>
            </a:r>
            <a:r>
              <a:rPr lang="en-IN" b="1" dirty="0">
                <a:solidFill>
                  <a:schemeClr val="accent1"/>
                </a:solidFill>
                <a:effectLst>
                  <a:outerShdw blurRad="38100" dist="38100" dir="2700000" algn="tl">
                    <a:srgbClr val="000000">
                      <a:alpha val="43137"/>
                    </a:srgbClr>
                  </a:outerShdw>
                </a:effectLst>
              </a:rPr>
              <a:t>JSON</a:t>
            </a:r>
            <a:r>
              <a:rPr lang="en-IN" dirty="0"/>
              <a:t>.</a:t>
            </a:r>
          </a:p>
          <a:p>
            <a:pPr marL="342900" lvl="0" indent="-342900" algn="just">
              <a:buFont typeface="+mj-lt"/>
              <a:buAutoNum type="arabicPeriod"/>
            </a:pPr>
            <a:r>
              <a:rPr lang="en-IN" dirty="0"/>
              <a:t>Server-side JavaScript is supported (JavaScript expressions and functions).</a:t>
            </a:r>
          </a:p>
          <a:p>
            <a:pPr marL="342900" lvl="0" indent="-342900" algn="just">
              <a:buFont typeface="+mj-lt"/>
              <a:buAutoNum type="arabicPeriod"/>
            </a:pPr>
            <a:r>
              <a:rPr lang="en-IN" dirty="0"/>
              <a:t>Document oriented database where there are no tables and no row-based data.</a:t>
            </a:r>
          </a:p>
          <a:p>
            <a:pPr marL="342900" lvl="0" indent="-342900" algn="just">
              <a:buFont typeface="+mj-lt"/>
              <a:buAutoNum type="arabicPeriod"/>
            </a:pPr>
            <a:r>
              <a:rPr lang="en-IN" dirty="0"/>
              <a:t>NoSQL, where there is no schema. Documents can have different structures. Documents can be embedded. This is specifically designed for horizontal scaling.</a:t>
            </a:r>
          </a:p>
          <a:p>
            <a:pPr marL="342900" lvl="0" indent="-342900" algn="just">
              <a:buFont typeface="+mj-lt"/>
              <a:buAutoNum type="arabicPeriod"/>
            </a:pPr>
            <a:r>
              <a:rPr lang="en-IN" dirty="0"/>
              <a:t>By default, there is a </a:t>
            </a:r>
            <a:r>
              <a:rPr lang="en-IN" b="1" dirty="0">
                <a:solidFill>
                  <a:schemeClr val="accent1"/>
                </a:solidFill>
                <a:effectLst>
                  <a:outerShdw blurRad="38100" dist="38100" dir="2700000" algn="tl">
                    <a:srgbClr val="000000">
                      <a:alpha val="43137"/>
                    </a:srgbClr>
                  </a:outerShdw>
                </a:effectLst>
              </a:rPr>
              <a:t>primary key (_id)</a:t>
            </a:r>
            <a:r>
              <a:rPr lang="en-IN" dirty="0"/>
              <a:t>, which is an auto-generated field for every document.</a:t>
            </a:r>
          </a:p>
          <a:p>
            <a:pPr marL="342900" lvl="0" indent="-342900" algn="just">
              <a:buFont typeface="+mj-lt"/>
              <a:buAutoNum type="arabicPeriod"/>
            </a:pPr>
            <a:r>
              <a:rPr lang="en-IN" b="1" dirty="0">
                <a:solidFill>
                  <a:schemeClr val="accent1"/>
                </a:solidFill>
                <a:effectLst>
                  <a:outerShdw blurRad="38100" dist="38100" dir="2700000" algn="tl">
                    <a:srgbClr val="000000">
                      <a:alpha val="43137"/>
                    </a:srgbClr>
                  </a:outerShdw>
                </a:effectLst>
              </a:rPr>
              <a:t>Sharding</a:t>
            </a:r>
            <a:r>
              <a:rPr lang="en-IN" dirty="0"/>
              <a:t> is supported which is very much essential for horizontal scaling and replication.</a:t>
            </a:r>
          </a:p>
          <a:p>
            <a:pPr marL="342900" lvl="0" indent="-342900" algn="just">
              <a:buFont typeface="+mj-lt"/>
              <a:buAutoNum type="arabicPeriod"/>
            </a:pPr>
            <a:r>
              <a:rPr lang="en-IN" dirty="0"/>
              <a:t>It has automatic </a:t>
            </a:r>
            <a:r>
              <a:rPr lang="en-IN" b="1" dirty="0">
                <a:solidFill>
                  <a:schemeClr val="accent1"/>
                </a:solidFill>
                <a:effectLst>
                  <a:outerShdw blurRad="38100" dist="38100" dir="2700000" algn="tl">
                    <a:srgbClr val="000000">
                      <a:alpha val="43137"/>
                    </a:srgbClr>
                  </a:outerShdw>
                </a:effectLst>
              </a:rPr>
              <a:t>load balancing </a:t>
            </a:r>
            <a:r>
              <a:rPr lang="en-IN" dirty="0"/>
              <a:t>configurations.</a:t>
            </a:r>
          </a:p>
          <a:p>
            <a:pPr marL="342900" lvl="0" indent="-342900" algn="just">
              <a:buFont typeface="+mj-lt"/>
              <a:buAutoNum type="arabicPeriod"/>
            </a:pPr>
            <a:r>
              <a:rPr lang="en-IN" dirty="0"/>
              <a:t>Fault Tolerance is natively built in MongoDB.</a:t>
            </a:r>
          </a:p>
          <a:p>
            <a:pPr marL="342900" lvl="0" indent="-342900" algn="just">
              <a:buFont typeface="+mj-lt"/>
              <a:buAutoNum type="arabicPeriod"/>
            </a:pPr>
            <a:endParaRPr lang="en-IN" dirty="0"/>
          </a:p>
          <a:p>
            <a:pPr lvl="0"/>
            <a:endParaRPr lang="en-IN" b="1" dirty="0">
              <a:solidFill>
                <a:schemeClr val="accent1"/>
              </a:solidFill>
              <a:effectLst>
                <a:outerShdw blurRad="38100" dist="38100" dir="2700000" algn="tl">
                  <a:srgbClr val="000000">
                    <a:alpha val="43137"/>
                  </a:srgbClr>
                </a:outerShdw>
              </a:effectLst>
            </a:endParaRPr>
          </a:p>
          <a:p>
            <a:endParaRPr lang="en-IN" dirty="0"/>
          </a:p>
        </p:txBody>
      </p:sp>
    </p:spTree>
    <p:extLst>
      <p:ext uri="{BB962C8B-B14F-4D97-AF65-F5344CB8AC3E}">
        <p14:creationId xmlns:p14="http://schemas.microsoft.com/office/powerpoint/2010/main" val="2365919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874" y="163729"/>
            <a:ext cx="10131427" cy="1468800"/>
          </a:xfrm>
        </p:spPr>
        <p:txBody>
          <a:bodyPr/>
          <a:lstStyle/>
          <a:p>
            <a:r>
              <a:rPr lang="en-US" dirty="0">
                <a:ea typeface="ＭＳ Ｐゴシック" panose="020B0600070205080204" pitchFamily="34" charset="-128"/>
              </a:rPr>
              <a:t>Not great for?</a:t>
            </a:r>
            <a:br>
              <a:rPr lang="en-US" dirty="0">
                <a:ea typeface="ＭＳ Ｐゴシック" panose="020B0600070205080204" pitchFamily="34" charset="-128"/>
              </a:rPr>
            </a:br>
            <a:endParaRPr lang="en-IN" dirty="0"/>
          </a:p>
        </p:txBody>
      </p:sp>
      <p:grpSp>
        <p:nvGrpSpPr>
          <p:cNvPr id="4" name="Group 21"/>
          <p:cNvGrpSpPr>
            <a:grpSpLocks/>
          </p:cNvGrpSpPr>
          <p:nvPr/>
        </p:nvGrpSpPr>
        <p:grpSpPr bwMode="auto">
          <a:xfrm>
            <a:off x="1876514" y="2615725"/>
            <a:ext cx="8566150" cy="3962400"/>
            <a:chOff x="381000" y="2667000"/>
            <a:chExt cx="8566150" cy="3962400"/>
          </a:xfrm>
        </p:grpSpPr>
        <p:sp>
          <p:nvSpPr>
            <p:cNvPr id="5" name="Subtitle 5"/>
            <p:cNvSpPr txBox="1">
              <a:spLocks/>
            </p:cNvSpPr>
            <p:nvPr/>
          </p:nvSpPr>
          <p:spPr bwMode="auto">
            <a:xfrm>
              <a:off x="381000" y="26670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914400" eaLnBrk="1" hangingPunct="1">
                <a:spcBef>
                  <a:spcPts val="2000"/>
                </a:spcBef>
              </a:pPr>
              <a:r>
                <a:rPr lang="en-US" sz="3000">
                  <a:latin typeface="Constantia" panose="02030602050306030303" pitchFamily="18" charset="0"/>
                </a:rPr>
                <a:t>Some Companies using MongoDB in Production</a:t>
              </a:r>
            </a:p>
          </p:txBody>
        </p:sp>
        <p:pic>
          <p:nvPicPr>
            <p:cNvPr id="6" name="Picture 9" descr="craigslist.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63950"/>
              <a:ext cx="16764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2" descr="gh.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9350" y="4489390"/>
              <a:ext cx="9525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descr="eventbrit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07150" y="3708400"/>
              <a:ext cx="25400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4" descr="intuit.g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625640" y="4254817"/>
              <a:ext cx="18415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5" descr="bi.gif"/>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08440" y="4692650"/>
              <a:ext cx="18288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6" descr="the-guardian-logo.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657600" y="5836920"/>
              <a:ext cx="4142704" cy="735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7" descr="ign.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848059" y="3473450"/>
              <a:ext cx="1619081" cy="57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8" descr="disney.jp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89855" y="5156517"/>
              <a:ext cx="1871490" cy="862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9" descr="gg.png"/>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4708440" y="3513179"/>
              <a:ext cx="1463760" cy="74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0" descr="logo-sourceforge.png"/>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609600" y="6191250"/>
              <a:ext cx="26670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 name="Rectangle 15"/>
          <p:cNvSpPr/>
          <p:nvPr/>
        </p:nvSpPr>
        <p:spPr>
          <a:xfrm>
            <a:off x="809798" y="1221941"/>
            <a:ext cx="7067550" cy="1570038"/>
          </a:xfrm>
          <a:prstGeom prst="rect">
            <a:avLst/>
          </a:prstGeom>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dirty="0">
                <a:latin typeface="Constantia" panose="02030602050306030303" pitchFamily="18" charset="0"/>
              </a:rPr>
              <a:t>• Highly </a:t>
            </a:r>
            <a:r>
              <a:rPr lang="en-US" dirty="0">
                <a:solidFill>
                  <a:srgbClr val="93E50D"/>
                </a:solidFill>
                <a:latin typeface="Constantia" panose="02030602050306030303" pitchFamily="18" charset="0"/>
              </a:rPr>
              <a:t>Transactional </a:t>
            </a:r>
            <a:r>
              <a:rPr lang="en-US" dirty="0">
                <a:latin typeface="Constantia" panose="02030602050306030303" pitchFamily="18" charset="0"/>
              </a:rPr>
              <a:t>Applications.</a:t>
            </a:r>
            <a:endParaRPr lang="en-US" dirty="0">
              <a:solidFill>
                <a:srgbClr val="93E50D"/>
              </a:solidFill>
              <a:latin typeface="Constantia" panose="02030602050306030303" pitchFamily="18" charset="0"/>
            </a:endParaRPr>
          </a:p>
          <a:p>
            <a:pPr eaLnBrk="1" hangingPunct="1"/>
            <a:endParaRPr lang="en-US" dirty="0">
              <a:latin typeface="Constantia" panose="02030602050306030303" pitchFamily="18" charset="0"/>
            </a:endParaRPr>
          </a:p>
          <a:p>
            <a:pPr eaLnBrk="1" hangingPunct="1"/>
            <a:r>
              <a:rPr lang="en-US" dirty="0">
                <a:latin typeface="Constantia" panose="02030602050306030303" pitchFamily="18" charset="0"/>
              </a:rPr>
              <a:t>• Problems requiring </a:t>
            </a:r>
            <a:r>
              <a:rPr lang="en-US" dirty="0">
                <a:solidFill>
                  <a:srgbClr val="93E50D"/>
                </a:solidFill>
                <a:latin typeface="Constantia" panose="02030602050306030303" pitchFamily="18" charset="0"/>
              </a:rPr>
              <a:t>SQL</a:t>
            </a:r>
            <a:r>
              <a:rPr lang="en-US" dirty="0">
                <a:latin typeface="Constantia" panose="02030602050306030303" pitchFamily="18" charset="0"/>
              </a:rPr>
              <a:t>.</a:t>
            </a:r>
            <a:endParaRPr lang="en-US" dirty="0">
              <a:solidFill>
                <a:srgbClr val="93E50D"/>
              </a:solidFill>
              <a:latin typeface="Constantia" panose="02030602050306030303" pitchFamily="18" charset="0"/>
            </a:endParaRPr>
          </a:p>
          <a:p>
            <a:pPr eaLnBrk="1" hangingPunct="1"/>
            <a:endParaRPr lang="en-US" dirty="0">
              <a:latin typeface="Constantia" panose="02030602050306030303" pitchFamily="18" charset="0"/>
            </a:endParaRPr>
          </a:p>
          <a:p>
            <a:pPr eaLnBrk="1" hangingPunct="1"/>
            <a:endParaRPr lang="en-US" dirty="0">
              <a:latin typeface="Constantia" panose="02030602050306030303" pitchFamily="18" charset="0"/>
            </a:endParaRPr>
          </a:p>
        </p:txBody>
      </p:sp>
    </p:spTree>
    <p:extLst>
      <p:ext uri="{BB962C8B-B14F-4D97-AF65-F5344CB8AC3E}">
        <p14:creationId xmlns:p14="http://schemas.microsoft.com/office/powerpoint/2010/main" val="223608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4A8B-5A5A-4E27-82BB-0F010C79D043}"/>
              </a:ext>
            </a:extLst>
          </p:cNvPr>
          <p:cNvSpPr>
            <a:spLocks noGrp="1"/>
          </p:cNvSpPr>
          <p:nvPr>
            <p:ph type="title"/>
          </p:nvPr>
        </p:nvSpPr>
        <p:spPr>
          <a:xfrm>
            <a:off x="685803" y="344554"/>
            <a:ext cx="7557050" cy="894520"/>
          </a:xfrm>
        </p:spPr>
        <p:txBody>
          <a:bodyPr>
            <a:normAutofit fontScale="90000"/>
          </a:bodyPr>
          <a:lstStyle/>
          <a:p>
            <a:r>
              <a:rPr lang="en-IN" dirty="0">
                <a:latin typeface="Berlin Sans FB Demi" panose="020E0802020502020306" pitchFamily="34" charset="0"/>
              </a:rPr>
              <a:t>HOW TO INSTALL &amp; RUN MONGODB ?</a:t>
            </a:r>
            <a:br>
              <a:rPr lang="en-IN" dirty="0"/>
            </a:br>
            <a:endParaRPr lang="en-IN" dirty="0"/>
          </a:p>
        </p:txBody>
      </p:sp>
      <p:pic>
        <p:nvPicPr>
          <p:cNvPr id="4" name="Picture 3">
            <a:extLst>
              <a:ext uri="{FF2B5EF4-FFF2-40B4-BE49-F238E27FC236}">
                <a16:creationId xmlns:a16="http://schemas.microsoft.com/office/drawing/2014/main" id="{681D0C3C-064E-4D4D-9A00-18A98A748356}"/>
              </a:ext>
            </a:extLst>
          </p:cNvPr>
          <p:cNvPicPr>
            <a:picLocks noChangeAspect="1"/>
          </p:cNvPicPr>
          <p:nvPr/>
        </p:nvPicPr>
        <p:blipFill>
          <a:blip r:embed="rId2"/>
          <a:stretch>
            <a:fillRect/>
          </a:stretch>
        </p:blipFill>
        <p:spPr>
          <a:xfrm>
            <a:off x="890302" y="1239074"/>
            <a:ext cx="2226365" cy="1905586"/>
          </a:xfrm>
          <a:prstGeom prst="rect">
            <a:avLst/>
          </a:prstGeom>
        </p:spPr>
      </p:pic>
      <p:pic>
        <p:nvPicPr>
          <p:cNvPr id="5" name="Picture 4">
            <a:extLst>
              <a:ext uri="{FF2B5EF4-FFF2-40B4-BE49-F238E27FC236}">
                <a16:creationId xmlns:a16="http://schemas.microsoft.com/office/drawing/2014/main" id="{CA872746-0C00-43AE-950F-71579C09B10B}"/>
              </a:ext>
            </a:extLst>
          </p:cNvPr>
          <p:cNvPicPr>
            <a:picLocks noChangeAspect="1"/>
          </p:cNvPicPr>
          <p:nvPr/>
        </p:nvPicPr>
        <p:blipFill>
          <a:blip r:embed="rId3"/>
          <a:stretch>
            <a:fillRect/>
          </a:stretch>
        </p:blipFill>
        <p:spPr>
          <a:xfrm>
            <a:off x="3436534" y="3385923"/>
            <a:ext cx="2367919" cy="1905586"/>
          </a:xfrm>
          <a:prstGeom prst="rect">
            <a:avLst/>
          </a:prstGeom>
        </p:spPr>
      </p:pic>
      <p:pic>
        <p:nvPicPr>
          <p:cNvPr id="6" name="Picture 5">
            <a:extLst>
              <a:ext uri="{FF2B5EF4-FFF2-40B4-BE49-F238E27FC236}">
                <a16:creationId xmlns:a16="http://schemas.microsoft.com/office/drawing/2014/main" id="{50E93DB6-EA9C-476D-B359-0C295004B5F9}"/>
              </a:ext>
            </a:extLst>
          </p:cNvPr>
          <p:cNvPicPr>
            <a:picLocks noChangeAspect="1"/>
          </p:cNvPicPr>
          <p:nvPr/>
        </p:nvPicPr>
        <p:blipFill>
          <a:blip r:embed="rId4"/>
          <a:stretch>
            <a:fillRect/>
          </a:stretch>
        </p:blipFill>
        <p:spPr>
          <a:xfrm>
            <a:off x="6096000" y="3399181"/>
            <a:ext cx="2367919" cy="1892328"/>
          </a:xfrm>
          <a:prstGeom prst="rect">
            <a:avLst/>
          </a:prstGeom>
        </p:spPr>
      </p:pic>
      <p:pic>
        <p:nvPicPr>
          <p:cNvPr id="8" name="Picture 7">
            <a:extLst>
              <a:ext uri="{FF2B5EF4-FFF2-40B4-BE49-F238E27FC236}">
                <a16:creationId xmlns:a16="http://schemas.microsoft.com/office/drawing/2014/main" id="{C647F7CC-D7F7-4AF4-B881-27C197A73241}"/>
              </a:ext>
            </a:extLst>
          </p:cNvPr>
          <p:cNvPicPr>
            <a:picLocks noChangeAspect="1"/>
          </p:cNvPicPr>
          <p:nvPr/>
        </p:nvPicPr>
        <p:blipFill>
          <a:blip r:embed="rId5"/>
          <a:stretch>
            <a:fillRect/>
          </a:stretch>
        </p:blipFill>
        <p:spPr>
          <a:xfrm>
            <a:off x="3436534" y="1239074"/>
            <a:ext cx="2367919" cy="1905586"/>
          </a:xfrm>
          <a:prstGeom prst="rect">
            <a:avLst/>
          </a:prstGeom>
        </p:spPr>
      </p:pic>
      <p:pic>
        <p:nvPicPr>
          <p:cNvPr id="10" name="Picture 9">
            <a:extLst>
              <a:ext uri="{FF2B5EF4-FFF2-40B4-BE49-F238E27FC236}">
                <a16:creationId xmlns:a16="http://schemas.microsoft.com/office/drawing/2014/main" id="{1F014256-4F34-434E-852A-31A42D016701}"/>
              </a:ext>
            </a:extLst>
          </p:cNvPr>
          <p:cNvPicPr>
            <a:picLocks noChangeAspect="1"/>
          </p:cNvPicPr>
          <p:nvPr/>
        </p:nvPicPr>
        <p:blipFill>
          <a:blip r:embed="rId6"/>
          <a:stretch>
            <a:fillRect/>
          </a:stretch>
        </p:blipFill>
        <p:spPr>
          <a:xfrm>
            <a:off x="6069496" y="1239074"/>
            <a:ext cx="2367919" cy="1905586"/>
          </a:xfrm>
          <a:prstGeom prst="rect">
            <a:avLst/>
          </a:prstGeom>
        </p:spPr>
      </p:pic>
      <p:pic>
        <p:nvPicPr>
          <p:cNvPr id="12" name="Picture 11">
            <a:extLst>
              <a:ext uri="{FF2B5EF4-FFF2-40B4-BE49-F238E27FC236}">
                <a16:creationId xmlns:a16="http://schemas.microsoft.com/office/drawing/2014/main" id="{BE85CC6B-3310-4D7A-A03E-68E4D503D5C2}"/>
              </a:ext>
            </a:extLst>
          </p:cNvPr>
          <p:cNvPicPr>
            <a:picLocks noChangeAspect="1"/>
          </p:cNvPicPr>
          <p:nvPr/>
        </p:nvPicPr>
        <p:blipFill>
          <a:blip r:embed="rId7"/>
          <a:stretch>
            <a:fillRect/>
          </a:stretch>
        </p:blipFill>
        <p:spPr>
          <a:xfrm>
            <a:off x="819524" y="3385926"/>
            <a:ext cx="2297143" cy="1916105"/>
          </a:xfrm>
          <a:prstGeom prst="rect">
            <a:avLst/>
          </a:prstGeom>
        </p:spPr>
      </p:pic>
    </p:spTree>
    <p:extLst>
      <p:ext uri="{BB962C8B-B14F-4D97-AF65-F5344CB8AC3E}">
        <p14:creationId xmlns:p14="http://schemas.microsoft.com/office/powerpoint/2010/main" val="1088373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FCA1C-8FCA-4C6E-9572-F9B1FEBB59ED}"/>
              </a:ext>
            </a:extLst>
          </p:cNvPr>
          <p:cNvSpPr>
            <a:spLocks noGrp="1"/>
          </p:cNvSpPr>
          <p:nvPr>
            <p:ph type="title"/>
          </p:nvPr>
        </p:nvSpPr>
        <p:spPr>
          <a:xfrm>
            <a:off x="685802" y="304799"/>
            <a:ext cx="8908772" cy="742122"/>
          </a:xfrm>
        </p:spPr>
        <p:txBody>
          <a:bodyPr>
            <a:normAutofit/>
          </a:bodyPr>
          <a:lstStyle/>
          <a:p>
            <a:r>
              <a:rPr lang="en-IN" dirty="0">
                <a:latin typeface="Berlin Sans FB Demi" panose="020E0802020502020306" pitchFamily="34" charset="0"/>
              </a:rPr>
              <a:t>How to install &amp; run mongodb ?</a:t>
            </a:r>
            <a:endParaRPr lang="en-IN" dirty="0"/>
          </a:p>
        </p:txBody>
      </p:sp>
      <p:sp>
        <p:nvSpPr>
          <p:cNvPr id="3" name="Content Placeholder 2">
            <a:extLst>
              <a:ext uri="{FF2B5EF4-FFF2-40B4-BE49-F238E27FC236}">
                <a16:creationId xmlns:a16="http://schemas.microsoft.com/office/drawing/2014/main" id="{5F8C6229-3AB3-43E3-82AB-783CF0FCB04C}"/>
              </a:ext>
            </a:extLst>
          </p:cNvPr>
          <p:cNvSpPr>
            <a:spLocks noGrp="1"/>
          </p:cNvSpPr>
          <p:nvPr>
            <p:ph idx="1"/>
          </p:nvPr>
        </p:nvSpPr>
        <p:spPr>
          <a:xfrm>
            <a:off x="685802" y="1046921"/>
            <a:ext cx="7939583" cy="4425831"/>
          </a:xfrm>
        </p:spPr>
        <p:txBody>
          <a:bodyPr>
            <a:normAutofit fontScale="92500" lnSpcReduction="10000"/>
          </a:bodyPr>
          <a:lstStyle/>
          <a:p>
            <a:pPr algn="just"/>
            <a:endParaRPr lang="en-IN" dirty="0"/>
          </a:p>
          <a:p>
            <a:pPr algn="just"/>
            <a:r>
              <a:rPr lang="en-IN" dirty="0"/>
              <a:t>To install the MongoDB you need to visit the download section of the official website. Visit the following link: </a:t>
            </a:r>
            <a:r>
              <a:rPr lang="en-IN" dirty="0">
                <a:hlinkClick r:id="rId2"/>
              </a:rPr>
              <a:t>https://www.mongodb.com/download-center/community</a:t>
            </a:r>
            <a:r>
              <a:rPr lang="en-IN" dirty="0"/>
              <a:t>. </a:t>
            </a:r>
            <a:br>
              <a:rPr lang="en-IN" dirty="0"/>
            </a:br>
            <a:r>
              <a:rPr lang="en-IN" dirty="0"/>
              <a:t>Select the version, OS and the package there and then click download.</a:t>
            </a:r>
          </a:p>
          <a:p>
            <a:pPr algn="just"/>
            <a:r>
              <a:rPr lang="en-IN" dirty="0"/>
              <a:t>After download is completed double click the file (e.g.:- mongodb-win32-x86_64-2008plus-ssl-3.4.5-signed.msi). This will start the installation.</a:t>
            </a:r>
          </a:p>
          <a:p>
            <a:pPr algn="just"/>
            <a:r>
              <a:rPr lang="en-IN" dirty="0"/>
              <a:t>Go through all the steps. Simply click next on each step and at the last step click on Finish button. This will install the MongoDB on your system.</a:t>
            </a:r>
          </a:p>
          <a:p>
            <a:pPr marL="0" indent="0" algn="just">
              <a:buNone/>
            </a:pPr>
            <a:r>
              <a:rPr lang="en-IN" dirty="0"/>
              <a:t>     </a:t>
            </a:r>
            <a:r>
              <a:rPr lang="en-IN" b="1" dirty="0">
                <a:solidFill>
                  <a:schemeClr val="accent1">
                    <a:lumMod val="60000"/>
                    <a:lumOff val="40000"/>
                  </a:schemeClr>
                </a:solidFill>
                <a:effectLst>
                  <a:outerShdw blurRad="38100" dist="38100" dir="2700000" algn="tl">
                    <a:srgbClr val="000000">
                      <a:alpha val="43137"/>
                    </a:srgbClr>
                  </a:outerShdw>
                </a:effectLst>
              </a:rPr>
              <a:t>RUNNING THE MONGODB IN SYSTEM:</a:t>
            </a:r>
          </a:p>
          <a:p>
            <a:pPr algn="just"/>
            <a:r>
              <a:rPr lang="en-IN" dirty="0"/>
              <a:t>Create the folder </a:t>
            </a:r>
            <a:r>
              <a:rPr lang="en-IN" dirty="0">
                <a:sym typeface="Wingdings" panose="05000000000000000000" pitchFamily="2" charset="2"/>
              </a:rPr>
              <a:t> </a:t>
            </a:r>
            <a:r>
              <a:rPr lang="en-IN" sz="2000" b="1" dirty="0">
                <a:solidFill>
                  <a:schemeClr val="accent1"/>
                </a:solidFill>
                <a:effectLst>
                  <a:outerShdw blurRad="38100" dist="38100" dir="2700000" algn="tl">
                    <a:srgbClr val="000000">
                      <a:alpha val="43137"/>
                    </a:srgbClr>
                  </a:outerShdw>
                </a:effectLst>
                <a:sym typeface="Wingdings" panose="05000000000000000000" pitchFamily="2" charset="2"/>
              </a:rPr>
              <a:t>C:\data\db </a:t>
            </a:r>
            <a:r>
              <a:rPr lang="en-IN" dirty="0">
                <a:sym typeface="Wingdings" panose="05000000000000000000" pitchFamily="2" charset="2"/>
              </a:rPr>
              <a:t>(In this case after creating the folder, you need to double click the </a:t>
            </a:r>
            <a:r>
              <a:rPr lang="en-IN" b="1" dirty="0">
                <a:solidFill>
                  <a:schemeClr val="accent1"/>
                </a:solidFill>
                <a:effectLst>
                  <a:outerShdw blurRad="38100" dist="38100" dir="2700000" algn="tl">
                    <a:srgbClr val="000000">
                      <a:alpha val="43137"/>
                    </a:srgbClr>
                  </a:outerShdw>
                </a:effectLst>
                <a:sym typeface="Wingdings" panose="05000000000000000000" pitchFamily="2" charset="2"/>
              </a:rPr>
              <a:t>mongod.exe </a:t>
            </a:r>
            <a:r>
              <a:rPr lang="en-IN" dirty="0">
                <a:sym typeface="Wingdings" panose="05000000000000000000" pitchFamily="2" charset="2"/>
              </a:rPr>
              <a:t>file or just need to start the command line terminal and run the command </a:t>
            </a:r>
            <a:r>
              <a:rPr lang="en-IN" b="1" dirty="0">
                <a:solidFill>
                  <a:schemeClr val="accent1"/>
                </a:solidFill>
                <a:effectLst>
                  <a:outerShdw blurRad="38100" dist="38100" dir="2700000" algn="tl">
                    <a:srgbClr val="000000">
                      <a:alpha val="43137"/>
                    </a:srgbClr>
                  </a:outerShdw>
                </a:effectLst>
                <a:sym typeface="Wingdings" panose="05000000000000000000" pitchFamily="2" charset="2"/>
              </a:rPr>
              <a:t>mongod</a:t>
            </a:r>
            <a:r>
              <a:rPr lang="en-IN" dirty="0">
                <a:sym typeface="Wingdings" panose="05000000000000000000" pitchFamily="2" charset="2"/>
              </a:rPr>
              <a:t>).</a:t>
            </a:r>
          </a:p>
          <a:p>
            <a:pPr marL="0" indent="0" algn="r">
              <a:buNone/>
            </a:pPr>
            <a:r>
              <a:rPr lang="en-IN" i="1" dirty="0">
                <a:sym typeface="Wingdings" panose="05000000000000000000" pitchFamily="2" charset="2"/>
              </a:rPr>
              <a:t>To be continued…</a:t>
            </a:r>
            <a:endParaRPr lang="en-IN" sz="2000" b="1" dirty="0">
              <a:solidFill>
                <a:schemeClr val="accent1"/>
              </a:solidFill>
              <a:effectLst>
                <a:outerShdw blurRad="38100" dist="38100" dir="2700000" algn="tl">
                  <a:srgbClr val="000000">
                    <a:alpha val="43137"/>
                  </a:srgbClr>
                </a:outerShdw>
              </a:effectLst>
            </a:endParaRPr>
          </a:p>
          <a:p>
            <a:endParaRPr lang="en-IN" dirty="0"/>
          </a:p>
        </p:txBody>
      </p:sp>
    </p:spTree>
    <p:extLst>
      <p:ext uri="{BB962C8B-B14F-4D97-AF65-F5344CB8AC3E}">
        <p14:creationId xmlns:p14="http://schemas.microsoft.com/office/powerpoint/2010/main" val="4057052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0D4DFE6-A4AD-48DE-9704-DA30B58FDFA0}"/>
              </a:ext>
            </a:extLst>
          </p:cNvPr>
          <p:cNvSpPr/>
          <p:nvPr/>
        </p:nvSpPr>
        <p:spPr>
          <a:xfrm>
            <a:off x="938266" y="408370"/>
            <a:ext cx="8152725" cy="646331"/>
          </a:xfrm>
          <a:prstGeom prst="rect">
            <a:avLst/>
          </a:prstGeom>
        </p:spPr>
        <p:txBody>
          <a:bodyPr wrap="square">
            <a:spAutoFit/>
          </a:bodyPr>
          <a:lstStyle/>
          <a:p>
            <a:r>
              <a:rPr lang="en-IN" sz="3600" dirty="0">
                <a:latin typeface="Berlin Sans FB Demi" panose="020E0802020502020306" pitchFamily="34" charset="0"/>
              </a:rPr>
              <a:t>HOW TO INSTALL &amp; RUN MONGODB ?</a:t>
            </a:r>
            <a:endParaRPr lang="en-IN" sz="3600" dirty="0"/>
          </a:p>
        </p:txBody>
      </p:sp>
      <p:sp>
        <p:nvSpPr>
          <p:cNvPr id="8" name="Rectangle 7">
            <a:extLst>
              <a:ext uri="{FF2B5EF4-FFF2-40B4-BE49-F238E27FC236}">
                <a16:creationId xmlns:a16="http://schemas.microsoft.com/office/drawing/2014/main" id="{449A34B6-D694-4EEC-9342-9B8BDD1236F4}"/>
              </a:ext>
            </a:extLst>
          </p:cNvPr>
          <p:cNvSpPr/>
          <p:nvPr/>
        </p:nvSpPr>
        <p:spPr>
          <a:xfrm>
            <a:off x="1060173" y="1047070"/>
            <a:ext cx="7699514" cy="5355312"/>
          </a:xfrm>
          <a:prstGeom prst="rect">
            <a:avLst/>
          </a:prstGeom>
          <a:ln>
            <a:noFill/>
          </a:ln>
        </p:spPr>
        <p:txBody>
          <a:bodyPr wrap="square">
            <a:spAutoFit/>
          </a:bodyPr>
          <a:lstStyle/>
          <a:p>
            <a:pPr algn="just"/>
            <a:r>
              <a:rPr lang="en-IN" i="1" dirty="0"/>
              <a:t>       …in continuation</a:t>
            </a:r>
          </a:p>
          <a:p>
            <a:pPr marL="285750" indent="-285750" algn="just">
              <a:buFont typeface="Arial" panose="020B0604020202020204" pitchFamily="34" charset="0"/>
              <a:buChar char="•"/>
            </a:pPr>
            <a:r>
              <a:rPr lang="en-IN" dirty="0"/>
              <a:t>Alternatively you can create the folder at a different location and give its reference in </a:t>
            </a:r>
            <a:r>
              <a:rPr lang="en-IN" b="1" dirty="0">
                <a:solidFill>
                  <a:schemeClr val="accent1"/>
                </a:solidFill>
                <a:effectLst>
                  <a:outerShdw blurRad="38100" dist="38100" dir="2700000" algn="tl">
                    <a:srgbClr val="000000">
                      <a:alpha val="43137"/>
                    </a:srgbClr>
                  </a:outerShdw>
                </a:effectLst>
              </a:rPr>
              <a:t>mongo.config </a:t>
            </a:r>
            <a:r>
              <a:rPr lang="en-IN" dirty="0"/>
              <a:t>file. Then in </a:t>
            </a:r>
            <a:r>
              <a:rPr lang="en-IN" b="1" dirty="0">
                <a:solidFill>
                  <a:schemeClr val="accent1"/>
                </a:solidFill>
                <a:effectLst>
                  <a:outerShdw blurRad="38100" dist="38100" dir="2700000" algn="tl">
                    <a:srgbClr val="000000">
                      <a:alpha val="43137"/>
                    </a:srgbClr>
                  </a:outerShdw>
                </a:effectLst>
              </a:rPr>
              <a:t>mongo.bat</a:t>
            </a:r>
            <a:r>
              <a:rPr lang="en-IN" dirty="0"/>
              <a:t> file write the reference of the </a:t>
            </a:r>
            <a:r>
              <a:rPr lang="en-IN" b="1" dirty="0">
                <a:solidFill>
                  <a:schemeClr val="accent1"/>
                </a:solidFill>
                <a:effectLst>
                  <a:outerShdw blurRad="38100" dist="38100" dir="2700000" algn="tl">
                    <a:srgbClr val="000000">
                      <a:alpha val="43137"/>
                    </a:srgbClr>
                  </a:outerShdw>
                </a:effectLst>
              </a:rPr>
              <a:t>mongo.config </a:t>
            </a:r>
            <a:r>
              <a:rPr lang="en-IN" dirty="0"/>
              <a:t>file and run it whenever you want to start the mongodb server.</a:t>
            </a:r>
          </a:p>
          <a:p>
            <a:pPr marL="285750" indent="-285750" algn="just">
              <a:buFont typeface="Arial" panose="020B0604020202020204" pitchFamily="34" charset="0"/>
              <a:buChar char="•"/>
            </a:pPr>
            <a:r>
              <a:rPr lang="en-IN" dirty="0"/>
              <a:t>Mongo.config file has some other parameters which are described in the below image.</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algn="just"/>
            <a:endParaRPr lang="en-IN" dirty="0"/>
          </a:p>
          <a:p>
            <a:pPr marL="285750" indent="-285750" algn="just">
              <a:buFont typeface="Arial" panose="020B0604020202020204" pitchFamily="34" charset="0"/>
              <a:buChar char="•"/>
            </a:pPr>
            <a:r>
              <a:rPr lang="en-IN" dirty="0"/>
              <a:t>It comprises database path reference, log file path reference and port number reference.</a:t>
            </a:r>
          </a:p>
          <a:p>
            <a:pPr algn="r"/>
            <a:r>
              <a:rPr lang="en-IN" i="1" dirty="0"/>
              <a:t>To be continued…</a:t>
            </a:r>
          </a:p>
          <a:p>
            <a:pPr marL="285750" indent="-285750">
              <a:buFont typeface="Arial" panose="020B0604020202020204" pitchFamily="34" charset="0"/>
              <a:buChar char="•"/>
            </a:pPr>
            <a:endParaRPr lang="en-IN" dirty="0"/>
          </a:p>
          <a:p>
            <a:endParaRPr lang="en-IN" i="1" dirty="0"/>
          </a:p>
        </p:txBody>
      </p:sp>
      <p:pic>
        <p:nvPicPr>
          <p:cNvPr id="10" name="Picture 9">
            <a:extLst>
              <a:ext uri="{FF2B5EF4-FFF2-40B4-BE49-F238E27FC236}">
                <a16:creationId xmlns:a16="http://schemas.microsoft.com/office/drawing/2014/main" id="{DCADF5CD-1E81-497E-A62E-748115C4836C}"/>
              </a:ext>
            </a:extLst>
          </p:cNvPr>
          <p:cNvPicPr>
            <a:picLocks noChangeAspect="1"/>
          </p:cNvPicPr>
          <p:nvPr/>
        </p:nvPicPr>
        <p:blipFill>
          <a:blip r:embed="rId2"/>
          <a:stretch>
            <a:fillRect/>
          </a:stretch>
        </p:blipFill>
        <p:spPr>
          <a:xfrm>
            <a:off x="1457740" y="2791858"/>
            <a:ext cx="7301948" cy="1753638"/>
          </a:xfrm>
          <a:prstGeom prst="rect">
            <a:avLst/>
          </a:prstGeom>
        </p:spPr>
      </p:pic>
    </p:spTree>
    <p:extLst>
      <p:ext uri="{BB962C8B-B14F-4D97-AF65-F5344CB8AC3E}">
        <p14:creationId xmlns:p14="http://schemas.microsoft.com/office/powerpoint/2010/main" val="127467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4A8B-5A5A-4E27-82BB-0F010C79D043}"/>
              </a:ext>
            </a:extLst>
          </p:cNvPr>
          <p:cNvSpPr>
            <a:spLocks noGrp="1"/>
          </p:cNvSpPr>
          <p:nvPr>
            <p:ph type="title"/>
          </p:nvPr>
        </p:nvSpPr>
        <p:spPr>
          <a:xfrm>
            <a:off x="685803" y="424066"/>
            <a:ext cx="7557050" cy="894520"/>
          </a:xfrm>
        </p:spPr>
        <p:txBody>
          <a:bodyPr>
            <a:normAutofit fontScale="90000"/>
          </a:bodyPr>
          <a:lstStyle/>
          <a:p>
            <a:r>
              <a:rPr lang="en-IN" dirty="0">
                <a:latin typeface="Berlin Sans FB Demi" panose="020E0802020502020306" pitchFamily="34" charset="0"/>
              </a:rPr>
              <a:t>HOW TO INSTALL &amp; RUN MONGODB ?</a:t>
            </a:r>
            <a:br>
              <a:rPr lang="en-IN" dirty="0"/>
            </a:br>
            <a:endParaRPr lang="en-IN" dirty="0"/>
          </a:p>
        </p:txBody>
      </p:sp>
      <p:sp>
        <p:nvSpPr>
          <p:cNvPr id="3" name="Content Placeholder 2">
            <a:extLst>
              <a:ext uri="{FF2B5EF4-FFF2-40B4-BE49-F238E27FC236}">
                <a16:creationId xmlns:a16="http://schemas.microsoft.com/office/drawing/2014/main" id="{6CEBCA0E-3A86-4D52-BAA6-8AFA51B75751}"/>
              </a:ext>
            </a:extLst>
          </p:cNvPr>
          <p:cNvSpPr>
            <a:spLocks noGrp="1"/>
          </p:cNvSpPr>
          <p:nvPr>
            <p:ph idx="1"/>
          </p:nvPr>
        </p:nvSpPr>
        <p:spPr>
          <a:xfrm>
            <a:off x="685803" y="1007164"/>
            <a:ext cx="8020875" cy="4320210"/>
          </a:xfrm>
          <a:ln>
            <a:noFill/>
          </a:ln>
        </p:spPr>
        <p:txBody>
          <a:bodyPr>
            <a:normAutofit lnSpcReduction="10000"/>
          </a:bodyPr>
          <a:lstStyle/>
          <a:p>
            <a:pPr marL="0" indent="0">
              <a:buNone/>
            </a:pPr>
            <a:r>
              <a:rPr lang="en-IN" i="1" dirty="0"/>
              <a:t>     …in continuation</a:t>
            </a:r>
          </a:p>
          <a:p>
            <a:r>
              <a:rPr lang="en-IN" dirty="0"/>
              <a:t>The </a:t>
            </a:r>
            <a:r>
              <a:rPr lang="en-IN" b="1" dirty="0">
                <a:solidFill>
                  <a:schemeClr val="accent1"/>
                </a:solidFill>
                <a:effectLst>
                  <a:outerShdw blurRad="38100" dist="38100" dir="2700000" algn="tl">
                    <a:srgbClr val="000000">
                      <a:alpha val="43137"/>
                    </a:srgbClr>
                  </a:outerShdw>
                </a:effectLst>
              </a:rPr>
              <a:t>mongo.bat </a:t>
            </a:r>
            <a:r>
              <a:rPr lang="en-IN" dirty="0"/>
              <a:t>file will have a reference to </a:t>
            </a:r>
            <a:r>
              <a:rPr lang="en-IN" b="1" dirty="0">
                <a:solidFill>
                  <a:schemeClr val="accent1"/>
                </a:solidFill>
                <a:effectLst>
                  <a:outerShdw blurRad="38100" dist="38100" dir="2700000" algn="tl">
                    <a:srgbClr val="000000">
                      <a:alpha val="43137"/>
                    </a:srgbClr>
                  </a:outerShdw>
                </a:effectLst>
              </a:rPr>
              <a:t>mongo.config</a:t>
            </a:r>
            <a:r>
              <a:rPr lang="en-IN" dirty="0"/>
              <a:t> file. </a:t>
            </a:r>
          </a:p>
          <a:p>
            <a:r>
              <a:rPr lang="en-IN" dirty="0"/>
              <a:t>The command written inside the </a:t>
            </a:r>
            <a:r>
              <a:rPr lang="en-IN" b="1" dirty="0">
                <a:solidFill>
                  <a:schemeClr val="accent1"/>
                </a:solidFill>
                <a:effectLst>
                  <a:outerShdw blurRad="38100" dist="38100" dir="2700000" algn="tl">
                    <a:srgbClr val="000000">
                      <a:alpha val="43137"/>
                    </a:srgbClr>
                  </a:outerShdw>
                </a:effectLst>
              </a:rPr>
              <a:t>mongo.bat </a:t>
            </a:r>
            <a:r>
              <a:rPr lang="en-IN" dirty="0"/>
              <a:t>file is:</a:t>
            </a:r>
          </a:p>
          <a:p>
            <a:pPr marL="0" indent="0" algn="ctr">
              <a:buNone/>
            </a:pPr>
            <a:r>
              <a:rPr lang="en-IN" sz="2600" b="1" i="1" dirty="0">
                <a:solidFill>
                  <a:schemeClr val="accent1"/>
                </a:solidFill>
                <a:effectLst>
                  <a:outerShdw blurRad="38100" dist="38100" dir="2700000" algn="tl">
                    <a:srgbClr val="000000">
                      <a:alpha val="43137"/>
                    </a:srgbClr>
                  </a:outerShdw>
                </a:effectLst>
              </a:rPr>
              <a:t>mongod -f mongo.config</a:t>
            </a:r>
          </a:p>
          <a:p>
            <a:pPr algn="just"/>
            <a:r>
              <a:rPr lang="en-IN" dirty="0"/>
              <a:t>It is shown in the below image.</a:t>
            </a:r>
          </a:p>
          <a:p>
            <a:endParaRPr lang="en-IN" dirty="0"/>
          </a:p>
          <a:p>
            <a:endParaRPr lang="en-IN" dirty="0"/>
          </a:p>
          <a:p>
            <a:endParaRPr lang="en-IN" dirty="0"/>
          </a:p>
          <a:p>
            <a:r>
              <a:rPr lang="en-IN" dirty="0"/>
              <a:t>This will allow the server to read the config file and refer the location of the database.</a:t>
            </a:r>
          </a:p>
          <a:p>
            <a:r>
              <a:rPr lang="en-IN" dirty="0"/>
              <a:t>The default port that the mongodb server reads is </a:t>
            </a:r>
            <a:r>
              <a:rPr lang="en-IN" b="1" dirty="0">
                <a:solidFill>
                  <a:schemeClr val="accent1"/>
                </a:solidFill>
                <a:effectLst>
                  <a:outerShdw blurRad="38100" dist="38100" dir="2700000" algn="tl">
                    <a:srgbClr val="000000">
                      <a:alpha val="43137"/>
                    </a:srgbClr>
                  </a:outerShdw>
                </a:effectLst>
              </a:rPr>
              <a:t>27017</a:t>
            </a:r>
            <a:r>
              <a:rPr lang="en-IN" dirty="0"/>
              <a:t>.</a:t>
            </a:r>
          </a:p>
        </p:txBody>
      </p:sp>
      <p:pic>
        <p:nvPicPr>
          <p:cNvPr id="8" name="Picture 7">
            <a:extLst>
              <a:ext uri="{FF2B5EF4-FFF2-40B4-BE49-F238E27FC236}">
                <a16:creationId xmlns:a16="http://schemas.microsoft.com/office/drawing/2014/main" id="{32F9B4C2-A887-42D7-9245-3D8FD9C21259}"/>
              </a:ext>
            </a:extLst>
          </p:cNvPr>
          <p:cNvPicPr>
            <a:picLocks noChangeAspect="1"/>
          </p:cNvPicPr>
          <p:nvPr/>
        </p:nvPicPr>
        <p:blipFill>
          <a:blip r:embed="rId2"/>
          <a:stretch>
            <a:fillRect/>
          </a:stretch>
        </p:blipFill>
        <p:spPr>
          <a:xfrm>
            <a:off x="1060174" y="3167269"/>
            <a:ext cx="6957392" cy="894520"/>
          </a:xfrm>
          <a:prstGeom prst="rect">
            <a:avLst/>
          </a:prstGeom>
        </p:spPr>
      </p:pic>
    </p:spTree>
    <p:extLst>
      <p:ext uri="{BB962C8B-B14F-4D97-AF65-F5344CB8AC3E}">
        <p14:creationId xmlns:p14="http://schemas.microsoft.com/office/powerpoint/2010/main" val="4264504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BBF11-B85B-4D08-9218-7EACF9666E3C}"/>
              </a:ext>
            </a:extLst>
          </p:cNvPr>
          <p:cNvSpPr>
            <a:spLocks noGrp="1"/>
          </p:cNvSpPr>
          <p:nvPr>
            <p:ph type="title"/>
          </p:nvPr>
        </p:nvSpPr>
        <p:spPr>
          <a:xfrm>
            <a:off x="685802" y="318054"/>
            <a:ext cx="8193155" cy="795128"/>
          </a:xfrm>
        </p:spPr>
        <p:txBody>
          <a:bodyPr>
            <a:normAutofit/>
          </a:bodyPr>
          <a:lstStyle/>
          <a:p>
            <a:r>
              <a:rPr lang="en-IN" sz="2800" dirty="0">
                <a:latin typeface="Berlin Sans FB Demi" panose="020E0802020502020306" pitchFamily="34" charset="0"/>
              </a:rPr>
              <a:t>What is there in installation package ?</a:t>
            </a:r>
            <a:endParaRPr lang="en-IN" sz="2800" dirty="0"/>
          </a:p>
        </p:txBody>
      </p:sp>
      <p:sp>
        <p:nvSpPr>
          <p:cNvPr id="3" name="Content Placeholder 2">
            <a:extLst>
              <a:ext uri="{FF2B5EF4-FFF2-40B4-BE49-F238E27FC236}">
                <a16:creationId xmlns:a16="http://schemas.microsoft.com/office/drawing/2014/main" id="{930FFBB6-48E0-41D8-9785-1BD563D8562E}"/>
              </a:ext>
            </a:extLst>
          </p:cNvPr>
          <p:cNvSpPr>
            <a:spLocks noGrp="1"/>
          </p:cNvSpPr>
          <p:nvPr>
            <p:ph idx="1"/>
          </p:nvPr>
        </p:nvSpPr>
        <p:spPr>
          <a:xfrm>
            <a:off x="685803" y="1126435"/>
            <a:ext cx="11013390" cy="5214544"/>
          </a:xfrm>
        </p:spPr>
        <p:txBody>
          <a:bodyPr>
            <a:normAutofit/>
          </a:bodyPr>
          <a:lstStyle/>
          <a:p>
            <a:r>
              <a:rPr lang="en-IN" dirty="0"/>
              <a:t>MongoDB comes with handy tools which are bundled together at a single place. Those tools are as follows:</a:t>
            </a:r>
          </a:p>
          <a:p>
            <a:pPr marL="342900" indent="-342900">
              <a:buFont typeface="+mj-lt"/>
              <a:buAutoNum type="arabicPeriod"/>
            </a:pPr>
            <a:r>
              <a:rPr lang="en-IN" b="1" dirty="0">
                <a:solidFill>
                  <a:schemeClr val="accent1"/>
                </a:solidFill>
                <a:effectLst>
                  <a:outerShdw blurRad="38100" dist="38100" dir="2700000" algn="tl">
                    <a:srgbClr val="000000">
                      <a:alpha val="43137"/>
                    </a:srgbClr>
                  </a:outerShdw>
                </a:effectLst>
              </a:rPr>
              <a:t>mongod</a:t>
            </a:r>
            <a:r>
              <a:rPr lang="en-IN" dirty="0"/>
              <a:t>:  Mongo demon which is the server.</a:t>
            </a:r>
            <a:endParaRPr lang="en-IN" b="1" dirty="0">
              <a:solidFill>
                <a:schemeClr val="accent1"/>
              </a:solidFill>
              <a:effectLst>
                <a:outerShdw blurRad="38100" dist="38100" dir="2700000" algn="tl">
                  <a:srgbClr val="000000">
                    <a:alpha val="43137"/>
                  </a:srgbClr>
                </a:outerShdw>
              </a:effectLst>
            </a:endParaRPr>
          </a:p>
          <a:p>
            <a:pPr marL="342900" indent="-342900">
              <a:buFont typeface="+mj-lt"/>
              <a:buAutoNum type="arabicPeriod"/>
            </a:pPr>
            <a:r>
              <a:rPr lang="en-IN" b="1" dirty="0">
                <a:solidFill>
                  <a:schemeClr val="accent1"/>
                </a:solidFill>
                <a:effectLst>
                  <a:outerShdw blurRad="38100" dist="38100" dir="2700000" algn="tl">
                    <a:srgbClr val="000000">
                      <a:alpha val="43137"/>
                    </a:srgbClr>
                  </a:outerShdw>
                </a:effectLst>
              </a:rPr>
              <a:t>mongo</a:t>
            </a:r>
            <a:r>
              <a:rPr lang="en-IN" dirty="0"/>
              <a:t>: It is a CLI based client.</a:t>
            </a:r>
            <a:endParaRPr lang="en-IN" b="1" dirty="0">
              <a:solidFill>
                <a:schemeClr val="accent1"/>
              </a:solidFill>
              <a:effectLst>
                <a:outerShdw blurRad="38100" dist="38100" dir="2700000" algn="tl">
                  <a:srgbClr val="000000">
                    <a:alpha val="43137"/>
                  </a:srgbClr>
                </a:outerShdw>
              </a:effectLst>
            </a:endParaRPr>
          </a:p>
          <a:p>
            <a:pPr marL="342900" indent="-342900">
              <a:buFont typeface="+mj-lt"/>
              <a:buAutoNum type="arabicPeriod"/>
            </a:pPr>
            <a:r>
              <a:rPr lang="en-IN" b="1" dirty="0">
                <a:solidFill>
                  <a:schemeClr val="accent1"/>
                </a:solidFill>
                <a:effectLst>
                  <a:outerShdw blurRad="38100" dist="38100" dir="2700000" algn="tl">
                    <a:srgbClr val="000000">
                      <a:alpha val="43137"/>
                    </a:srgbClr>
                  </a:outerShdw>
                </a:effectLst>
              </a:rPr>
              <a:t>mongos</a:t>
            </a:r>
            <a:r>
              <a:rPr lang="en-IN" dirty="0"/>
              <a:t>: It is a mongodb sharing routing service(Used for sharding).</a:t>
            </a:r>
          </a:p>
          <a:p>
            <a:pPr marL="342900" indent="-342900">
              <a:buFont typeface="+mj-lt"/>
              <a:buAutoNum type="arabicPeriod"/>
            </a:pPr>
            <a:r>
              <a:rPr lang="en-IN" b="1" dirty="0">
                <a:solidFill>
                  <a:schemeClr val="accent1"/>
                </a:solidFill>
                <a:effectLst>
                  <a:outerShdw blurRad="38100" dist="38100" dir="2700000" algn="tl">
                    <a:srgbClr val="000000">
                      <a:alpha val="43137"/>
                    </a:srgbClr>
                  </a:outerShdw>
                </a:effectLst>
              </a:rPr>
              <a:t>mongostat</a:t>
            </a:r>
            <a:r>
              <a:rPr lang="en-IN" dirty="0"/>
              <a:t>: It is used for monitoring the Quick Overview of the running instance.</a:t>
            </a:r>
          </a:p>
          <a:p>
            <a:pPr marL="342900" indent="-342900">
              <a:buFont typeface="+mj-lt"/>
              <a:buAutoNum type="arabicPeriod"/>
            </a:pPr>
            <a:r>
              <a:rPr lang="en-IN" b="1" dirty="0">
                <a:solidFill>
                  <a:schemeClr val="accent1"/>
                </a:solidFill>
                <a:effectLst>
                  <a:outerShdw blurRad="38100" dist="38100" dir="2700000" algn="tl">
                    <a:srgbClr val="000000">
                      <a:alpha val="43137"/>
                    </a:srgbClr>
                  </a:outerShdw>
                </a:effectLst>
              </a:rPr>
              <a:t>mongotop</a:t>
            </a:r>
            <a:r>
              <a:rPr lang="en-IN" dirty="0"/>
              <a:t>: It is used for monitoring the Read and Write of an instance.</a:t>
            </a:r>
          </a:p>
          <a:p>
            <a:pPr marL="0" indent="0">
              <a:buNone/>
            </a:pPr>
            <a:r>
              <a:rPr lang="en-IN" sz="2000" b="1" dirty="0">
                <a:solidFill>
                  <a:schemeClr val="tx2">
                    <a:lumMod val="75000"/>
                  </a:schemeClr>
                </a:solidFill>
                <a:effectLst>
                  <a:outerShdw blurRad="38100" dist="38100" dir="2700000" algn="tl">
                    <a:srgbClr val="000000">
                      <a:alpha val="43137"/>
                    </a:srgbClr>
                  </a:outerShdw>
                </a:effectLst>
              </a:rPr>
              <a:t>NOTE: </a:t>
            </a:r>
          </a:p>
          <a:p>
            <a:pPr marL="800088" lvl="1" indent="-342900">
              <a:buFont typeface="+mj-lt"/>
              <a:buAutoNum type="arabicPeriod"/>
            </a:pPr>
            <a:r>
              <a:rPr lang="en-IN" dirty="0"/>
              <a:t>To start the server we just need the </a:t>
            </a:r>
            <a:r>
              <a:rPr lang="en-IN" b="1" dirty="0">
                <a:solidFill>
                  <a:schemeClr val="accent1"/>
                </a:solidFill>
                <a:effectLst>
                  <a:outerShdw blurRad="38100" dist="38100" dir="2700000" algn="tl">
                    <a:srgbClr val="000000">
                      <a:alpha val="43137"/>
                    </a:srgbClr>
                  </a:outerShdw>
                </a:effectLst>
              </a:rPr>
              <a:t>mongod </a:t>
            </a:r>
            <a:r>
              <a:rPr lang="en-IN" dirty="0"/>
              <a:t>file. </a:t>
            </a:r>
          </a:p>
          <a:p>
            <a:pPr marL="800088" lvl="1" indent="-342900">
              <a:buFont typeface="+mj-lt"/>
              <a:buAutoNum type="arabicPeriod"/>
            </a:pPr>
            <a:r>
              <a:rPr lang="en-IN" dirty="0"/>
              <a:t>For the ease of learning and exploring MongoDB, you can install any MongoDB GUI tool at this point (Robo 3T, QueryAssist, NoSQLBooster, Studio 3T, MongoDB Compass, Mongo Management Studio,  NoSQL Manager, NoSQL Client, Navicat for MongoDB)</a:t>
            </a:r>
          </a:p>
          <a:p>
            <a:pPr marL="457188" lvl="1" indent="0" algn="r">
              <a:buNone/>
            </a:pPr>
            <a:r>
              <a:rPr lang="en-IN" i="1" dirty="0"/>
              <a:t>…to be continued</a:t>
            </a:r>
          </a:p>
          <a:p>
            <a:pPr marL="800088" lvl="1" indent="-342900">
              <a:buFont typeface="+mj-lt"/>
              <a:buAutoNum type="arabicPeriod"/>
            </a:pPr>
            <a:endParaRPr lang="en-IN" dirty="0"/>
          </a:p>
          <a:p>
            <a:pPr marL="800088" lvl="1" indent="-342900">
              <a:buFont typeface="+mj-lt"/>
              <a:buAutoNum type="arabicPeriod"/>
            </a:pPr>
            <a:endParaRPr lang="en-IN" b="1" dirty="0">
              <a:solidFill>
                <a:schemeClr val="accent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15808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BBF11-B85B-4D08-9218-7EACF9666E3C}"/>
              </a:ext>
            </a:extLst>
          </p:cNvPr>
          <p:cNvSpPr>
            <a:spLocks noGrp="1"/>
          </p:cNvSpPr>
          <p:nvPr>
            <p:ph type="title"/>
          </p:nvPr>
        </p:nvSpPr>
        <p:spPr>
          <a:xfrm>
            <a:off x="685802" y="344558"/>
            <a:ext cx="7716075" cy="927650"/>
          </a:xfrm>
        </p:spPr>
        <p:txBody>
          <a:bodyPr>
            <a:noAutofit/>
          </a:bodyPr>
          <a:lstStyle/>
          <a:p>
            <a:r>
              <a:rPr lang="en-IN" sz="2800" dirty="0">
                <a:latin typeface="Berlin Sans FB Demi" panose="020E0802020502020306" pitchFamily="34" charset="0"/>
              </a:rPr>
              <a:t>What is there in installation package ?</a:t>
            </a:r>
            <a:endParaRPr lang="en-IN" sz="2800" dirty="0"/>
          </a:p>
        </p:txBody>
      </p:sp>
      <p:sp>
        <p:nvSpPr>
          <p:cNvPr id="3" name="Content Placeholder 2">
            <a:extLst>
              <a:ext uri="{FF2B5EF4-FFF2-40B4-BE49-F238E27FC236}">
                <a16:creationId xmlns:a16="http://schemas.microsoft.com/office/drawing/2014/main" id="{930FFBB6-48E0-41D8-9785-1BD563D8562E}"/>
              </a:ext>
            </a:extLst>
          </p:cNvPr>
          <p:cNvSpPr>
            <a:spLocks noGrp="1"/>
          </p:cNvSpPr>
          <p:nvPr>
            <p:ph idx="1"/>
          </p:nvPr>
        </p:nvSpPr>
        <p:spPr>
          <a:xfrm>
            <a:off x="685802" y="1166192"/>
            <a:ext cx="10859565" cy="4644948"/>
          </a:xfrm>
        </p:spPr>
        <p:txBody>
          <a:bodyPr>
            <a:normAutofit/>
          </a:bodyPr>
          <a:lstStyle/>
          <a:p>
            <a:pPr marL="0" indent="0">
              <a:buNone/>
            </a:pPr>
            <a:r>
              <a:rPr lang="en-IN" i="1" dirty="0"/>
              <a:t>…in continuation</a:t>
            </a:r>
            <a:endParaRPr lang="en-IN" b="1" dirty="0">
              <a:solidFill>
                <a:schemeClr val="accent1"/>
              </a:solidFill>
              <a:effectLst>
                <a:outerShdw blurRad="38100" dist="38100" dir="2700000" algn="tl">
                  <a:srgbClr val="000000">
                    <a:alpha val="43137"/>
                  </a:srgbClr>
                </a:outerShdw>
              </a:effectLst>
            </a:endParaRPr>
          </a:p>
          <a:p>
            <a:pPr marL="0" indent="0">
              <a:buNone/>
            </a:pPr>
            <a:r>
              <a:rPr lang="en-IN" b="1" dirty="0">
                <a:solidFill>
                  <a:schemeClr val="accent1"/>
                </a:solidFill>
                <a:effectLst>
                  <a:outerShdw blurRad="38100" dist="38100" dir="2700000" algn="tl">
                    <a:srgbClr val="000000">
                      <a:alpha val="43137"/>
                    </a:srgbClr>
                  </a:outerShdw>
                </a:effectLst>
              </a:rPr>
              <a:t>mongorestore</a:t>
            </a:r>
            <a:r>
              <a:rPr lang="en-IN" dirty="0"/>
              <a:t>:  It loads data from the Binary DB dump.</a:t>
            </a:r>
            <a:endParaRPr lang="en-IN" b="1" dirty="0">
              <a:solidFill>
                <a:schemeClr val="accent1"/>
              </a:solidFill>
              <a:effectLst>
                <a:outerShdw blurRad="38100" dist="38100" dir="2700000" algn="tl">
                  <a:srgbClr val="000000">
                    <a:alpha val="43137"/>
                  </a:srgbClr>
                </a:outerShdw>
              </a:effectLst>
            </a:endParaRPr>
          </a:p>
          <a:p>
            <a:pPr marL="0" indent="0">
              <a:buNone/>
            </a:pPr>
            <a:r>
              <a:rPr lang="en-IN" b="1" dirty="0">
                <a:solidFill>
                  <a:schemeClr val="accent1"/>
                </a:solidFill>
                <a:effectLst>
                  <a:outerShdw blurRad="38100" dist="38100" dir="2700000" algn="tl">
                    <a:srgbClr val="000000">
                      <a:alpha val="43137"/>
                    </a:srgbClr>
                  </a:outerShdw>
                </a:effectLst>
              </a:rPr>
              <a:t>bsondump &amp; mongodump</a:t>
            </a:r>
            <a:r>
              <a:rPr lang="en-IN" dirty="0"/>
              <a:t>:  It creates binary dump.</a:t>
            </a:r>
            <a:endParaRPr lang="en-IN" b="1" dirty="0">
              <a:solidFill>
                <a:schemeClr val="accent1"/>
              </a:solidFill>
              <a:effectLst>
                <a:outerShdw blurRad="38100" dist="38100" dir="2700000" algn="tl">
                  <a:srgbClr val="000000">
                    <a:alpha val="43137"/>
                  </a:srgbClr>
                </a:outerShdw>
              </a:effectLst>
            </a:endParaRPr>
          </a:p>
          <a:p>
            <a:pPr marL="0" indent="0">
              <a:buNone/>
            </a:pPr>
            <a:r>
              <a:rPr lang="en-IN" b="1" dirty="0">
                <a:solidFill>
                  <a:schemeClr val="accent1"/>
                </a:solidFill>
                <a:effectLst>
                  <a:outerShdw blurRad="38100" dist="38100" dir="2700000" algn="tl">
                    <a:srgbClr val="000000">
                      <a:alpha val="43137"/>
                    </a:srgbClr>
                  </a:outerShdw>
                </a:effectLst>
              </a:rPr>
              <a:t>mongooplog</a:t>
            </a:r>
            <a:r>
              <a:rPr lang="en-IN" dirty="0"/>
              <a:t>:  It is used for the purpose of the replication from the oplog.</a:t>
            </a:r>
            <a:endParaRPr lang="en-IN" b="1" dirty="0">
              <a:solidFill>
                <a:schemeClr val="accent1"/>
              </a:solidFill>
              <a:effectLst>
                <a:outerShdw blurRad="38100" dist="38100" dir="2700000" algn="tl">
                  <a:srgbClr val="000000">
                    <a:alpha val="43137"/>
                  </a:srgbClr>
                </a:outerShdw>
              </a:effectLst>
            </a:endParaRPr>
          </a:p>
          <a:p>
            <a:pPr marL="0" indent="0">
              <a:buNone/>
            </a:pPr>
            <a:r>
              <a:rPr lang="en-IN" b="1" dirty="0">
                <a:solidFill>
                  <a:schemeClr val="accent1"/>
                </a:solidFill>
                <a:effectLst>
                  <a:outerShdw blurRad="38100" dist="38100" dir="2700000" algn="tl">
                    <a:srgbClr val="000000">
                      <a:alpha val="43137"/>
                    </a:srgbClr>
                  </a:outerShdw>
                </a:effectLst>
              </a:rPr>
              <a:t>mongoexport &amp; mongoimport</a:t>
            </a:r>
            <a:r>
              <a:rPr lang="en-IN" dirty="0"/>
              <a:t>: It is used to export or import files(generally JSON &amp; CSV).</a:t>
            </a:r>
            <a:endParaRPr lang="en-IN" b="1" dirty="0">
              <a:solidFill>
                <a:schemeClr val="accent1"/>
              </a:solidFill>
              <a:effectLst>
                <a:outerShdw blurRad="38100" dist="38100" dir="2700000" algn="tl">
                  <a:srgbClr val="000000">
                    <a:alpha val="43137"/>
                  </a:srgbClr>
                </a:outerShdw>
              </a:effectLst>
            </a:endParaRPr>
          </a:p>
          <a:p>
            <a:pPr marL="0" indent="0">
              <a:buNone/>
            </a:pPr>
            <a:r>
              <a:rPr lang="en-IN" b="1" dirty="0">
                <a:solidFill>
                  <a:schemeClr val="accent1"/>
                </a:solidFill>
                <a:effectLst>
                  <a:outerShdw blurRad="38100" dist="38100" dir="2700000" algn="tl">
                    <a:srgbClr val="000000">
                      <a:alpha val="43137"/>
                    </a:srgbClr>
                  </a:outerShdw>
                </a:effectLst>
              </a:rPr>
              <a:t>mongoperf</a:t>
            </a:r>
            <a:r>
              <a:rPr lang="en-IN" dirty="0"/>
              <a:t>: It is used to check the Disk IO.</a:t>
            </a:r>
          </a:p>
          <a:p>
            <a:pPr marL="0" indent="0">
              <a:buNone/>
            </a:pPr>
            <a:r>
              <a:rPr lang="en-IN" b="1" dirty="0">
                <a:solidFill>
                  <a:schemeClr val="accent1"/>
                </a:solidFill>
                <a:effectLst>
                  <a:outerShdw blurRad="38100" dist="38100" dir="2700000" algn="tl">
                    <a:srgbClr val="000000">
                      <a:alpha val="43137"/>
                    </a:srgbClr>
                  </a:outerShdw>
                </a:effectLst>
              </a:rPr>
              <a:t>mongofiles</a:t>
            </a:r>
            <a:r>
              <a:rPr lang="en-IN" dirty="0"/>
              <a:t>:</a:t>
            </a:r>
            <a:r>
              <a:rPr lang="en-IN" b="1" dirty="0">
                <a:effectLst>
                  <a:outerShdw blurRad="38100" dist="38100" dir="2700000" algn="tl">
                    <a:srgbClr val="000000">
                      <a:alpha val="43137"/>
                    </a:srgbClr>
                  </a:outerShdw>
                </a:effectLst>
              </a:rPr>
              <a:t>  </a:t>
            </a:r>
            <a:r>
              <a:rPr lang="en-IN" dirty="0"/>
              <a:t>It is basically used for GridFS functionality.</a:t>
            </a:r>
            <a:endParaRPr lang="en-IN"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1610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7CAF-8EFF-4548-A2F6-A9F794707210}"/>
              </a:ext>
            </a:extLst>
          </p:cNvPr>
          <p:cNvSpPr>
            <a:spLocks noGrp="1"/>
          </p:cNvSpPr>
          <p:nvPr>
            <p:ph type="title"/>
          </p:nvPr>
        </p:nvSpPr>
        <p:spPr>
          <a:xfrm>
            <a:off x="685802" y="324675"/>
            <a:ext cx="10131425" cy="642732"/>
          </a:xfrm>
        </p:spPr>
        <p:txBody>
          <a:bodyPr/>
          <a:lstStyle/>
          <a:p>
            <a:r>
              <a:rPr lang="en-IN" dirty="0">
                <a:latin typeface="Berlin Sans FB Demi" panose="020E0802020502020306" pitchFamily="34" charset="0"/>
              </a:rPr>
              <a:t>What is json?</a:t>
            </a:r>
            <a:endParaRPr lang="en-IN" dirty="0"/>
          </a:p>
        </p:txBody>
      </p:sp>
      <p:sp>
        <p:nvSpPr>
          <p:cNvPr id="3" name="Content Placeholder 2">
            <a:extLst>
              <a:ext uri="{FF2B5EF4-FFF2-40B4-BE49-F238E27FC236}">
                <a16:creationId xmlns:a16="http://schemas.microsoft.com/office/drawing/2014/main" id="{051BA3BC-7286-4CE4-AD7C-C32ED7CC0C7A}"/>
              </a:ext>
            </a:extLst>
          </p:cNvPr>
          <p:cNvSpPr>
            <a:spLocks noGrp="1"/>
          </p:cNvSpPr>
          <p:nvPr>
            <p:ph idx="1"/>
          </p:nvPr>
        </p:nvSpPr>
        <p:spPr>
          <a:xfrm>
            <a:off x="685801" y="1192694"/>
            <a:ext cx="10919387" cy="5114102"/>
          </a:xfrm>
        </p:spPr>
        <p:txBody>
          <a:bodyPr>
            <a:normAutofit/>
          </a:bodyPr>
          <a:lstStyle/>
          <a:p>
            <a:pPr algn="just"/>
            <a:r>
              <a:rPr lang="en-IN" dirty="0"/>
              <a:t>Before proceeding any further you must know what is JSON as MongoDB data is always represented in the JSON format. So, here are some of the essential points related to JSON.</a:t>
            </a:r>
          </a:p>
          <a:p>
            <a:pPr marL="342900" indent="-342900" algn="just">
              <a:buFont typeface="+mj-lt"/>
              <a:buAutoNum type="arabicPeriod"/>
            </a:pPr>
            <a:r>
              <a:rPr lang="en-IN" dirty="0"/>
              <a:t>JSON stands for </a:t>
            </a:r>
            <a:r>
              <a:rPr lang="en-IN" b="1" i="1" dirty="0">
                <a:solidFill>
                  <a:schemeClr val="accent1"/>
                </a:solidFill>
                <a:effectLst>
                  <a:outerShdw blurRad="38100" dist="38100" dir="2700000" algn="tl">
                    <a:srgbClr val="000000">
                      <a:alpha val="43137"/>
                    </a:srgbClr>
                  </a:outerShdw>
                </a:effectLst>
              </a:rPr>
              <a:t>JavaScript Object Notation</a:t>
            </a:r>
            <a:r>
              <a:rPr lang="en-IN" dirty="0"/>
              <a:t>. It is a collection of key-value pairs. Keys must be written inside single or double quotes. Values can have any data type (Array, string, Boolean etc.)</a:t>
            </a:r>
          </a:p>
          <a:p>
            <a:pPr marL="342900" indent="-342900" algn="just">
              <a:buFont typeface="+mj-lt"/>
              <a:buAutoNum type="arabicPeriod"/>
            </a:pPr>
            <a:r>
              <a:rPr lang="en-IN" dirty="0"/>
              <a:t>JSON file must start and end with a curly brace.</a:t>
            </a:r>
          </a:p>
          <a:p>
            <a:pPr marL="342900" indent="-342900" algn="just">
              <a:buFont typeface="+mj-lt"/>
              <a:buAutoNum type="arabicPeriod"/>
            </a:pPr>
            <a:r>
              <a:rPr lang="en-IN" dirty="0"/>
              <a:t>Collection of key-value pair </a:t>
            </a:r>
            <a:r>
              <a:rPr lang="en-IN" dirty="0">
                <a:sym typeface="Wingdings" panose="05000000000000000000" pitchFamily="2" charset="2"/>
              </a:rPr>
              <a:t> </a:t>
            </a:r>
            <a:r>
              <a:rPr lang="en-IN" dirty="0"/>
              <a:t>Various languages recognize it as an object, record, struct, dictionary, hash table, keyed list, or associative array.</a:t>
            </a:r>
          </a:p>
          <a:p>
            <a:pPr marL="342900" indent="-342900" algn="just">
              <a:buFont typeface="+mj-lt"/>
              <a:buAutoNum type="arabicPeriod"/>
            </a:pPr>
            <a:r>
              <a:rPr lang="en-IN" b="1" dirty="0">
                <a:solidFill>
                  <a:schemeClr val="accent1"/>
                </a:solidFill>
                <a:effectLst>
                  <a:outerShdw blurRad="38100" dist="38100" dir="2700000" algn="tl">
                    <a:srgbClr val="000000">
                      <a:alpha val="43137"/>
                    </a:srgbClr>
                  </a:outerShdw>
                </a:effectLst>
              </a:rPr>
              <a:t>Object</a:t>
            </a:r>
            <a:r>
              <a:rPr lang="en-IN" dirty="0"/>
              <a:t> is surrounded by the curly braces and key-value pairs are separated by comma.</a:t>
            </a:r>
          </a:p>
          <a:p>
            <a:pPr marL="342900" indent="-342900" algn="just">
              <a:buFont typeface="+mj-lt"/>
              <a:buAutoNum type="arabicPeriod"/>
            </a:pPr>
            <a:r>
              <a:rPr lang="en-IN" b="1" dirty="0">
                <a:solidFill>
                  <a:schemeClr val="accent1"/>
                </a:solidFill>
                <a:effectLst>
                  <a:outerShdw blurRad="38100" dist="38100" dir="2700000" algn="tl">
                    <a:srgbClr val="000000">
                      <a:alpha val="43137"/>
                    </a:srgbClr>
                  </a:outerShdw>
                </a:effectLst>
              </a:rPr>
              <a:t>Array</a:t>
            </a:r>
            <a:r>
              <a:rPr lang="en-IN" dirty="0"/>
              <a:t> is surrounded by square braces and each value is separated with a comma.</a:t>
            </a:r>
          </a:p>
          <a:p>
            <a:pPr marL="342900" indent="-342900" algn="just">
              <a:buFont typeface="+mj-lt"/>
              <a:buAutoNum type="arabicPeriod"/>
            </a:pPr>
            <a:r>
              <a:rPr lang="en-IN" b="1" dirty="0">
                <a:solidFill>
                  <a:schemeClr val="accent1"/>
                </a:solidFill>
                <a:effectLst>
                  <a:outerShdw blurRad="38100" dist="38100" dir="2700000" algn="tl">
                    <a:srgbClr val="000000">
                      <a:alpha val="43137"/>
                    </a:srgbClr>
                  </a:outerShdw>
                </a:effectLst>
              </a:rPr>
              <a:t>Value</a:t>
            </a:r>
            <a:r>
              <a:rPr lang="en-IN" dirty="0"/>
              <a:t> can be of any type </a:t>
            </a:r>
            <a:r>
              <a:rPr lang="en-IN" dirty="0">
                <a:sym typeface="Wingdings" panose="05000000000000000000" pitchFamily="2" charset="2"/>
              </a:rPr>
              <a:t></a:t>
            </a:r>
            <a:r>
              <a:rPr lang="en-IN" dirty="0"/>
              <a:t> string, number, object, array, true, false, null</a:t>
            </a:r>
          </a:p>
          <a:p>
            <a:pPr marL="342900" indent="-342900">
              <a:buFont typeface="+mj-lt"/>
              <a:buAutoNum type="arabicPeriod"/>
            </a:pPr>
            <a:endParaRPr lang="en-IN" dirty="0"/>
          </a:p>
          <a:p>
            <a:endParaRPr lang="en-IN" dirty="0"/>
          </a:p>
        </p:txBody>
      </p:sp>
    </p:spTree>
    <p:extLst>
      <p:ext uri="{BB962C8B-B14F-4D97-AF65-F5344CB8AC3E}">
        <p14:creationId xmlns:p14="http://schemas.microsoft.com/office/powerpoint/2010/main" val="1992844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7CAF-8EFF-4548-A2F6-A9F794707210}"/>
              </a:ext>
            </a:extLst>
          </p:cNvPr>
          <p:cNvSpPr>
            <a:spLocks noGrp="1"/>
          </p:cNvSpPr>
          <p:nvPr>
            <p:ph type="title"/>
          </p:nvPr>
        </p:nvSpPr>
        <p:spPr>
          <a:xfrm>
            <a:off x="685802" y="324675"/>
            <a:ext cx="10131425" cy="642732"/>
          </a:xfrm>
        </p:spPr>
        <p:txBody>
          <a:bodyPr/>
          <a:lstStyle/>
          <a:p>
            <a:r>
              <a:rPr lang="en-IN" dirty="0">
                <a:latin typeface="Berlin Sans FB Demi" panose="020E0802020502020306" pitchFamily="34" charset="0"/>
              </a:rPr>
              <a:t>json example</a:t>
            </a:r>
            <a:endParaRPr lang="en-IN" dirty="0"/>
          </a:p>
        </p:txBody>
      </p:sp>
      <p:sp>
        <p:nvSpPr>
          <p:cNvPr id="3" name="Content Placeholder 2">
            <a:extLst>
              <a:ext uri="{FF2B5EF4-FFF2-40B4-BE49-F238E27FC236}">
                <a16:creationId xmlns:a16="http://schemas.microsoft.com/office/drawing/2014/main" id="{051BA3BC-7286-4CE4-AD7C-C32ED7CC0C7A}"/>
              </a:ext>
            </a:extLst>
          </p:cNvPr>
          <p:cNvSpPr>
            <a:spLocks noGrp="1"/>
          </p:cNvSpPr>
          <p:nvPr>
            <p:ph idx="1"/>
          </p:nvPr>
        </p:nvSpPr>
        <p:spPr>
          <a:xfrm>
            <a:off x="685802" y="1192693"/>
            <a:ext cx="7941363" cy="4359967"/>
          </a:xfrm>
        </p:spPr>
        <p:txBody>
          <a:bodyPr>
            <a:normAutofit fontScale="92500" lnSpcReduction="10000"/>
          </a:bodyPr>
          <a:lstStyle/>
          <a:p>
            <a:pPr marL="0" indent="0">
              <a:buNone/>
            </a:pPr>
            <a:r>
              <a:rPr lang="en-IN" dirty="0"/>
              <a:t>{</a:t>
            </a:r>
          </a:p>
          <a:p>
            <a:pPr marL="0" indent="0">
              <a:buNone/>
            </a:pPr>
            <a:r>
              <a:rPr lang="en-IN" dirty="0"/>
              <a:t>	“firstName”: “John”,</a:t>
            </a:r>
          </a:p>
          <a:p>
            <a:pPr marL="0" indent="0">
              <a:buNone/>
            </a:pPr>
            <a:r>
              <a:rPr lang="en-IN" dirty="0"/>
              <a:t>	“lastName”: “Doe”,</a:t>
            </a:r>
          </a:p>
          <a:p>
            <a:pPr marL="0" indent="0">
              <a:buNone/>
            </a:pPr>
            <a:r>
              <a:rPr lang="en-IN" dirty="0"/>
              <a:t>	“age”: 25,</a:t>
            </a:r>
          </a:p>
          <a:p>
            <a:pPr marL="0" indent="0">
              <a:buNone/>
            </a:pPr>
            <a:r>
              <a:rPr lang="en-IN" dirty="0"/>
              <a:t>	“address”: {</a:t>
            </a:r>
          </a:p>
          <a:p>
            <a:pPr marL="0" indent="0">
              <a:buNone/>
            </a:pPr>
            <a:r>
              <a:rPr lang="en-IN" dirty="0"/>
              <a:t>		“streetAddress”: “221B Bakers Street”,</a:t>
            </a:r>
          </a:p>
          <a:p>
            <a:pPr marL="0" indent="0">
              <a:buNone/>
            </a:pPr>
            <a:r>
              <a:rPr lang="en-IN" dirty="0"/>
              <a:t>		“city”: “London”,</a:t>
            </a:r>
          </a:p>
          <a:p>
            <a:pPr marL="0" indent="0">
              <a:buNone/>
            </a:pPr>
            <a:r>
              <a:rPr lang="en-IN" dirty="0"/>
              <a:t>		“state”: “ENG”,</a:t>
            </a:r>
          </a:p>
          <a:p>
            <a:pPr marL="0" indent="0">
              <a:buNone/>
            </a:pPr>
            <a:r>
              <a:rPr lang="en-IN" dirty="0"/>
              <a:t>		“postalCode”: “200001”</a:t>
            </a:r>
          </a:p>
          <a:p>
            <a:pPr marL="0" indent="0">
              <a:buNone/>
            </a:pPr>
            <a:r>
              <a:rPr lang="en-IN" dirty="0"/>
              <a:t>	},</a:t>
            </a:r>
          </a:p>
          <a:p>
            <a:pPr marL="0" indent="0">
              <a:buNone/>
            </a:pPr>
            <a:r>
              <a:rPr lang="en-IN" dirty="0"/>
              <a:t>}</a:t>
            </a:r>
          </a:p>
          <a:p>
            <a:pPr>
              <a:buFont typeface="Wingdings" panose="05000000000000000000" pitchFamily="2" charset="2"/>
              <a:buChar char="Ø"/>
            </a:pPr>
            <a:r>
              <a:rPr lang="en-IN" dirty="0"/>
              <a:t>Notice here the key-value pair form of data that is embedded inside the curly braces.</a:t>
            </a:r>
          </a:p>
        </p:txBody>
      </p:sp>
    </p:spTree>
    <p:extLst>
      <p:ext uri="{BB962C8B-B14F-4D97-AF65-F5344CB8AC3E}">
        <p14:creationId xmlns:p14="http://schemas.microsoft.com/office/powerpoint/2010/main" val="3410199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2A0B4-2438-42CF-ADB7-CAE9452593A3}"/>
              </a:ext>
            </a:extLst>
          </p:cNvPr>
          <p:cNvSpPr>
            <a:spLocks noGrp="1"/>
          </p:cNvSpPr>
          <p:nvPr>
            <p:ph type="title"/>
          </p:nvPr>
        </p:nvSpPr>
        <p:spPr>
          <a:xfrm>
            <a:off x="685803" y="329270"/>
            <a:ext cx="8312423" cy="742120"/>
          </a:xfrm>
        </p:spPr>
        <p:txBody>
          <a:bodyPr>
            <a:normAutofit fontScale="90000"/>
          </a:bodyPr>
          <a:lstStyle/>
          <a:p>
            <a:r>
              <a:rPr lang="en-IN" sz="2800" dirty="0">
                <a:latin typeface="Berlin Sans FB Demi" panose="020E0802020502020306" pitchFamily="34" charset="0"/>
              </a:rPr>
              <a:t>Basic sql to mongodb Terminology comparison</a:t>
            </a:r>
            <a:endParaRPr lang="en-IN" sz="2800" dirty="0"/>
          </a:p>
        </p:txBody>
      </p:sp>
      <p:graphicFrame>
        <p:nvGraphicFramePr>
          <p:cNvPr id="4" name="Content Placeholder 3">
            <a:extLst>
              <a:ext uri="{FF2B5EF4-FFF2-40B4-BE49-F238E27FC236}">
                <a16:creationId xmlns:a16="http://schemas.microsoft.com/office/drawing/2014/main" id="{B79F4935-8297-4E55-B697-B0181D4C4075}"/>
              </a:ext>
            </a:extLst>
          </p:cNvPr>
          <p:cNvGraphicFramePr>
            <a:graphicFrameLocks noGrp="1"/>
          </p:cNvGraphicFramePr>
          <p:nvPr>
            <p:ph idx="1"/>
            <p:extLst>
              <p:ext uri="{D42A27DB-BD31-4B8C-83A1-F6EECF244321}">
                <p14:modId xmlns:p14="http://schemas.microsoft.com/office/powerpoint/2010/main" val="644813200"/>
              </p:ext>
            </p:extLst>
          </p:nvPr>
        </p:nvGraphicFramePr>
        <p:xfrm>
          <a:off x="843821" y="1428349"/>
          <a:ext cx="9052208" cy="2733595"/>
        </p:xfrm>
        <a:graphic>
          <a:graphicData uri="http://schemas.openxmlformats.org/drawingml/2006/table">
            <a:tbl>
              <a:tblPr firstRow="1" firstCol="1" bandRow="1">
                <a:tableStyleId>{10A1B5D5-9B99-4C35-A422-299274C87663}</a:tableStyleId>
              </a:tblPr>
              <a:tblGrid>
                <a:gridCol w="4526104">
                  <a:extLst>
                    <a:ext uri="{9D8B030D-6E8A-4147-A177-3AD203B41FA5}">
                      <a16:colId xmlns:a16="http://schemas.microsoft.com/office/drawing/2014/main" val="3101910050"/>
                    </a:ext>
                  </a:extLst>
                </a:gridCol>
                <a:gridCol w="4526104">
                  <a:extLst>
                    <a:ext uri="{9D8B030D-6E8A-4147-A177-3AD203B41FA5}">
                      <a16:colId xmlns:a16="http://schemas.microsoft.com/office/drawing/2014/main" val="2896049754"/>
                    </a:ext>
                  </a:extLst>
                </a:gridCol>
              </a:tblGrid>
              <a:tr h="255952">
                <a:tc>
                  <a:txBody>
                    <a:bodyPr/>
                    <a:lstStyle/>
                    <a:p>
                      <a:pPr>
                        <a:lnSpc>
                          <a:spcPct val="107000"/>
                        </a:lnSpc>
                        <a:spcAft>
                          <a:spcPts val="0"/>
                        </a:spcAft>
                      </a:pPr>
                      <a:r>
                        <a:rPr lang="en-IN" sz="1100" dirty="0">
                          <a:effectLst/>
                        </a:rPr>
                        <a:t>SQL</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MongoDB</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770754558"/>
                  </a:ext>
                </a:extLst>
              </a:tr>
              <a:tr h="255952">
                <a:tc>
                  <a:txBody>
                    <a:bodyPr/>
                    <a:lstStyle/>
                    <a:p>
                      <a:pPr>
                        <a:lnSpc>
                          <a:spcPct val="107000"/>
                        </a:lnSpc>
                        <a:spcAft>
                          <a:spcPts val="0"/>
                        </a:spcAft>
                      </a:pPr>
                      <a:r>
                        <a:rPr lang="en-IN" sz="1100">
                          <a:effectLst/>
                        </a:rPr>
                        <a:t>database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database</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547649"/>
                  </a:ext>
                </a:extLst>
              </a:tr>
              <a:tr h="240399">
                <a:tc>
                  <a:txBody>
                    <a:bodyPr/>
                    <a:lstStyle/>
                    <a:p>
                      <a:pPr>
                        <a:lnSpc>
                          <a:spcPct val="107000"/>
                        </a:lnSpc>
                        <a:spcAft>
                          <a:spcPts val="0"/>
                        </a:spcAft>
                      </a:pPr>
                      <a:r>
                        <a:rPr lang="en-IN" sz="1100">
                          <a:effectLst/>
                        </a:rPr>
                        <a:t>table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collection</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793254980"/>
                  </a:ext>
                </a:extLst>
              </a:tr>
              <a:tr h="255952">
                <a:tc>
                  <a:txBody>
                    <a:bodyPr/>
                    <a:lstStyle/>
                    <a:p>
                      <a:pPr>
                        <a:lnSpc>
                          <a:spcPct val="107000"/>
                        </a:lnSpc>
                        <a:spcAft>
                          <a:spcPts val="0"/>
                        </a:spcAft>
                      </a:pPr>
                      <a:r>
                        <a:rPr lang="en-IN" sz="1100">
                          <a:effectLst/>
                        </a:rPr>
                        <a:t>row</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document or BSON document</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680278330"/>
                  </a:ext>
                </a:extLst>
              </a:tr>
              <a:tr h="255952">
                <a:tc>
                  <a:txBody>
                    <a:bodyPr/>
                    <a:lstStyle/>
                    <a:p>
                      <a:pPr>
                        <a:lnSpc>
                          <a:spcPct val="107000"/>
                        </a:lnSpc>
                        <a:spcAft>
                          <a:spcPts val="0"/>
                        </a:spcAft>
                      </a:pPr>
                      <a:r>
                        <a:rPr lang="en-IN" sz="1100" dirty="0">
                          <a:effectLst/>
                        </a:rPr>
                        <a:t>column</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field</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4242373676"/>
                  </a:ext>
                </a:extLst>
              </a:tr>
              <a:tr h="255952">
                <a:tc>
                  <a:txBody>
                    <a:bodyPr/>
                    <a:lstStyle/>
                    <a:p>
                      <a:pPr>
                        <a:lnSpc>
                          <a:spcPct val="107000"/>
                        </a:lnSpc>
                        <a:spcAft>
                          <a:spcPts val="0"/>
                        </a:spcAft>
                      </a:pPr>
                      <a:r>
                        <a:rPr lang="en-IN" sz="1100">
                          <a:effectLst/>
                        </a:rPr>
                        <a:t>index</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index</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109183777"/>
                  </a:ext>
                </a:extLst>
              </a:tr>
              <a:tr h="255952">
                <a:tc>
                  <a:txBody>
                    <a:bodyPr/>
                    <a:lstStyle/>
                    <a:p>
                      <a:pPr>
                        <a:lnSpc>
                          <a:spcPct val="107000"/>
                        </a:lnSpc>
                        <a:spcAft>
                          <a:spcPts val="0"/>
                        </a:spcAft>
                      </a:pPr>
                      <a:r>
                        <a:rPr lang="en-IN" sz="1100" dirty="0">
                          <a:effectLst/>
                        </a:rPr>
                        <a:t>table joins</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$lookup, embedded documents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804353733"/>
                  </a:ext>
                </a:extLst>
              </a:tr>
              <a:tr h="445580">
                <a:tc>
                  <a:txBody>
                    <a:bodyPr/>
                    <a:lstStyle/>
                    <a:p>
                      <a:pPr>
                        <a:lnSpc>
                          <a:spcPct val="107000"/>
                        </a:lnSpc>
                        <a:spcAft>
                          <a:spcPts val="0"/>
                        </a:spcAft>
                      </a:pPr>
                      <a:r>
                        <a:rPr lang="en-IN" sz="1100">
                          <a:effectLst/>
                        </a:rPr>
                        <a:t>primary key (need to specify column or combination of column)</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primary key (automatically set to _id field)</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582596036"/>
                  </a:ext>
                </a:extLst>
              </a:tr>
              <a:tr h="255952">
                <a:tc>
                  <a:txBody>
                    <a:bodyPr/>
                    <a:lstStyle/>
                    <a:p>
                      <a:pPr>
                        <a:lnSpc>
                          <a:spcPct val="107000"/>
                        </a:lnSpc>
                        <a:spcAft>
                          <a:spcPts val="0"/>
                        </a:spcAft>
                      </a:pPr>
                      <a:r>
                        <a:rPr lang="en-IN" sz="1100">
                          <a:effectLst/>
                        </a:rPr>
                        <a:t>aggregation</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aggregation pipeline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484696546"/>
                  </a:ext>
                </a:extLst>
              </a:tr>
              <a:tr h="255952">
                <a:tc>
                  <a:txBody>
                    <a:bodyPr/>
                    <a:lstStyle/>
                    <a:p>
                      <a:pPr>
                        <a:lnSpc>
                          <a:spcPct val="107000"/>
                        </a:lnSpc>
                        <a:spcAft>
                          <a:spcPts val="0"/>
                        </a:spcAft>
                      </a:pP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 </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994784117"/>
                  </a:ext>
                </a:extLst>
              </a:tr>
            </a:tbl>
          </a:graphicData>
        </a:graphic>
      </p:graphicFrame>
      <p:graphicFrame>
        <p:nvGraphicFramePr>
          <p:cNvPr id="5" name="Table 4">
            <a:extLst>
              <a:ext uri="{FF2B5EF4-FFF2-40B4-BE49-F238E27FC236}">
                <a16:creationId xmlns:a16="http://schemas.microsoft.com/office/drawing/2014/main" id="{8FE6D5CC-CE32-4613-B965-369758418399}"/>
              </a:ext>
            </a:extLst>
          </p:cNvPr>
          <p:cNvGraphicFramePr>
            <a:graphicFrameLocks noGrp="1"/>
          </p:cNvGraphicFramePr>
          <p:nvPr>
            <p:extLst>
              <p:ext uri="{D42A27DB-BD31-4B8C-83A1-F6EECF244321}">
                <p14:modId xmlns:p14="http://schemas.microsoft.com/office/powerpoint/2010/main" val="826657061"/>
              </p:ext>
            </p:extLst>
          </p:nvPr>
        </p:nvGraphicFramePr>
        <p:xfrm>
          <a:off x="903644" y="4470740"/>
          <a:ext cx="9026568" cy="1588230"/>
        </p:xfrm>
        <a:graphic>
          <a:graphicData uri="http://schemas.openxmlformats.org/drawingml/2006/table">
            <a:tbl>
              <a:tblPr firstRow="1" firstCol="1" bandRow="1">
                <a:tableStyleId>{10A1B5D5-9B99-4C35-A422-299274C87663}</a:tableStyleId>
              </a:tblPr>
              <a:tblGrid>
                <a:gridCol w="1503760">
                  <a:extLst>
                    <a:ext uri="{9D8B030D-6E8A-4147-A177-3AD203B41FA5}">
                      <a16:colId xmlns:a16="http://schemas.microsoft.com/office/drawing/2014/main" val="3158488204"/>
                    </a:ext>
                  </a:extLst>
                </a:gridCol>
                <a:gridCol w="1503760">
                  <a:extLst>
                    <a:ext uri="{9D8B030D-6E8A-4147-A177-3AD203B41FA5}">
                      <a16:colId xmlns:a16="http://schemas.microsoft.com/office/drawing/2014/main" val="3486384317"/>
                    </a:ext>
                  </a:extLst>
                </a:gridCol>
                <a:gridCol w="1504762">
                  <a:extLst>
                    <a:ext uri="{9D8B030D-6E8A-4147-A177-3AD203B41FA5}">
                      <a16:colId xmlns:a16="http://schemas.microsoft.com/office/drawing/2014/main" val="428367047"/>
                    </a:ext>
                  </a:extLst>
                </a:gridCol>
                <a:gridCol w="1504762">
                  <a:extLst>
                    <a:ext uri="{9D8B030D-6E8A-4147-A177-3AD203B41FA5}">
                      <a16:colId xmlns:a16="http://schemas.microsoft.com/office/drawing/2014/main" val="3584218091"/>
                    </a:ext>
                  </a:extLst>
                </a:gridCol>
                <a:gridCol w="1504762">
                  <a:extLst>
                    <a:ext uri="{9D8B030D-6E8A-4147-A177-3AD203B41FA5}">
                      <a16:colId xmlns:a16="http://schemas.microsoft.com/office/drawing/2014/main" val="139580997"/>
                    </a:ext>
                  </a:extLst>
                </a:gridCol>
                <a:gridCol w="1504762">
                  <a:extLst>
                    <a:ext uri="{9D8B030D-6E8A-4147-A177-3AD203B41FA5}">
                      <a16:colId xmlns:a16="http://schemas.microsoft.com/office/drawing/2014/main" val="2858887707"/>
                    </a:ext>
                  </a:extLst>
                </a:gridCol>
              </a:tblGrid>
              <a:tr h="529410">
                <a:tc>
                  <a:txBody>
                    <a:bodyPr/>
                    <a:lstStyle/>
                    <a:p>
                      <a:pPr>
                        <a:lnSpc>
                          <a:spcPct val="107000"/>
                        </a:lnSpc>
                        <a:spcAft>
                          <a:spcPts val="0"/>
                        </a:spcAft>
                      </a:pPr>
                      <a:r>
                        <a:rPr lang="en-IN" sz="1100" dirty="0">
                          <a:effectLst/>
                        </a:rPr>
                        <a:t> </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MongoDB</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MySQL</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Oracle</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Informix</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DB2</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643374919"/>
                  </a:ext>
                </a:extLst>
              </a:tr>
              <a:tr h="529410">
                <a:tc>
                  <a:txBody>
                    <a:bodyPr/>
                    <a:lstStyle/>
                    <a:p>
                      <a:pPr>
                        <a:lnSpc>
                          <a:spcPct val="107000"/>
                        </a:lnSpc>
                        <a:spcAft>
                          <a:spcPts val="0"/>
                        </a:spcAft>
                      </a:pPr>
                      <a:r>
                        <a:rPr lang="en-IN" sz="1100">
                          <a:effectLst/>
                        </a:rPr>
                        <a:t>Database Server</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mongod</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mysqld</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oracle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IDS</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DB2 Server</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477918061"/>
                  </a:ext>
                </a:extLst>
              </a:tr>
              <a:tr h="529410">
                <a:tc>
                  <a:txBody>
                    <a:bodyPr/>
                    <a:lstStyle/>
                    <a:p>
                      <a:pPr>
                        <a:lnSpc>
                          <a:spcPct val="107000"/>
                        </a:lnSpc>
                        <a:spcAft>
                          <a:spcPts val="0"/>
                        </a:spcAft>
                      </a:pPr>
                      <a:r>
                        <a:rPr lang="en-IN" sz="1100">
                          <a:effectLst/>
                        </a:rPr>
                        <a:t>Database Client</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mongo</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mysql</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sqlplus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a:effectLst/>
                        </a:rPr>
                        <a:t>DB-Access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0"/>
                        </a:spcAft>
                      </a:pPr>
                      <a:r>
                        <a:rPr lang="en-IN" sz="1100" dirty="0">
                          <a:effectLst/>
                        </a:rPr>
                        <a:t>DB2 Client</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948091749"/>
                  </a:ext>
                </a:extLst>
              </a:tr>
            </a:tbl>
          </a:graphicData>
        </a:graphic>
      </p:graphicFrame>
      <p:sp>
        <p:nvSpPr>
          <p:cNvPr id="6" name="Rectangle 5">
            <a:extLst>
              <a:ext uri="{FF2B5EF4-FFF2-40B4-BE49-F238E27FC236}">
                <a16:creationId xmlns:a16="http://schemas.microsoft.com/office/drawing/2014/main" id="{D4D7591D-488D-4FF6-8025-ABF91D84C367}"/>
              </a:ext>
            </a:extLst>
          </p:cNvPr>
          <p:cNvSpPr/>
          <p:nvPr/>
        </p:nvSpPr>
        <p:spPr>
          <a:xfrm>
            <a:off x="685803" y="3515610"/>
            <a:ext cx="5025884" cy="646331"/>
          </a:xfrm>
          <a:prstGeom prst="rect">
            <a:avLst/>
          </a:prstGeom>
        </p:spPr>
        <p:txBody>
          <a:bodyPr wrap="square">
            <a:spAutoFit/>
          </a:bodyPr>
          <a:lstStyle/>
          <a:p>
            <a:r>
              <a:rPr lang="en-IN" dirty="0"/>
              <a:t> </a:t>
            </a:r>
          </a:p>
          <a:p>
            <a:r>
              <a:rPr lang="en-IN" dirty="0"/>
              <a:t> Database Executables Comparison:</a:t>
            </a:r>
          </a:p>
        </p:txBody>
      </p:sp>
      <p:sp>
        <p:nvSpPr>
          <p:cNvPr id="7" name="Rectangle 6">
            <a:extLst>
              <a:ext uri="{FF2B5EF4-FFF2-40B4-BE49-F238E27FC236}">
                <a16:creationId xmlns:a16="http://schemas.microsoft.com/office/drawing/2014/main" id="{DC4C591A-3C35-4B05-A5DB-F190DF84C13C}"/>
              </a:ext>
            </a:extLst>
          </p:cNvPr>
          <p:cNvSpPr/>
          <p:nvPr/>
        </p:nvSpPr>
        <p:spPr>
          <a:xfrm>
            <a:off x="685803" y="786938"/>
            <a:ext cx="4628319" cy="646331"/>
          </a:xfrm>
          <a:prstGeom prst="rect">
            <a:avLst/>
          </a:prstGeom>
        </p:spPr>
        <p:txBody>
          <a:bodyPr wrap="square">
            <a:spAutoFit/>
          </a:bodyPr>
          <a:lstStyle/>
          <a:p>
            <a:r>
              <a:rPr lang="en-IN" dirty="0"/>
              <a:t> </a:t>
            </a:r>
          </a:p>
          <a:p>
            <a:r>
              <a:rPr lang="en-IN" dirty="0"/>
              <a:t> Terminology &amp; Concept Comparison:</a:t>
            </a:r>
          </a:p>
        </p:txBody>
      </p:sp>
    </p:spTree>
    <p:extLst>
      <p:ext uri="{BB962C8B-B14F-4D97-AF65-F5344CB8AC3E}">
        <p14:creationId xmlns:p14="http://schemas.microsoft.com/office/powerpoint/2010/main" val="1005586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156" y="-529839"/>
            <a:ext cx="10131427" cy="1468800"/>
          </a:xfrm>
        </p:spPr>
        <p:txBody>
          <a:bodyPr/>
          <a:lstStyle/>
          <a:p>
            <a:r>
              <a:rPr lang="en-US" dirty="0"/>
              <a:t>ROW(RDBMS)   </a:t>
            </a:r>
            <a:r>
              <a:rPr lang="en-US" dirty="0">
                <a:sym typeface="Wingdings" panose="05000000000000000000" pitchFamily="2" charset="2"/>
              </a:rPr>
              <a:t>   DOCUMENT(NOSQL)</a:t>
            </a:r>
            <a:endParaRPr lang="en-IN" dirty="0"/>
          </a:p>
        </p:txBody>
      </p:sp>
      <p:sp>
        <p:nvSpPr>
          <p:cNvPr id="4" name="Rectangle 3"/>
          <p:cNvSpPr>
            <a:spLocks noChangeArrowheads="1"/>
          </p:cNvSpPr>
          <p:nvPr/>
        </p:nvSpPr>
        <p:spPr bwMode="auto">
          <a:xfrm>
            <a:off x="873809" y="1073729"/>
            <a:ext cx="10492098"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sz="1800" dirty="0">
                <a:latin typeface="Constantia" panose="02030602050306030303" pitchFamily="18" charset="0"/>
              </a:rPr>
              <a:t>• Stored in a </a:t>
            </a:r>
            <a:r>
              <a:rPr lang="en-US" sz="1800" dirty="0">
                <a:solidFill>
                  <a:srgbClr val="93E50D"/>
                </a:solidFill>
                <a:latin typeface="Constantia" panose="02030602050306030303" pitchFamily="18" charset="0"/>
              </a:rPr>
              <a:t>Collection.</a:t>
            </a:r>
          </a:p>
          <a:p>
            <a:pPr eaLnBrk="1" hangingPunct="1"/>
            <a:endParaRPr lang="en-US" sz="1800" dirty="0">
              <a:latin typeface="Constantia" panose="02030602050306030303" pitchFamily="18" charset="0"/>
            </a:endParaRPr>
          </a:p>
          <a:p>
            <a:pPr eaLnBrk="1" hangingPunct="1"/>
            <a:r>
              <a:rPr lang="en-US" sz="1800" dirty="0">
                <a:latin typeface="Constantia" panose="02030602050306030303" pitchFamily="18" charset="0"/>
              </a:rPr>
              <a:t>• Can have </a:t>
            </a:r>
            <a:r>
              <a:rPr lang="en-US" sz="1800" dirty="0">
                <a:solidFill>
                  <a:srgbClr val="93E50D"/>
                </a:solidFill>
                <a:latin typeface="Constantia" panose="02030602050306030303" pitchFamily="18" charset="0"/>
              </a:rPr>
              <a:t>_id</a:t>
            </a:r>
            <a:r>
              <a:rPr lang="en-US" sz="1800" dirty="0">
                <a:latin typeface="Constantia" panose="02030602050306030303" pitchFamily="18" charset="0"/>
              </a:rPr>
              <a:t> key – works like Primary keys in MySQL. </a:t>
            </a:r>
            <a:endParaRPr lang="en-US" sz="1800" dirty="0">
              <a:solidFill>
                <a:srgbClr val="93E50D"/>
              </a:solidFill>
              <a:latin typeface="Constantia" panose="02030602050306030303" pitchFamily="18" charset="0"/>
            </a:endParaRPr>
          </a:p>
          <a:p>
            <a:pPr eaLnBrk="1" hangingPunct="1"/>
            <a:endParaRPr lang="en-US" sz="1800" dirty="0">
              <a:latin typeface="Constantia" panose="02030602050306030303" pitchFamily="18" charset="0"/>
            </a:endParaRPr>
          </a:p>
          <a:p>
            <a:pPr eaLnBrk="1" hangingPunct="1"/>
            <a:r>
              <a:rPr lang="en-US" sz="1800" dirty="0">
                <a:latin typeface="Constantia" panose="02030602050306030303" pitchFamily="18" charset="0"/>
              </a:rPr>
              <a:t>• Supported Relationships – </a:t>
            </a:r>
            <a:r>
              <a:rPr lang="en-US" sz="1800" dirty="0">
                <a:solidFill>
                  <a:srgbClr val="93E50D"/>
                </a:solidFill>
                <a:latin typeface="Constantia" panose="02030602050306030303" pitchFamily="18" charset="0"/>
              </a:rPr>
              <a:t>Embedded (or) References.</a:t>
            </a:r>
          </a:p>
          <a:p>
            <a:pPr eaLnBrk="1" hangingPunct="1"/>
            <a:endParaRPr lang="en-US" sz="1800" dirty="0">
              <a:solidFill>
                <a:srgbClr val="93E50D"/>
              </a:solidFill>
              <a:latin typeface="Constantia" panose="02030602050306030303" pitchFamily="18" charset="0"/>
            </a:endParaRPr>
          </a:p>
          <a:p>
            <a:pPr eaLnBrk="1" hangingPunct="1"/>
            <a:r>
              <a:rPr lang="en-US" sz="1800" dirty="0">
                <a:latin typeface="Constantia" panose="02030602050306030303" pitchFamily="18" charset="0"/>
              </a:rPr>
              <a:t>• Document storage in </a:t>
            </a:r>
            <a:r>
              <a:rPr lang="en-US" sz="1800" dirty="0">
                <a:solidFill>
                  <a:srgbClr val="93E50D"/>
                </a:solidFill>
                <a:latin typeface="Constantia" panose="02030602050306030303" pitchFamily="18" charset="0"/>
              </a:rPr>
              <a:t>BSON </a:t>
            </a:r>
            <a:r>
              <a:rPr lang="en-US" sz="1800" dirty="0">
                <a:latin typeface="Constantia" panose="02030602050306030303" pitchFamily="18" charset="0"/>
              </a:rPr>
              <a:t>(Binary form of JSON).</a:t>
            </a:r>
            <a:endParaRPr lang="en-US" sz="1800" dirty="0">
              <a:solidFill>
                <a:srgbClr val="93E50D"/>
              </a:solidFill>
              <a:latin typeface="Constantia" panose="02030602050306030303" pitchFamily="18" charset="0"/>
            </a:endParaRPr>
          </a:p>
          <a:p>
            <a:pPr eaLnBrk="1" hangingPunct="1"/>
            <a:endParaRPr lang="en-US" dirty="0">
              <a:latin typeface="Constantia" panose="02030602050306030303" pitchFamily="18" charset="0"/>
            </a:endParaRPr>
          </a:p>
          <a:p>
            <a:pPr eaLnBrk="1" hangingPunct="1"/>
            <a:endParaRPr lang="en-US" dirty="0">
              <a:latin typeface="Constantia" panose="02030602050306030303" pitchFamily="18" charset="0"/>
            </a:endParaRPr>
          </a:p>
        </p:txBody>
      </p:sp>
      <p:sp>
        <p:nvSpPr>
          <p:cNvPr id="5" name="Title 1"/>
          <p:cNvSpPr txBox="1">
            <a:spLocks/>
          </p:cNvSpPr>
          <p:nvPr/>
        </p:nvSpPr>
        <p:spPr>
          <a:xfrm>
            <a:off x="600343" y="2784506"/>
            <a:ext cx="10131427" cy="1468800"/>
          </a:xfrm>
          <a:prstGeom prst="rect">
            <a:avLst/>
          </a:prstGeom>
          <a:effectLst/>
        </p:spPr>
        <p:txBody>
          <a:bodyPr vert="horz" lIns="91440" tIns="45720" rIns="91440" bIns="45720" rtlCol="0" anchor="b">
            <a:normAutofit/>
          </a:bodyPr>
          <a:lstStyle>
            <a:lvl1pPr algn="l" defTabSz="457189" rtl="0" eaLnBrk="1" latinLnBrk="0" hangingPunct="1">
              <a:spcBef>
                <a:spcPct val="0"/>
              </a:spcBef>
              <a:buNone/>
              <a:defRPr sz="4000" b="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TABLE(RDBMS)   </a:t>
            </a:r>
            <a:r>
              <a:rPr lang="en-US" dirty="0">
                <a:sym typeface="Wingdings" panose="05000000000000000000" pitchFamily="2" charset="2"/>
              </a:rPr>
              <a:t>   COLLECTION(NOSQL)</a:t>
            </a:r>
            <a:endParaRPr lang="en-IN" dirty="0"/>
          </a:p>
        </p:txBody>
      </p:sp>
      <p:sp>
        <p:nvSpPr>
          <p:cNvPr id="6" name="Rectangle 5"/>
          <p:cNvSpPr>
            <a:spLocks noChangeArrowheads="1"/>
          </p:cNvSpPr>
          <p:nvPr/>
        </p:nvSpPr>
        <p:spPr bwMode="auto">
          <a:xfrm>
            <a:off x="1001476" y="4400672"/>
            <a:ext cx="9329159"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sz="1800" dirty="0">
                <a:latin typeface="Constantia" panose="02030602050306030303" pitchFamily="18" charset="0"/>
              </a:rPr>
              <a:t>• Schema-less, and contains Documents.</a:t>
            </a:r>
          </a:p>
          <a:p>
            <a:pPr eaLnBrk="1" hangingPunct="1"/>
            <a:endParaRPr lang="en-US" sz="1800" dirty="0">
              <a:latin typeface="Constantia" panose="02030602050306030303" pitchFamily="18" charset="0"/>
            </a:endParaRPr>
          </a:p>
          <a:p>
            <a:pPr eaLnBrk="1" hangingPunct="1"/>
            <a:r>
              <a:rPr lang="en-US" sz="1800" dirty="0">
                <a:latin typeface="Constantia" panose="02030602050306030303" pitchFamily="18" charset="0"/>
              </a:rPr>
              <a:t>• </a:t>
            </a:r>
            <a:r>
              <a:rPr lang="en-US" sz="1800" dirty="0" err="1">
                <a:latin typeface="Constantia" panose="02030602050306030303" pitchFamily="18" charset="0"/>
              </a:rPr>
              <a:t>Indexable</a:t>
            </a:r>
            <a:r>
              <a:rPr lang="en-US" sz="1800" dirty="0">
                <a:latin typeface="Constantia" panose="02030602050306030303" pitchFamily="18" charset="0"/>
              </a:rPr>
              <a:t> by one/more keys.</a:t>
            </a:r>
          </a:p>
          <a:p>
            <a:pPr eaLnBrk="1" hangingPunct="1"/>
            <a:endParaRPr lang="en-US" sz="1800" dirty="0">
              <a:latin typeface="Constantia" panose="02030602050306030303" pitchFamily="18" charset="0"/>
            </a:endParaRPr>
          </a:p>
          <a:p>
            <a:pPr eaLnBrk="1" hangingPunct="1"/>
            <a:r>
              <a:rPr lang="en-US" sz="1800" dirty="0">
                <a:latin typeface="Constantia" panose="02030602050306030303" pitchFamily="18" charset="0"/>
              </a:rPr>
              <a:t>• Created on-the-fly when referenced for the first time.</a:t>
            </a:r>
          </a:p>
          <a:p>
            <a:pPr eaLnBrk="1" hangingPunct="1"/>
            <a:endParaRPr lang="en-US" sz="1800" dirty="0">
              <a:latin typeface="Constantia" panose="02030602050306030303" pitchFamily="18" charset="0"/>
            </a:endParaRPr>
          </a:p>
          <a:p>
            <a:pPr eaLnBrk="1" hangingPunct="1"/>
            <a:r>
              <a:rPr lang="en-US" sz="1800" dirty="0">
                <a:latin typeface="Constantia" panose="02030602050306030303" pitchFamily="18" charset="0"/>
              </a:rPr>
              <a:t>• Capped Collections: Fixed size, older records get dropped after reaching the limit</a:t>
            </a:r>
            <a:r>
              <a:rPr lang="en-US" sz="1800" dirty="0">
                <a:solidFill>
                  <a:srgbClr val="93E50D"/>
                </a:solidFill>
                <a:latin typeface="Constantia" panose="02030602050306030303" pitchFamily="18" charset="0"/>
              </a:rPr>
              <a:t>.</a:t>
            </a:r>
          </a:p>
        </p:txBody>
      </p:sp>
    </p:spTree>
    <p:extLst>
      <p:ext uri="{BB962C8B-B14F-4D97-AF65-F5344CB8AC3E}">
        <p14:creationId xmlns:p14="http://schemas.microsoft.com/office/powerpoint/2010/main" val="299136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9D245-7F4E-419E-A606-C25D5A4BB2ED}"/>
              </a:ext>
            </a:extLst>
          </p:cNvPr>
          <p:cNvSpPr>
            <a:spLocks noGrp="1"/>
          </p:cNvSpPr>
          <p:nvPr>
            <p:ph type="title"/>
          </p:nvPr>
        </p:nvSpPr>
        <p:spPr>
          <a:xfrm>
            <a:off x="685802" y="475397"/>
            <a:ext cx="10131425" cy="591401"/>
          </a:xfrm>
        </p:spPr>
        <p:txBody>
          <a:bodyPr>
            <a:normAutofit fontScale="90000"/>
          </a:bodyPr>
          <a:lstStyle/>
          <a:p>
            <a:r>
              <a:rPr lang="en-IN" dirty="0">
                <a:latin typeface="Berlin Sans FB Demi" panose="020E0802020502020306" pitchFamily="34" charset="0"/>
              </a:rPr>
              <a:t>Major datatypes in mongodb ?</a:t>
            </a:r>
            <a:endParaRPr lang="en-IN" dirty="0"/>
          </a:p>
        </p:txBody>
      </p:sp>
      <p:sp>
        <p:nvSpPr>
          <p:cNvPr id="3" name="Content Placeholder 2">
            <a:extLst>
              <a:ext uri="{FF2B5EF4-FFF2-40B4-BE49-F238E27FC236}">
                <a16:creationId xmlns:a16="http://schemas.microsoft.com/office/drawing/2014/main" id="{890335D9-4950-4F36-BDFA-E7D5D52D8C1C}"/>
              </a:ext>
            </a:extLst>
          </p:cNvPr>
          <p:cNvSpPr>
            <a:spLocks noGrp="1"/>
          </p:cNvSpPr>
          <p:nvPr>
            <p:ph idx="1"/>
          </p:nvPr>
        </p:nvSpPr>
        <p:spPr>
          <a:xfrm>
            <a:off x="685803" y="1066799"/>
            <a:ext cx="6861410" cy="4724404"/>
          </a:xfrm>
        </p:spPr>
        <p:txBody>
          <a:bodyPr>
            <a:normAutofit fontScale="85000" lnSpcReduction="20000"/>
          </a:bodyPr>
          <a:lstStyle/>
          <a:p>
            <a:pPr marL="342900" indent="-342900">
              <a:buFont typeface="+mj-lt"/>
              <a:buAutoNum type="arabicPeriod"/>
            </a:pPr>
            <a:r>
              <a:rPr lang="en-IN" b="1" dirty="0"/>
              <a:t>String</a:t>
            </a:r>
            <a:r>
              <a:rPr lang="en-IN" dirty="0"/>
              <a:t> </a:t>
            </a:r>
          </a:p>
          <a:p>
            <a:pPr marL="342900" indent="-342900">
              <a:buFont typeface="+mj-lt"/>
              <a:buAutoNum type="arabicPeriod"/>
            </a:pPr>
            <a:r>
              <a:rPr lang="en-IN" dirty="0"/>
              <a:t>Integer</a:t>
            </a:r>
          </a:p>
          <a:p>
            <a:pPr marL="342900" indent="-342900">
              <a:buFont typeface="+mj-lt"/>
              <a:buAutoNum type="arabicPeriod"/>
            </a:pPr>
            <a:r>
              <a:rPr lang="en-IN" dirty="0"/>
              <a:t>Boolean</a:t>
            </a:r>
          </a:p>
          <a:p>
            <a:pPr marL="342900" indent="-342900">
              <a:buFont typeface="+mj-lt"/>
              <a:buAutoNum type="arabicPeriod"/>
            </a:pPr>
            <a:r>
              <a:rPr lang="en-IN" dirty="0"/>
              <a:t>Double</a:t>
            </a:r>
          </a:p>
          <a:p>
            <a:pPr marL="342900" indent="-342900">
              <a:buFont typeface="+mj-lt"/>
              <a:buAutoNum type="arabicPeriod"/>
            </a:pPr>
            <a:r>
              <a:rPr lang="en-IN" dirty="0"/>
              <a:t>Min/Max keys</a:t>
            </a:r>
          </a:p>
          <a:p>
            <a:pPr marL="342900" indent="-342900">
              <a:buFont typeface="+mj-lt"/>
              <a:buAutoNum type="arabicPeriod"/>
            </a:pPr>
            <a:r>
              <a:rPr lang="en-IN" dirty="0"/>
              <a:t>Arrays</a:t>
            </a:r>
          </a:p>
          <a:p>
            <a:pPr marL="342900" indent="-342900">
              <a:buFont typeface="+mj-lt"/>
              <a:buAutoNum type="arabicPeriod"/>
            </a:pPr>
            <a:r>
              <a:rPr lang="en-IN" dirty="0"/>
              <a:t>Timestamp</a:t>
            </a:r>
          </a:p>
          <a:p>
            <a:pPr marL="342900" indent="-342900">
              <a:buFont typeface="+mj-lt"/>
              <a:buAutoNum type="arabicPeriod"/>
            </a:pPr>
            <a:r>
              <a:rPr lang="en-IN" dirty="0"/>
              <a:t>Object</a:t>
            </a:r>
          </a:p>
          <a:p>
            <a:pPr marL="342900" indent="-342900">
              <a:buFont typeface="+mj-lt"/>
              <a:buAutoNum type="arabicPeriod"/>
            </a:pPr>
            <a:r>
              <a:rPr lang="en-IN" dirty="0"/>
              <a:t>Null</a:t>
            </a:r>
          </a:p>
          <a:p>
            <a:pPr marL="342900" indent="-342900">
              <a:buFont typeface="+mj-lt"/>
              <a:buAutoNum type="arabicPeriod"/>
            </a:pPr>
            <a:r>
              <a:rPr lang="en-IN" dirty="0"/>
              <a:t>Symbol</a:t>
            </a:r>
          </a:p>
          <a:p>
            <a:pPr marL="342900" indent="-342900">
              <a:buFont typeface="+mj-lt"/>
              <a:buAutoNum type="arabicPeriod"/>
            </a:pPr>
            <a:r>
              <a:rPr lang="en-IN" dirty="0"/>
              <a:t>Date</a:t>
            </a:r>
          </a:p>
          <a:p>
            <a:pPr marL="342900" indent="-342900">
              <a:buFont typeface="+mj-lt"/>
              <a:buAutoNum type="arabicPeriod"/>
            </a:pPr>
            <a:r>
              <a:rPr lang="en-IN" dirty="0"/>
              <a:t>ObjectID</a:t>
            </a:r>
          </a:p>
          <a:p>
            <a:pPr marL="342900" indent="-342900">
              <a:buFont typeface="+mj-lt"/>
              <a:buAutoNum type="arabicPeriod"/>
            </a:pPr>
            <a:r>
              <a:rPr lang="en-IN" dirty="0"/>
              <a:t>Binary data</a:t>
            </a:r>
          </a:p>
          <a:p>
            <a:pPr marL="342900" indent="-342900">
              <a:buFont typeface="+mj-lt"/>
              <a:buAutoNum type="arabicPeriod"/>
            </a:pPr>
            <a:r>
              <a:rPr lang="en-IN" dirty="0"/>
              <a:t>Code</a:t>
            </a:r>
          </a:p>
          <a:p>
            <a:pPr marL="342900" indent="-342900">
              <a:buFont typeface="+mj-lt"/>
              <a:buAutoNum type="arabicPeriod"/>
            </a:pPr>
            <a:r>
              <a:rPr lang="en-IN" dirty="0"/>
              <a:t>Regular expression</a:t>
            </a:r>
          </a:p>
        </p:txBody>
      </p:sp>
    </p:spTree>
    <p:extLst>
      <p:ext uri="{BB962C8B-B14F-4D97-AF65-F5344CB8AC3E}">
        <p14:creationId xmlns:p14="http://schemas.microsoft.com/office/powerpoint/2010/main" val="1854683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6B6D65-BD72-453C-8645-B33F2340F88C}"/>
              </a:ext>
            </a:extLst>
          </p:cNvPr>
          <p:cNvSpPr>
            <a:spLocks noGrp="1"/>
          </p:cNvSpPr>
          <p:nvPr>
            <p:ph idx="1"/>
          </p:nvPr>
        </p:nvSpPr>
        <p:spPr>
          <a:xfrm>
            <a:off x="685802" y="1484243"/>
            <a:ext cx="7742581" cy="3975652"/>
          </a:xfrm>
        </p:spPr>
        <p:txBody>
          <a:bodyPr>
            <a:normAutofit/>
          </a:bodyPr>
          <a:lstStyle/>
          <a:p>
            <a:pPr algn="just"/>
            <a:r>
              <a:rPr lang="en-IN" dirty="0"/>
              <a:t>ObjectId in the MongoDB is same as the primary key in the conventional RDBMS.</a:t>
            </a:r>
          </a:p>
          <a:p>
            <a:pPr algn="just"/>
            <a:r>
              <a:rPr lang="en-IN" dirty="0"/>
              <a:t>It is by default set by MongoDB for every document that is created inside any collection.</a:t>
            </a:r>
          </a:p>
          <a:p>
            <a:pPr algn="just"/>
            <a:r>
              <a:rPr lang="en-IN" dirty="0"/>
              <a:t>ObjectIds are small, unique, fast to generate and ordered.</a:t>
            </a:r>
          </a:p>
          <a:p>
            <a:pPr algn="just"/>
            <a:r>
              <a:rPr lang="en-IN" dirty="0"/>
              <a:t>ObjectId values comprises of a 12 bytes hexadecimal number which is unique for every document.</a:t>
            </a:r>
          </a:p>
          <a:p>
            <a:r>
              <a:rPr lang="en-IN" dirty="0"/>
              <a:t>_id: ObjectId(4 bytes </a:t>
            </a:r>
            <a:r>
              <a:rPr lang="en-IN" dirty="0">
                <a:solidFill>
                  <a:schemeClr val="accent1"/>
                </a:solidFill>
              </a:rPr>
              <a:t>timestamp</a:t>
            </a:r>
            <a:r>
              <a:rPr lang="en-IN" dirty="0"/>
              <a:t>, 3 bytes </a:t>
            </a:r>
            <a:r>
              <a:rPr lang="en-IN" dirty="0">
                <a:solidFill>
                  <a:srgbClr val="FFFF00"/>
                </a:solidFill>
              </a:rPr>
              <a:t>machine id</a:t>
            </a:r>
            <a:r>
              <a:rPr lang="en-IN" dirty="0"/>
              <a:t>, 2 bytes </a:t>
            </a:r>
            <a:r>
              <a:rPr lang="en-IN" dirty="0">
                <a:solidFill>
                  <a:schemeClr val="accent5"/>
                </a:solidFill>
              </a:rPr>
              <a:t>process id</a:t>
            </a:r>
            <a:r>
              <a:rPr lang="en-IN" dirty="0"/>
              <a:t>, </a:t>
            </a:r>
          </a:p>
          <a:p>
            <a:r>
              <a:rPr lang="en-IN" dirty="0"/>
              <a:t>   3 bytes </a:t>
            </a:r>
            <a:r>
              <a:rPr lang="en-IN" dirty="0">
                <a:solidFill>
                  <a:schemeClr val="accent6">
                    <a:lumMod val="75000"/>
                  </a:schemeClr>
                </a:solidFill>
              </a:rPr>
              <a:t>counter</a:t>
            </a:r>
            <a:r>
              <a:rPr lang="en-IN" dirty="0"/>
              <a:t>)</a:t>
            </a:r>
          </a:p>
          <a:p>
            <a:r>
              <a:rPr lang="en-IN" sz="2800" dirty="0"/>
              <a:t>"_id": ObjectId("</a:t>
            </a:r>
            <a:r>
              <a:rPr lang="en-IN" sz="2800" dirty="0">
                <a:solidFill>
                  <a:schemeClr val="accent1"/>
                </a:solidFill>
              </a:rPr>
              <a:t>5901832c</a:t>
            </a:r>
            <a:r>
              <a:rPr lang="en-IN" sz="2800" dirty="0">
                <a:solidFill>
                  <a:srgbClr val="FFFF00"/>
                </a:solidFill>
              </a:rPr>
              <a:t>91427c</a:t>
            </a:r>
            <a:r>
              <a:rPr lang="en-IN" sz="2800" dirty="0">
                <a:solidFill>
                  <a:schemeClr val="accent5"/>
                </a:solidFill>
              </a:rPr>
              <a:t>ac52</a:t>
            </a:r>
            <a:r>
              <a:rPr lang="en-IN" sz="2800" dirty="0">
                <a:solidFill>
                  <a:schemeClr val="accent6">
                    <a:lumMod val="75000"/>
                  </a:schemeClr>
                </a:solidFill>
              </a:rPr>
              <a:t>e9ea8f</a:t>
            </a:r>
            <a:r>
              <a:rPr lang="en-IN" sz="2800" dirty="0"/>
              <a:t>")</a:t>
            </a:r>
          </a:p>
          <a:p>
            <a:pPr algn="just"/>
            <a:endParaRPr lang="en-IN" dirty="0"/>
          </a:p>
          <a:p>
            <a:pPr algn="just"/>
            <a:endParaRPr lang="en-IN" dirty="0"/>
          </a:p>
          <a:p>
            <a:pPr algn="just"/>
            <a:endParaRPr lang="en-IN" dirty="0"/>
          </a:p>
        </p:txBody>
      </p:sp>
      <p:sp>
        <p:nvSpPr>
          <p:cNvPr id="4" name="Title 1">
            <a:extLst>
              <a:ext uri="{FF2B5EF4-FFF2-40B4-BE49-F238E27FC236}">
                <a16:creationId xmlns:a16="http://schemas.microsoft.com/office/drawing/2014/main" id="{252AE67F-EC47-4F16-BF12-A5BEAB36B635}"/>
              </a:ext>
            </a:extLst>
          </p:cNvPr>
          <p:cNvSpPr>
            <a:spLocks noGrp="1"/>
          </p:cNvSpPr>
          <p:nvPr>
            <p:ph type="title"/>
          </p:nvPr>
        </p:nvSpPr>
        <p:spPr>
          <a:xfrm>
            <a:off x="685802" y="371063"/>
            <a:ext cx="10131425" cy="596345"/>
          </a:xfrm>
        </p:spPr>
        <p:txBody>
          <a:bodyPr>
            <a:normAutofit/>
          </a:bodyPr>
          <a:lstStyle/>
          <a:p>
            <a:r>
              <a:rPr lang="en-IN" sz="2800" dirty="0">
                <a:latin typeface="Berlin Sans FB Demi" panose="020E0802020502020306" pitchFamily="34" charset="0"/>
              </a:rPr>
              <a:t>What is </a:t>
            </a:r>
            <a:r>
              <a:rPr lang="en-IN" sz="2800" cap="none" dirty="0">
                <a:latin typeface="Berlin Sans FB Demi" panose="020E0802020502020306" pitchFamily="34" charset="0"/>
              </a:rPr>
              <a:t>object</a:t>
            </a:r>
            <a:r>
              <a:rPr lang="en-IN" sz="2800" dirty="0">
                <a:latin typeface="Berlin Sans FB Demi" panose="020E0802020502020306" pitchFamily="34" charset="0"/>
              </a:rPr>
              <a:t>I</a:t>
            </a:r>
            <a:r>
              <a:rPr lang="en-IN" sz="2800" cap="none" dirty="0">
                <a:latin typeface="Berlin Sans FB Demi" panose="020E0802020502020306" pitchFamily="34" charset="0"/>
              </a:rPr>
              <a:t>d</a:t>
            </a:r>
            <a:r>
              <a:rPr lang="en-IN" sz="2800" dirty="0">
                <a:latin typeface="Berlin Sans FB Demi" panose="020E0802020502020306" pitchFamily="34" charset="0"/>
              </a:rPr>
              <a:t> </a:t>
            </a:r>
            <a:r>
              <a:rPr lang="en-IN" sz="2800" cap="none" dirty="0">
                <a:latin typeface="Berlin Sans FB Demi" panose="020E0802020502020306" pitchFamily="34" charset="0"/>
              </a:rPr>
              <a:t>(_id</a:t>
            </a:r>
            <a:r>
              <a:rPr lang="en-IN" sz="2800" dirty="0">
                <a:latin typeface="Berlin Sans FB Demi" panose="020E0802020502020306" pitchFamily="34" charset="0"/>
              </a:rPr>
              <a:t>) ?</a:t>
            </a:r>
            <a:endParaRPr lang="en-IN" sz="2800" dirty="0"/>
          </a:p>
        </p:txBody>
      </p:sp>
    </p:spTree>
    <p:extLst>
      <p:ext uri="{BB962C8B-B14F-4D97-AF65-F5344CB8AC3E}">
        <p14:creationId xmlns:p14="http://schemas.microsoft.com/office/powerpoint/2010/main" val="1504930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463831"/>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3" y="1046923"/>
            <a:ext cx="7570301" cy="4174434"/>
          </a:xfrm>
        </p:spPr>
        <p:txBody>
          <a:bodyPr>
            <a:normAutofit lnSpcReduction="10000"/>
          </a:bodyPr>
          <a:lstStyle/>
          <a:p>
            <a:r>
              <a:rPr lang="en-IN" dirty="0"/>
              <a:t>The basic operations in every database comprises of the following four operations:</a:t>
            </a:r>
          </a:p>
          <a:p>
            <a:pPr marL="0" indent="0">
              <a:buNone/>
            </a:pPr>
            <a:r>
              <a:rPr lang="en-IN" dirty="0"/>
              <a:t>	</a:t>
            </a:r>
            <a:r>
              <a:rPr lang="en-IN" sz="2400" b="1" dirty="0">
                <a:solidFill>
                  <a:schemeClr val="accent1"/>
                </a:solidFill>
                <a:effectLst>
                  <a:outerShdw blurRad="38100" dist="38100" dir="2700000" algn="tl">
                    <a:srgbClr val="000000">
                      <a:alpha val="43137"/>
                    </a:srgbClr>
                  </a:outerShdw>
                </a:effectLst>
              </a:rPr>
              <a:t>CREATE</a:t>
            </a:r>
          </a:p>
          <a:p>
            <a:pPr marL="0" indent="0">
              <a:buNone/>
            </a:pPr>
            <a:r>
              <a:rPr lang="en-IN" sz="2400" b="1" dirty="0">
                <a:solidFill>
                  <a:schemeClr val="accent1"/>
                </a:solidFill>
                <a:effectLst>
                  <a:outerShdw blurRad="38100" dist="38100" dir="2700000" algn="tl">
                    <a:srgbClr val="000000">
                      <a:alpha val="43137"/>
                    </a:srgbClr>
                  </a:outerShdw>
                </a:effectLst>
              </a:rPr>
              <a:t>	READ</a:t>
            </a:r>
          </a:p>
          <a:p>
            <a:pPr marL="0" indent="0">
              <a:buNone/>
            </a:pPr>
            <a:r>
              <a:rPr lang="en-IN" sz="2400" b="1" dirty="0">
                <a:solidFill>
                  <a:schemeClr val="accent1"/>
                </a:solidFill>
                <a:effectLst>
                  <a:outerShdw blurRad="38100" dist="38100" dir="2700000" algn="tl">
                    <a:srgbClr val="000000">
                      <a:alpha val="43137"/>
                    </a:srgbClr>
                  </a:outerShdw>
                </a:effectLst>
              </a:rPr>
              <a:t>	UPDATE</a:t>
            </a:r>
          </a:p>
          <a:p>
            <a:pPr marL="0" indent="0">
              <a:buNone/>
            </a:pPr>
            <a:r>
              <a:rPr lang="en-IN" sz="2400" b="1" dirty="0">
                <a:solidFill>
                  <a:schemeClr val="accent1"/>
                </a:solidFill>
                <a:effectLst>
                  <a:outerShdw blurRad="38100" dist="38100" dir="2700000" algn="tl">
                    <a:srgbClr val="000000">
                      <a:alpha val="43137"/>
                    </a:srgbClr>
                  </a:outerShdw>
                </a:effectLst>
              </a:rPr>
              <a:t>	DELETE</a:t>
            </a:r>
          </a:p>
          <a:p>
            <a:r>
              <a:rPr lang="en-IN" dirty="0"/>
              <a:t>In MongoDB these four basic operations are achieved using the unique style of writing. But before actually starting with the data, you must first create a database.</a:t>
            </a:r>
          </a:p>
          <a:p>
            <a:r>
              <a:rPr lang="en-IN" dirty="0"/>
              <a:t>In MongoDB, database is created using the </a:t>
            </a:r>
            <a:r>
              <a:rPr lang="en-IN" b="1" dirty="0">
                <a:solidFill>
                  <a:schemeClr val="accent1"/>
                </a:solidFill>
                <a:effectLst>
                  <a:outerShdw blurRad="38100" dist="38100" dir="2700000" algn="tl">
                    <a:srgbClr val="000000">
                      <a:alpha val="43137"/>
                    </a:srgbClr>
                  </a:outerShdw>
                </a:effectLst>
              </a:rPr>
              <a:t>use</a:t>
            </a:r>
            <a:r>
              <a:rPr lang="en-IN" dirty="0"/>
              <a:t> command.</a:t>
            </a:r>
          </a:p>
          <a:p>
            <a:pPr marL="0" indent="0" algn="r">
              <a:buNone/>
            </a:pPr>
            <a:r>
              <a:rPr lang="en-IN" i="1" dirty="0"/>
              <a:t>…to be continued</a:t>
            </a:r>
          </a:p>
        </p:txBody>
      </p:sp>
    </p:spTree>
    <p:extLst>
      <p:ext uri="{BB962C8B-B14F-4D97-AF65-F5344CB8AC3E}">
        <p14:creationId xmlns:p14="http://schemas.microsoft.com/office/powerpoint/2010/main" val="3471422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463831"/>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4" y="1046922"/>
            <a:ext cx="7303602" cy="4532243"/>
          </a:xfrm>
        </p:spPr>
        <p:txBody>
          <a:bodyPr>
            <a:normAutofit fontScale="85000" lnSpcReduction="20000"/>
          </a:bodyPr>
          <a:lstStyle/>
          <a:p>
            <a:pPr marL="0" indent="0" algn="just">
              <a:buNone/>
            </a:pPr>
            <a:r>
              <a:rPr lang="en-IN" b="1" dirty="0">
                <a:effectLst>
                  <a:outerShdw blurRad="38100" dist="38100" dir="2700000" algn="tl">
                    <a:srgbClr val="000000">
                      <a:alpha val="43137"/>
                    </a:srgbClr>
                  </a:outerShdw>
                </a:effectLst>
              </a:rPr>
              <a:t>STARTING THE MONGODB INSTANCE IN THE TERMINAL</a:t>
            </a:r>
          </a:p>
          <a:p>
            <a:pPr marL="342900" indent="-342900" algn="just">
              <a:buFont typeface="+mj-lt"/>
              <a:buAutoNum type="arabicPeriod"/>
            </a:pPr>
            <a:r>
              <a:rPr lang="en-IN" b="1" dirty="0"/>
              <a:t>Go to the terminal and give the command </a:t>
            </a:r>
            <a:r>
              <a:rPr lang="en-IN" b="1" dirty="0">
                <a:solidFill>
                  <a:schemeClr val="accent1"/>
                </a:solidFill>
                <a:effectLst>
                  <a:outerShdw blurRad="38100" dist="38100" dir="2700000" algn="tl">
                    <a:srgbClr val="000000">
                      <a:alpha val="43137"/>
                    </a:srgbClr>
                  </a:outerShdw>
                </a:effectLst>
              </a:rPr>
              <a:t>mongo </a:t>
            </a:r>
            <a:r>
              <a:rPr lang="en-IN" dirty="0"/>
              <a:t>there so as to start the MongoDB CLI.</a:t>
            </a:r>
          </a:p>
          <a:p>
            <a:pPr marL="342900" indent="-342900" algn="just">
              <a:buFont typeface="+mj-lt"/>
              <a:buAutoNum type="arabicPeriod"/>
            </a:pPr>
            <a:endParaRPr lang="en-IN" dirty="0"/>
          </a:p>
          <a:p>
            <a:pPr marL="342900" indent="-342900" algn="just">
              <a:buFont typeface="+mj-lt"/>
              <a:buAutoNum type="arabicPeriod"/>
            </a:pPr>
            <a:endParaRPr lang="en-IN" b="1" dirty="0">
              <a:solidFill>
                <a:schemeClr val="accent1"/>
              </a:solidFill>
              <a:effectLst>
                <a:outerShdw blurRad="38100" dist="38100" dir="2700000" algn="tl">
                  <a:srgbClr val="000000">
                    <a:alpha val="43137"/>
                  </a:srgbClr>
                </a:outerShdw>
              </a:effectLst>
            </a:endParaRPr>
          </a:p>
          <a:p>
            <a:pPr marL="0" indent="0" algn="just">
              <a:buNone/>
            </a:pPr>
            <a:endParaRPr lang="en-IN" b="1" dirty="0"/>
          </a:p>
          <a:p>
            <a:pPr marL="0" indent="0" algn="r">
              <a:buNone/>
            </a:pPr>
            <a:endParaRPr lang="en-IN" i="1" dirty="0"/>
          </a:p>
          <a:p>
            <a:pPr marL="0" indent="0" algn="r">
              <a:buNone/>
            </a:pPr>
            <a:endParaRPr lang="en-IN" i="1" dirty="0"/>
          </a:p>
          <a:p>
            <a:pPr marL="0" indent="0" algn="r">
              <a:buNone/>
            </a:pPr>
            <a:endParaRPr lang="en-IN" i="1" dirty="0"/>
          </a:p>
          <a:p>
            <a:pPr marL="0" indent="0" algn="r">
              <a:buNone/>
            </a:pPr>
            <a:endParaRPr lang="en-IN" i="1" dirty="0"/>
          </a:p>
          <a:p>
            <a:pPr marL="0" indent="0" algn="r">
              <a:buNone/>
            </a:pPr>
            <a:endParaRPr lang="en-IN" i="1" dirty="0"/>
          </a:p>
          <a:p>
            <a:pPr marL="0" indent="0" algn="r">
              <a:buNone/>
            </a:pPr>
            <a:endParaRPr lang="en-IN" i="1" dirty="0"/>
          </a:p>
          <a:p>
            <a:pPr algn="just"/>
            <a:r>
              <a:rPr lang="en-IN" dirty="0"/>
              <a:t>This will start the mongo instance in the terminal from where you can work on mongodb and fire queries.</a:t>
            </a:r>
            <a:endParaRPr lang="en-IN" i="1" dirty="0"/>
          </a:p>
          <a:p>
            <a:pPr marL="0" indent="0" algn="r">
              <a:buNone/>
            </a:pPr>
            <a:r>
              <a:rPr lang="en-IN" i="1" dirty="0"/>
              <a:t>…to be continued</a:t>
            </a:r>
          </a:p>
        </p:txBody>
      </p:sp>
      <p:pic>
        <p:nvPicPr>
          <p:cNvPr id="5" name="Picture 4">
            <a:extLst>
              <a:ext uri="{FF2B5EF4-FFF2-40B4-BE49-F238E27FC236}">
                <a16:creationId xmlns:a16="http://schemas.microsoft.com/office/drawing/2014/main" id="{1D3459B0-AE4B-4EB9-A494-782E88F4128B}"/>
              </a:ext>
            </a:extLst>
          </p:cNvPr>
          <p:cNvPicPr>
            <a:picLocks noChangeAspect="1"/>
          </p:cNvPicPr>
          <p:nvPr/>
        </p:nvPicPr>
        <p:blipFill>
          <a:blip r:embed="rId2"/>
          <a:stretch>
            <a:fillRect/>
          </a:stretch>
        </p:blipFill>
        <p:spPr>
          <a:xfrm>
            <a:off x="1032014" y="1951382"/>
            <a:ext cx="6957392" cy="2642639"/>
          </a:xfrm>
          <a:prstGeom prst="rect">
            <a:avLst/>
          </a:prstGeom>
        </p:spPr>
      </p:pic>
    </p:spTree>
    <p:extLst>
      <p:ext uri="{BB962C8B-B14F-4D97-AF65-F5344CB8AC3E}">
        <p14:creationId xmlns:p14="http://schemas.microsoft.com/office/powerpoint/2010/main" val="2176519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463831"/>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1027046"/>
            <a:ext cx="7530546" cy="4565371"/>
          </a:xfrm>
        </p:spPr>
        <p:txBody>
          <a:bodyPr>
            <a:normAutofit fontScale="92500" lnSpcReduction="20000"/>
          </a:bodyPr>
          <a:lstStyle/>
          <a:p>
            <a:pPr marL="0" indent="0" algn="just">
              <a:buNone/>
            </a:pPr>
            <a:r>
              <a:rPr lang="en-IN" i="1" dirty="0"/>
              <a:t> …in continuation</a:t>
            </a:r>
            <a:endParaRPr lang="en-IN" b="1" dirty="0"/>
          </a:p>
          <a:p>
            <a:pPr marL="0" indent="0" algn="just">
              <a:buNone/>
            </a:pPr>
            <a:r>
              <a:rPr lang="en-IN" b="1" dirty="0"/>
              <a:t>CREATING THE DATABASE USING THE </a:t>
            </a:r>
            <a:r>
              <a:rPr lang="en-IN" b="1" dirty="0">
                <a:solidFill>
                  <a:schemeClr val="accent1"/>
                </a:solidFill>
                <a:effectLst>
                  <a:outerShdw blurRad="38100" dist="38100" dir="2700000" algn="tl">
                    <a:srgbClr val="000000">
                      <a:alpha val="43137"/>
                    </a:srgbClr>
                  </a:outerShdw>
                </a:effectLst>
              </a:rPr>
              <a:t>use</a:t>
            </a:r>
            <a:r>
              <a:rPr lang="en-IN" b="1" dirty="0"/>
              <a:t> COMMAND</a:t>
            </a:r>
          </a:p>
          <a:p>
            <a:pPr algn="just"/>
            <a:r>
              <a:rPr lang="en-IN" dirty="0"/>
              <a:t>Go to the terminal and</a:t>
            </a:r>
            <a:r>
              <a:rPr lang="en-IN" b="1" dirty="0"/>
              <a:t> </a:t>
            </a:r>
            <a:r>
              <a:rPr lang="en-IN" dirty="0"/>
              <a:t>write the command </a:t>
            </a:r>
            <a:r>
              <a:rPr lang="en-IN" i="1" dirty="0">
                <a:solidFill>
                  <a:schemeClr val="accent1"/>
                </a:solidFill>
                <a:effectLst>
                  <a:outerShdw blurRad="38100" dist="38100" dir="2700000" algn="tl">
                    <a:srgbClr val="000000">
                      <a:alpha val="43137"/>
                    </a:srgbClr>
                  </a:outerShdw>
                </a:effectLst>
              </a:rPr>
              <a:t>use &lt;</a:t>
            </a:r>
            <a:r>
              <a:rPr lang="en-IN" i="1" dirty="0" err="1">
                <a:solidFill>
                  <a:schemeClr val="accent1"/>
                </a:solidFill>
                <a:effectLst>
                  <a:outerShdw blurRad="38100" dist="38100" dir="2700000" algn="tl">
                    <a:srgbClr val="000000">
                      <a:alpha val="43137"/>
                    </a:srgbClr>
                  </a:outerShdw>
                </a:effectLst>
              </a:rPr>
              <a:t>database_name</a:t>
            </a:r>
            <a:r>
              <a:rPr lang="en-IN" i="1" dirty="0">
                <a:solidFill>
                  <a:schemeClr val="accent1"/>
                </a:solidFill>
                <a:effectLst>
                  <a:outerShdw blurRad="38100" dist="38100" dir="2700000" algn="tl">
                    <a:srgbClr val="000000">
                      <a:alpha val="43137"/>
                    </a:srgbClr>
                  </a:outerShdw>
                </a:effectLst>
              </a:rPr>
              <a:t>&gt; </a:t>
            </a:r>
            <a:r>
              <a:rPr lang="en-IN" dirty="0"/>
              <a:t>where database name will be replaced by the name of your database. This will create the database with the name which you want.</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algn="just"/>
            <a:r>
              <a:rPr lang="en-IN" dirty="0"/>
              <a:t>Alternatively it can be achieved by using any of the GUI tool and from there you can create the new database. But this GUI tool will first need to be connected to the host at the desired port number.</a:t>
            </a:r>
          </a:p>
          <a:p>
            <a:pPr marL="342900" indent="-342900" algn="just">
              <a:buFont typeface="+mj-lt"/>
              <a:buAutoNum type="arabicPeriod"/>
            </a:pPr>
            <a:endParaRPr lang="en-IN" b="1" dirty="0">
              <a:solidFill>
                <a:schemeClr val="accent1"/>
              </a:solidFill>
              <a:effectLst>
                <a:outerShdw blurRad="38100" dist="38100" dir="2700000" algn="tl">
                  <a:srgbClr val="000000">
                    <a:alpha val="43137"/>
                  </a:srgbClr>
                </a:outerShdw>
              </a:effectLst>
            </a:endParaRPr>
          </a:p>
          <a:p>
            <a:pPr marL="0" indent="0" algn="r">
              <a:buNone/>
            </a:pPr>
            <a:r>
              <a:rPr lang="en-IN" i="1" dirty="0"/>
              <a:t>…to be continued</a:t>
            </a:r>
          </a:p>
        </p:txBody>
      </p:sp>
      <p:pic>
        <p:nvPicPr>
          <p:cNvPr id="6" name="Picture 5">
            <a:extLst>
              <a:ext uri="{FF2B5EF4-FFF2-40B4-BE49-F238E27FC236}">
                <a16:creationId xmlns:a16="http://schemas.microsoft.com/office/drawing/2014/main" id="{D137F60E-4C8D-4437-840E-53965A0D1719}"/>
              </a:ext>
            </a:extLst>
          </p:cNvPr>
          <p:cNvPicPr>
            <a:picLocks noChangeAspect="1"/>
          </p:cNvPicPr>
          <p:nvPr/>
        </p:nvPicPr>
        <p:blipFill>
          <a:blip r:embed="rId2"/>
          <a:stretch>
            <a:fillRect/>
          </a:stretch>
        </p:blipFill>
        <p:spPr>
          <a:xfrm>
            <a:off x="1046922" y="2687638"/>
            <a:ext cx="7010400" cy="1274761"/>
          </a:xfrm>
          <a:prstGeom prst="rect">
            <a:avLst/>
          </a:prstGeom>
        </p:spPr>
      </p:pic>
    </p:spTree>
    <p:extLst>
      <p:ext uri="{BB962C8B-B14F-4D97-AF65-F5344CB8AC3E}">
        <p14:creationId xmlns:p14="http://schemas.microsoft.com/office/powerpoint/2010/main" val="606020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463831"/>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795130" y="1020414"/>
            <a:ext cx="6670195" cy="4707838"/>
          </a:xfrm>
        </p:spPr>
        <p:txBody>
          <a:bodyPr>
            <a:normAutofit fontScale="92500" lnSpcReduction="10000"/>
          </a:bodyPr>
          <a:lstStyle/>
          <a:p>
            <a:pPr marL="0" indent="0" algn="r">
              <a:buNone/>
            </a:pPr>
            <a:endParaRPr lang="en-IN" i="1" dirty="0"/>
          </a:p>
          <a:p>
            <a:pPr marL="0" indent="0" algn="r">
              <a:buNone/>
            </a:pPr>
            <a:endParaRPr lang="en-IN" i="1" dirty="0"/>
          </a:p>
          <a:p>
            <a:pPr marL="0" indent="0" algn="r">
              <a:buNone/>
            </a:pPr>
            <a:r>
              <a:rPr lang="en-IN" i="1" dirty="0"/>
              <a:t> </a:t>
            </a:r>
          </a:p>
          <a:p>
            <a:pPr marL="0" indent="0" algn="r">
              <a:buNone/>
            </a:pPr>
            <a:endParaRPr lang="en-IN" i="1" dirty="0"/>
          </a:p>
          <a:p>
            <a:pPr marL="0" indent="0" algn="r">
              <a:buNone/>
            </a:pPr>
            <a:endParaRPr lang="en-IN" i="1" dirty="0"/>
          </a:p>
          <a:p>
            <a:pPr marL="0" indent="0" algn="r">
              <a:buNone/>
            </a:pPr>
            <a:endParaRPr lang="en-IN" i="1" dirty="0"/>
          </a:p>
          <a:p>
            <a:pPr marL="0" indent="0" algn="r">
              <a:buNone/>
            </a:pPr>
            <a:endParaRPr lang="en-IN" i="1" dirty="0"/>
          </a:p>
          <a:p>
            <a:pPr marL="0" indent="0" algn="r">
              <a:buNone/>
            </a:pPr>
            <a:endParaRPr lang="en-IN" i="1" dirty="0"/>
          </a:p>
          <a:p>
            <a:pPr marL="0" indent="0" algn="r">
              <a:buNone/>
            </a:pPr>
            <a:endParaRPr lang="en-IN" i="1" dirty="0"/>
          </a:p>
          <a:p>
            <a:pPr marL="0" indent="0" algn="r">
              <a:buNone/>
            </a:pPr>
            <a:endParaRPr lang="en-IN" i="1" dirty="0"/>
          </a:p>
          <a:p>
            <a:pPr marL="0" indent="0" algn="just">
              <a:buNone/>
            </a:pPr>
            <a:r>
              <a:rPr lang="en-IN" i="1" dirty="0"/>
              <a:t>The GUI tool which is shown above is </a:t>
            </a:r>
            <a:r>
              <a:rPr lang="en-IN" b="1" i="1" dirty="0">
                <a:solidFill>
                  <a:schemeClr val="accent1"/>
                </a:solidFill>
                <a:effectLst>
                  <a:outerShdw blurRad="38100" dist="38100" dir="2700000" algn="tl">
                    <a:srgbClr val="000000">
                      <a:alpha val="43137"/>
                    </a:srgbClr>
                  </a:outerShdw>
                </a:effectLst>
              </a:rPr>
              <a:t>QueryAssist</a:t>
            </a:r>
          </a:p>
          <a:p>
            <a:pPr marL="0" indent="0" algn="just">
              <a:buNone/>
            </a:pPr>
            <a:r>
              <a:rPr lang="en-IN" b="1" i="1" dirty="0">
                <a:solidFill>
                  <a:schemeClr val="accent1"/>
                </a:solidFill>
                <a:effectLst>
                  <a:outerShdw blurRad="38100" dist="38100" dir="2700000" algn="tl">
                    <a:srgbClr val="000000">
                      <a:alpha val="43137"/>
                    </a:srgbClr>
                  </a:outerShdw>
                </a:effectLst>
              </a:rPr>
              <a:t>You can Give a name to the instance from the tool.</a:t>
            </a:r>
          </a:p>
          <a:p>
            <a:pPr marL="0" indent="0" algn="r">
              <a:buNone/>
            </a:pPr>
            <a:r>
              <a:rPr lang="en-IN" i="1" dirty="0"/>
              <a:t>…to be continued</a:t>
            </a:r>
          </a:p>
        </p:txBody>
      </p:sp>
      <p:pic>
        <p:nvPicPr>
          <p:cNvPr id="5" name="Picture 4">
            <a:extLst>
              <a:ext uri="{FF2B5EF4-FFF2-40B4-BE49-F238E27FC236}">
                <a16:creationId xmlns:a16="http://schemas.microsoft.com/office/drawing/2014/main" id="{358C25E9-1CB3-476D-BB77-24B72622FB8D}"/>
              </a:ext>
            </a:extLst>
          </p:cNvPr>
          <p:cNvPicPr>
            <a:picLocks noChangeAspect="1"/>
          </p:cNvPicPr>
          <p:nvPr/>
        </p:nvPicPr>
        <p:blipFill>
          <a:blip r:embed="rId2"/>
          <a:stretch>
            <a:fillRect/>
          </a:stretch>
        </p:blipFill>
        <p:spPr>
          <a:xfrm>
            <a:off x="795130" y="1129748"/>
            <a:ext cx="2597427" cy="3402496"/>
          </a:xfrm>
          <a:prstGeom prst="rect">
            <a:avLst/>
          </a:prstGeom>
        </p:spPr>
      </p:pic>
      <p:pic>
        <p:nvPicPr>
          <p:cNvPr id="8" name="Picture 7">
            <a:extLst>
              <a:ext uri="{FF2B5EF4-FFF2-40B4-BE49-F238E27FC236}">
                <a16:creationId xmlns:a16="http://schemas.microsoft.com/office/drawing/2014/main" id="{428568C3-5D2C-4A08-B6C4-47F360E04D37}"/>
              </a:ext>
            </a:extLst>
          </p:cNvPr>
          <p:cNvPicPr>
            <a:picLocks noChangeAspect="1"/>
          </p:cNvPicPr>
          <p:nvPr/>
        </p:nvPicPr>
        <p:blipFill>
          <a:blip r:embed="rId3"/>
          <a:stretch>
            <a:fillRect/>
          </a:stretch>
        </p:blipFill>
        <p:spPr>
          <a:xfrm>
            <a:off x="3551583" y="1129748"/>
            <a:ext cx="3913742" cy="3402496"/>
          </a:xfrm>
          <a:prstGeom prst="rect">
            <a:avLst/>
          </a:prstGeom>
        </p:spPr>
      </p:pic>
    </p:spTree>
    <p:extLst>
      <p:ext uri="{BB962C8B-B14F-4D97-AF65-F5344CB8AC3E}">
        <p14:creationId xmlns:p14="http://schemas.microsoft.com/office/powerpoint/2010/main" val="944024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463831"/>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795129" y="1020414"/>
            <a:ext cx="6705601" cy="4611760"/>
          </a:xfrm>
        </p:spPr>
        <p:txBody>
          <a:bodyPr>
            <a:normAutofit/>
          </a:bodyPr>
          <a:lstStyle/>
          <a:p>
            <a:pPr marL="0" indent="0" algn="r">
              <a:buNone/>
            </a:pPr>
            <a:endParaRPr lang="en-IN" i="1" dirty="0"/>
          </a:p>
          <a:p>
            <a:pPr marL="0" indent="0" algn="r">
              <a:buNone/>
            </a:pPr>
            <a:endParaRPr lang="en-IN" i="1" dirty="0"/>
          </a:p>
          <a:p>
            <a:pPr marL="0" indent="0" algn="r">
              <a:buNone/>
            </a:pPr>
            <a:r>
              <a:rPr lang="en-IN" i="1" dirty="0"/>
              <a:t> </a:t>
            </a:r>
          </a:p>
          <a:p>
            <a:pPr marL="0" indent="0" algn="r">
              <a:buNone/>
            </a:pPr>
            <a:endParaRPr lang="en-IN" i="1" dirty="0"/>
          </a:p>
          <a:p>
            <a:pPr marL="0" indent="0" algn="r">
              <a:buNone/>
            </a:pPr>
            <a:endParaRPr lang="en-IN" i="1" dirty="0"/>
          </a:p>
          <a:p>
            <a:pPr marL="0" indent="0" algn="r">
              <a:buNone/>
            </a:pPr>
            <a:endParaRPr lang="en-IN" i="1" dirty="0"/>
          </a:p>
          <a:p>
            <a:pPr marL="0" indent="0" algn="just">
              <a:buNone/>
            </a:pPr>
            <a:endParaRPr lang="en-IN" i="1" dirty="0"/>
          </a:p>
          <a:p>
            <a:pPr marL="0" indent="0" algn="just">
              <a:buNone/>
            </a:pPr>
            <a:endParaRPr lang="en-IN" i="1" dirty="0"/>
          </a:p>
          <a:p>
            <a:pPr marL="0" indent="0" algn="just">
              <a:buNone/>
            </a:pPr>
            <a:r>
              <a:rPr lang="en-IN" i="1" dirty="0"/>
              <a:t>By this way you can create the database in MongoDB.</a:t>
            </a:r>
          </a:p>
          <a:p>
            <a:pPr marL="0" indent="0" algn="just">
              <a:buNone/>
            </a:pPr>
            <a:r>
              <a:rPr lang="en-IN" b="1" i="1" dirty="0">
                <a:solidFill>
                  <a:schemeClr val="accent1"/>
                </a:solidFill>
                <a:effectLst>
                  <a:outerShdw blurRad="38100" dist="38100" dir="2700000" algn="tl">
                    <a:srgbClr val="000000">
                      <a:alpha val="43137"/>
                    </a:srgbClr>
                  </a:outerShdw>
                </a:effectLst>
              </a:rPr>
              <a:t>Observe the note written in the Create Database Pop Up</a:t>
            </a:r>
          </a:p>
          <a:p>
            <a:pPr marL="0" indent="0" algn="r">
              <a:buNone/>
            </a:pPr>
            <a:r>
              <a:rPr lang="en-IN" i="1" dirty="0"/>
              <a:t>…to be continued</a:t>
            </a:r>
          </a:p>
        </p:txBody>
      </p:sp>
      <p:pic>
        <p:nvPicPr>
          <p:cNvPr id="10" name="Picture 9">
            <a:extLst>
              <a:ext uri="{FF2B5EF4-FFF2-40B4-BE49-F238E27FC236}">
                <a16:creationId xmlns:a16="http://schemas.microsoft.com/office/drawing/2014/main" id="{D648864E-66B9-46A2-B70A-4F64C8F29A91}"/>
              </a:ext>
            </a:extLst>
          </p:cNvPr>
          <p:cNvPicPr>
            <a:picLocks noChangeAspect="1"/>
          </p:cNvPicPr>
          <p:nvPr/>
        </p:nvPicPr>
        <p:blipFill>
          <a:blip r:embed="rId2"/>
          <a:stretch>
            <a:fillRect/>
          </a:stretch>
        </p:blipFill>
        <p:spPr>
          <a:xfrm>
            <a:off x="795129" y="1225826"/>
            <a:ext cx="2862471" cy="3028122"/>
          </a:xfrm>
          <a:prstGeom prst="rect">
            <a:avLst/>
          </a:prstGeom>
        </p:spPr>
      </p:pic>
      <p:pic>
        <p:nvPicPr>
          <p:cNvPr id="12" name="Picture 11">
            <a:extLst>
              <a:ext uri="{FF2B5EF4-FFF2-40B4-BE49-F238E27FC236}">
                <a16:creationId xmlns:a16="http://schemas.microsoft.com/office/drawing/2014/main" id="{61C6478D-799D-44C9-9114-F16D55115974}"/>
              </a:ext>
            </a:extLst>
          </p:cNvPr>
          <p:cNvPicPr>
            <a:picLocks noChangeAspect="1"/>
          </p:cNvPicPr>
          <p:nvPr/>
        </p:nvPicPr>
        <p:blipFill>
          <a:blip r:embed="rId3"/>
          <a:stretch>
            <a:fillRect/>
          </a:stretch>
        </p:blipFill>
        <p:spPr>
          <a:xfrm>
            <a:off x="3829879" y="1225824"/>
            <a:ext cx="3286538" cy="3028123"/>
          </a:xfrm>
          <a:prstGeom prst="rect">
            <a:avLst/>
          </a:prstGeom>
        </p:spPr>
      </p:pic>
    </p:spTree>
    <p:extLst>
      <p:ext uri="{BB962C8B-B14F-4D97-AF65-F5344CB8AC3E}">
        <p14:creationId xmlns:p14="http://schemas.microsoft.com/office/powerpoint/2010/main" val="3037977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463831"/>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692428"/>
            <a:ext cx="4403033" cy="4502423"/>
          </a:xfrm>
        </p:spPr>
        <p:txBody>
          <a:bodyPr>
            <a:normAutofit fontScale="92500" lnSpcReduction="20000"/>
          </a:bodyPr>
          <a:lstStyle/>
          <a:p>
            <a:pPr marL="0" indent="0" algn="just">
              <a:buNone/>
            </a:pPr>
            <a:endParaRPr lang="en-IN" i="1" dirty="0"/>
          </a:p>
          <a:p>
            <a:pPr marL="0" indent="0">
              <a:buNone/>
            </a:pPr>
            <a:r>
              <a:rPr lang="en-IN" b="1" dirty="0">
                <a:solidFill>
                  <a:schemeClr val="accent6"/>
                </a:solidFill>
                <a:effectLst>
                  <a:outerShdw blurRad="38100" dist="38100" dir="2700000" algn="tl">
                    <a:srgbClr val="000000">
                      <a:alpha val="43137"/>
                    </a:srgbClr>
                  </a:outerShdw>
                </a:effectLst>
              </a:rPr>
              <a:t>NOTE</a:t>
            </a:r>
            <a:r>
              <a:rPr lang="en-IN" dirty="0"/>
              <a:t>: You can ensure that your database has been created or not by using the </a:t>
            </a:r>
            <a:r>
              <a:rPr lang="en-IN" b="1" i="1" dirty="0">
                <a:solidFill>
                  <a:schemeClr val="accent1"/>
                </a:solidFill>
                <a:effectLst>
                  <a:outerShdw blurRad="38100" dist="38100" dir="2700000" algn="tl">
                    <a:srgbClr val="000000">
                      <a:alpha val="43137"/>
                    </a:srgbClr>
                  </a:outerShdw>
                </a:effectLst>
              </a:rPr>
              <a:t>show databases </a:t>
            </a:r>
            <a:r>
              <a:rPr lang="en-IN" dirty="0"/>
              <a:t>or </a:t>
            </a:r>
            <a:r>
              <a:rPr lang="en-IN" b="1" i="1" dirty="0">
                <a:solidFill>
                  <a:schemeClr val="accent1"/>
                </a:solidFill>
                <a:effectLst>
                  <a:outerShdw blurRad="38100" dist="38100" dir="2700000" algn="tl">
                    <a:srgbClr val="000000">
                      <a:alpha val="43137"/>
                    </a:srgbClr>
                  </a:outerShdw>
                </a:effectLst>
              </a:rPr>
              <a:t>show dbs </a:t>
            </a:r>
            <a:r>
              <a:rPr lang="en-IN" dirty="0"/>
              <a:t>command. The database will only appear when you have at least one collection inside it.</a:t>
            </a:r>
          </a:p>
          <a:p>
            <a:pPr marL="0" indent="0">
              <a:buNone/>
            </a:pPr>
            <a:r>
              <a:rPr lang="en-IN" b="1" i="1" dirty="0">
                <a:effectLst>
                  <a:outerShdw blurRad="38100" dist="38100" dir="2700000" algn="tl">
                    <a:srgbClr val="000000">
                      <a:alpha val="43137"/>
                    </a:srgbClr>
                  </a:outerShdw>
                </a:effectLst>
              </a:rPr>
              <a:t>To create a collection inside the recently created database, you must use the insert command:</a:t>
            </a:r>
          </a:p>
          <a:p>
            <a:pPr marL="0" indent="0" algn="ctr">
              <a:buNone/>
            </a:pPr>
            <a:r>
              <a:rPr lang="en-IN" sz="2100" b="1" i="1" dirty="0">
                <a:solidFill>
                  <a:schemeClr val="accent1"/>
                </a:solidFill>
                <a:effectLst>
                  <a:outerShdw blurRad="38100" dist="38100" dir="2700000" algn="tl">
                    <a:srgbClr val="000000">
                      <a:alpha val="43137"/>
                    </a:srgbClr>
                  </a:outerShdw>
                </a:effectLst>
              </a:rPr>
              <a:t>db.employee.insert({'name': 'John Doe', 'empId': 'HL0014’});</a:t>
            </a:r>
          </a:p>
          <a:p>
            <a:pPr marL="0" indent="0">
              <a:buNone/>
            </a:pPr>
            <a:r>
              <a:rPr lang="en-IN" sz="2100" dirty="0">
                <a:effectLst>
                  <a:outerShdw blurRad="38100" dist="38100" dir="2700000" algn="tl">
                    <a:srgbClr val="000000">
                      <a:alpha val="43137"/>
                    </a:srgbClr>
                  </a:outerShdw>
                </a:effectLst>
              </a:rPr>
              <a:t>Now when you hit the show dbs or show databases command, it will show your database.</a:t>
            </a:r>
          </a:p>
          <a:p>
            <a:pPr marL="0" indent="0" algn="just">
              <a:buNone/>
            </a:pPr>
            <a:endParaRPr lang="en-IN" sz="2100" dirty="0"/>
          </a:p>
          <a:p>
            <a:pPr marL="0" indent="0" algn="r">
              <a:buNone/>
            </a:pPr>
            <a:r>
              <a:rPr lang="en-IN" i="1" dirty="0"/>
              <a:t>…to be continued</a:t>
            </a:r>
          </a:p>
        </p:txBody>
      </p:sp>
      <p:pic>
        <p:nvPicPr>
          <p:cNvPr id="6" name="Picture 5">
            <a:extLst>
              <a:ext uri="{FF2B5EF4-FFF2-40B4-BE49-F238E27FC236}">
                <a16:creationId xmlns:a16="http://schemas.microsoft.com/office/drawing/2014/main" id="{1367625B-8BA2-4AA3-BD7C-A5FD6795EA25}"/>
              </a:ext>
            </a:extLst>
          </p:cNvPr>
          <p:cNvPicPr>
            <a:picLocks noChangeAspect="1"/>
          </p:cNvPicPr>
          <p:nvPr/>
        </p:nvPicPr>
        <p:blipFill>
          <a:blip r:embed="rId2"/>
          <a:stretch>
            <a:fillRect/>
          </a:stretch>
        </p:blipFill>
        <p:spPr>
          <a:xfrm>
            <a:off x="5247861" y="1149625"/>
            <a:ext cx="2305878" cy="3869635"/>
          </a:xfrm>
          <a:prstGeom prst="rect">
            <a:avLst/>
          </a:prstGeom>
        </p:spPr>
      </p:pic>
    </p:spTree>
    <p:extLst>
      <p:ext uri="{BB962C8B-B14F-4D97-AF65-F5344CB8AC3E}">
        <p14:creationId xmlns:p14="http://schemas.microsoft.com/office/powerpoint/2010/main" val="3125238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463831"/>
            <a:ext cx="7610059"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1027043"/>
            <a:ext cx="4403033" cy="4167808"/>
          </a:xfrm>
        </p:spPr>
        <p:txBody>
          <a:bodyPr>
            <a:normAutofit fontScale="92500" lnSpcReduction="20000"/>
          </a:bodyPr>
          <a:lstStyle/>
          <a:p>
            <a:pPr marL="0" indent="0" algn="just">
              <a:buNone/>
            </a:pPr>
            <a:r>
              <a:rPr lang="en-IN" sz="2100" b="1" dirty="0">
                <a:effectLst>
                  <a:outerShdw blurRad="38100" dist="38100" dir="2700000" algn="tl">
                    <a:srgbClr val="000000">
                      <a:alpha val="43137"/>
                    </a:srgbClr>
                  </a:outerShdw>
                </a:effectLst>
              </a:rPr>
              <a:t>DROPPING A DATABASE</a:t>
            </a:r>
          </a:p>
          <a:p>
            <a:pPr marL="0" indent="0" algn="just">
              <a:buNone/>
            </a:pPr>
            <a:r>
              <a:rPr lang="en-IN" sz="2100" dirty="0"/>
              <a:t>To drop a database in MongoDB you need to type the following command.</a:t>
            </a:r>
          </a:p>
          <a:p>
            <a:pPr marL="0" indent="0" algn="ctr">
              <a:buNone/>
            </a:pPr>
            <a:r>
              <a:rPr lang="en-IN" sz="2100" b="1" i="1" dirty="0">
                <a:solidFill>
                  <a:schemeClr val="accent1"/>
                </a:solidFill>
                <a:effectLst>
                  <a:outerShdw blurRad="38100" dist="38100" dir="2700000" algn="tl">
                    <a:srgbClr val="000000">
                      <a:alpha val="43137"/>
                    </a:srgbClr>
                  </a:outerShdw>
                </a:effectLst>
              </a:rPr>
              <a:t>db.dropDatabase()</a:t>
            </a:r>
          </a:p>
          <a:p>
            <a:pPr marL="0" indent="0" algn="just">
              <a:buNone/>
            </a:pPr>
            <a:r>
              <a:rPr lang="en-IN" dirty="0"/>
              <a:t>This will drop the selected database. If database is not selected then it will delete the default ‘</a:t>
            </a:r>
            <a:r>
              <a:rPr lang="en-IN" dirty="0">
                <a:solidFill>
                  <a:schemeClr val="accent1"/>
                </a:solidFill>
                <a:effectLst>
                  <a:outerShdw blurRad="38100" dist="38100" dir="2700000" algn="tl">
                    <a:srgbClr val="000000">
                      <a:alpha val="43137"/>
                    </a:srgbClr>
                  </a:outerShdw>
                </a:effectLst>
              </a:rPr>
              <a:t>test</a:t>
            </a:r>
            <a:r>
              <a:rPr lang="en-IN" dirty="0"/>
              <a:t>’ database.</a:t>
            </a:r>
          </a:p>
          <a:p>
            <a:pPr marL="0" indent="0" algn="just">
              <a:buNone/>
            </a:pPr>
            <a:r>
              <a:rPr lang="en-IN" dirty="0"/>
              <a:t>Now you can check through </a:t>
            </a:r>
            <a:r>
              <a:rPr lang="en-IN" b="1" i="1" dirty="0">
                <a:solidFill>
                  <a:schemeClr val="accent1"/>
                </a:solidFill>
                <a:effectLst>
                  <a:outerShdw blurRad="38100" dist="38100" dir="2700000" algn="tl">
                    <a:srgbClr val="000000">
                      <a:alpha val="43137"/>
                    </a:srgbClr>
                  </a:outerShdw>
                </a:effectLst>
              </a:rPr>
              <a:t>show dbs </a:t>
            </a:r>
            <a:r>
              <a:rPr lang="en-IN" dirty="0"/>
              <a:t>or </a:t>
            </a:r>
            <a:r>
              <a:rPr lang="en-IN" b="1" i="1" dirty="0">
                <a:solidFill>
                  <a:schemeClr val="accent1"/>
                </a:solidFill>
                <a:effectLst>
                  <a:outerShdw blurRad="38100" dist="38100" dir="2700000" algn="tl">
                    <a:srgbClr val="000000">
                      <a:alpha val="43137"/>
                    </a:srgbClr>
                  </a:outerShdw>
                </a:effectLst>
              </a:rPr>
              <a:t>show databases </a:t>
            </a:r>
            <a:r>
              <a:rPr lang="en-IN" dirty="0"/>
              <a:t>command, that your created database is dropped.</a:t>
            </a:r>
          </a:p>
          <a:p>
            <a:pPr marL="0" indent="0" algn="just">
              <a:buNone/>
            </a:pPr>
            <a:r>
              <a:rPr lang="en-IN" dirty="0"/>
              <a:t>You can clearly see in the picture that the </a:t>
            </a:r>
            <a:r>
              <a:rPr lang="en-IN" sz="2000" b="1" dirty="0">
                <a:solidFill>
                  <a:schemeClr val="accent1"/>
                </a:solidFill>
                <a:effectLst>
                  <a:outerShdw blurRad="38100" dist="38100" dir="2700000" algn="tl">
                    <a:srgbClr val="000000">
                      <a:alpha val="43137"/>
                    </a:srgbClr>
                  </a:outerShdw>
                </a:effectLst>
              </a:rPr>
              <a:t>habileMongo</a:t>
            </a:r>
            <a:r>
              <a:rPr lang="en-IN" dirty="0"/>
              <a:t> database is now not listed. It was dropped using the command above.</a:t>
            </a:r>
          </a:p>
          <a:p>
            <a:pPr marL="0" indent="0" algn="r">
              <a:buNone/>
            </a:pPr>
            <a:r>
              <a:rPr lang="en-IN" i="1" dirty="0"/>
              <a:t>…to be continued</a:t>
            </a:r>
          </a:p>
        </p:txBody>
      </p:sp>
      <p:pic>
        <p:nvPicPr>
          <p:cNvPr id="5" name="Picture 4">
            <a:extLst>
              <a:ext uri="{FF2B5EF4-FFF2-40B4-BE49-F238E27FC236}">
                <a16:creationId xmlns:a16="http://schemas.microsoft.com/office/drawing/2014/main" id="{4B666513-3C9C-4F82-820A-0C33E4DB4377}"/>
              </a:ext>
            </a:extLst>
          </p:cNvPr>
          <p:cNvPicPr>
            <a:picLocks noChangeAspect="1"/>
          </p:cNvPicPr>
          <p:nvPr/>
        </p:nvPicPr>
        <p:blipFill>
          <a:blip r:embed="rId2"/>
          <a:stretch>
            <a:fillRect/>
          </a:stretch>
        </p:blipFill>
        <p:spPr>
          <a:xfrm>
            <a:off x="5402714" y="1027043"/>
            <a:ext cx="2335568" cy="3886151"/>
          </a:xfrm>
          <a:prstGeom prst="rect">
            <a:avLst/>
          </a:prstGeom>
        </p:spPr>
      </p:pic>
    </p:spTree>
    <p:extLst>
      <p:ext uri="{BB962C8B-B14F-4D97-AF65-F5344CB8AC3E}">
        <p14:creationId xmlns:p14="http://schemas.microsoft.com/office/powerpoint/2010/main" val="255613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463831"/>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861391" y="1113183"/>
            <a:ext cx="6746118" cy="3763617"/>
          </a:xfrm>
        </p:spPr>
        <p:txBody>
          <a:bodyPr>
            <a:normAutofit fontScale="92500" lnSpcReduction="10000"/>
          </a:bodyPr>
          <a:lstStyle/>
          <a:p>
            <a:pPr marL="0" indent="0" algn="just">
              <a:buNone/>
            </a:pPr>
            <a:r>
              <a:rPr lang="en-IN" dirty="0"/>
              <a:t>For previous operation’s result to be visible, one must first create a collection inside it. So, let’s start with CRUD operations.</a:t>
            </a:r>
          </a:p>
          <a:p>
            <a:pPr marL="0" indent="0" algn="just">
              <a:buNone/>
            </a:pPr>
            <a:r>
              <a:rPr lang="en-IN" sz="3600" b="1" dirty="0">
                <a:solidFill>
                  <a:schemeClr val="accent1"/>
                </a:solidFill>
                <a:effectLst>
                  <a:outerShdw blurRad="38100" dist="38100" dir="2700000" algn="tl">
                    <a:srgbClr val="000000">
                      <a:alpha val="43137"/>
                    </a:srgbClr>
                  </a:outerShdw>
                </a:effectLst>
              </a:rPr>
              <a:t>CREATE</a:t>
            </a:r>
          </a:p>
          <a:p>
            <a:pPr marL="0" indent="0" algn="just">
              <a:buNone/>
            </a:pPr>
            <a:r>
              <a:rPr lang="en-IN" dirty="0">
                <a:effectLst>
                  <a:outerShdw blurRad="38100" dist="38100" dir="2700000" algn="tl">
                    <a:srgbClr val="000000">
                      <a:alpha val="43137"/>
                    </a:srgbClr>
                  </a:outerShdw>
                </a:effectLst>
              </a:rPr>
              <a:t>For creating a collection use the following command</a:t>
            </a:r>
          </a:p>
          <a:p>
            <a:pPr marL="0" indent="0" algn="ctr">
              <a:buNone/>
            </a:pPr>
            <a:r>
              <a:rPr lang="en-IN" sz="2000" b="1" i="1" dirty="0">
                <a:solidFill>
                  <a:schemeClr val="accent1"/>
                </a:solidFill>
                <a:effectLst>
                  <a:outerShdw blurRad="38100" dist="38100" dir="2700000" algn="tl">
                    <a:srgbClr val="000000">
                      <a:alpha val="43137"/>
                    </a:srgbClr>
                  </a:outerShdw>
                </a:effectLst>
              </a:rPr>
              <a:t>db.createCollection(name, options)</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r">
              <a:buNone/>
            </a:pPr>
            <a:r>
              <a:rPr lang="en-IN" i="1" dirty="0"/>
              <a:t>…to be continued</a:t>
            </a:r>
          </a:p>
        </p:txBody>
      </p:sp>
      <p:graphicFrame>
        <p:nvGraphicFramePr>
          <p:cNvPr id="4" name="Table 3">
            <a:extLst>
              <a:ext uri="{FF2B5EF4-FFF2-40B4-BE49-F238E27FC236}">
                <a16:creationId xmlns:a16="http://schemas.microsoft.com/office/drawing/2014/main" id="{921EDCB3-002D-4697-A31E-70F251EE7C12}"/>
              </a:ext>
            </a:extLst>
          </p:cNvPr>
          <p:cNvGraphicFramePr>
            <a:graphicFrameLocks noGrp="1"/>
          </p:cNvGraphicFramePr>
          <p:nvPr>
            <p:extLst>
              <p:ext uri="{D42A27DB-BD31-4B8C-83A1-F6EECF244321}">
                <p14:modId xmlns:p14="http://schemas.microsoft.com/office/powerpoint/2010/main" val="3272247570"/>
              </p:ext>
            </p:extLst>
          </p:nvPr>
        </p:nvGraphicFramePr>
        <p:xfrm>
          <a:off x="993913" y="3163956"/>
          <a:ext cx="6520069" cy="1141984"/>
        </p:xfrm>
        <a:graphic>
          <a:graphicData uri="http://schemas.openxmlformats.org/drawingml/2006/table">
            <a:tbl>
              <a:tblPr firstRow="1" firstCol="1" bandRow="1">
                <a:tableStyleId>{5C22544A-7EE6-4342-B048-85BDC9FD1C3A}</a:tableStyleId>
              </a:tblPr>
              <a:tblGrid>
                <a:gridCol w="1619222">
                  <a:extLst>
                    <a:ext uri="{9D8B030D-6E8A-4147-A177-3AD203B41FA5}">
                      <a16:colId xmlns:a16="http://schemas.microsoft.com/office/drawing/2014/main" val="675071186"/>
                    </a:ext>
                  </a:extLst>
                </a:gridCol>
                <a:gridCol w="1619222">
                  <a:extLst>
                    <a:ext uri="{9D8B030D-6E8A-4147-A177-3AD203B41FA5}">
                      <a16:colId xmlns:a16="http://schemas.microsoft.com/office/drawing/2014/main" val="4228477237"/>
                    </a:ext>
                  </a:extLst>
                </a:gridCol>
                <a:gridCol w="3281625">
                  <a:extLst>
                    <a:ext uri="{9D8B030D-6E8A-4147-A177-3AD203B41FA5}">
                      <a16:colId xmlns:a16="http://schemas.microsoft.com/office/drawing/2014/main" val="3501899289"/>
                    </a:ext>
                  </a:extLst>
                </a:gridCol>
              </a:tblGrid>
              <a:tr h="0">
                <a:tc>
                  <a:txBody>
                    <a:bodyPr/>
                    <a:lstStyle/>
                    <a:p>
                      <a:pPr algn="ctr">
                        <a:lnSpc>
                          <a:spcPct val="107000"/>
                        </a:lnSpc>
                        <a:spcAft>
                          <a:spcPts val="1500"/>
                        </a:spcAft>
                      </a:pPr>
                      <a:r>
                        <a:rPr lang="en-IN" sz="1050">
                          <a:effectLst/>
                        </a:rPr>
                        <a:t>Parameter</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ctr">
                        <a:lnSpc>
                          <a:spcPct val="107000"/>
                        </a:lnSpc>
                        <a:spcAft>
                          <a:spcPts val="1500"/>
                        </a:spcAft>
                      </a:pPr>
                      <a:r>
                        <a:rPr lang="en-IN" sz="1050">
                          <a:effectLst/>
                        </a:rPr>
                        <a:t>Type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ctr">
                        <a:lnSpc>
                          <a:spcPct val="107000"/>
                        </a:lnSpc>
                        <a:spcAft>
                          <a:spcPts val="1500"/>
                        </a:spcAft>
                      </a:pPr>
                      <a:r>
                        <a:rPr lang="en-IN" sz="1050">
                          <a:effectLst/>
                        </a:rPr>
                        <a:t>Description</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2960912015"/>
                  </a:ext>
                </a:extLst>
              </a:tr>
              <a:tr h="0">
                <a:tc>
                  <a:txBody>
                    <a:bodyPr/>
                    <a:lstStyle/>
                    <a:p>
                      <a:pPr algn="ctr">
                        <a:lnSpc>
                          <a:spcPct val="107000"/>
                        </a:lnSpc>
                        <a:spcAft>
                          <a:spcPts val="1500"/>
                        </a:spcAft>
                      </a:pPr>
                      <a:r>
                        <a:rPr lang="en-IN" sz="1050">
                          <a:effectLst/>
                        </a:rPr>
                        <a:t>Name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ctr">
                        <a:lnSpc>
                          <a:spcPct val="107000"/>
                        </a:lnSpc>
                        <a:spcAft>
                          <a:spcPts val="1500"/>
                        </a:spcAft>
                      </a:pPr>
                      <a:r>
                        <a:rPr lang="en-IN" sz="1050">
                          <a:effectLst/>
                        </a:rPr>
                        <a:t>String</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ctr">
                        <a:lnSpc>
                          <a:spcPct val="107000"/>
                        </a:lnSpc>
                        <a:spcAft>
                          <a:spcPts val="1500"/>
                        </a:spcAft>
                      </a:pPr>
                      <a:r>
                        <a:rPr lang="en-IN" sz="1050" dirty="0">
                          <a:effectLst/>
                        </a:rPr>
                        <a:t>It is the name of the collection that is to be created</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1394052787"/>
                  </a:ext>
                </a:extLst>
              </a:tr>
              <a:tr h="0">
                <a:tc>
                  <a:txBody>
                    <a:bodyPr/>
                    <a:lstStyle/>
                    <a:p>
                      <a:pPr algn="ctr">
                        <a:lnSpc>
                          <a:spcPct val="107000"/>
                        </a:lnSpc>
                        <a:spcAft>
                          <a:spcPts val="1500"/>
                        </a:spcAft>
                      </a:pPr>
                      <a:r>
                        <a:rPr lang="en-IN" sz="1050">
                          <a:effectLst/>
                        </a:rPr>
                        <a:t>Options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ctr">
                        <a:lnSpc>
                          <a:spcPct val="107000"/>
                        </a:lnSpc>
                        <a:spcAft>
                          <a:spcPts val="1500"/>
                        </a:spcAft>
                      </a:pPr>
                      <a:r>
                        <a:rPr lang="en-IN" sz="1050" dirty="0">
                          <a:effectLst/>
                        </a:rPr>
                        <a:t>Document</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ctr">
                        <a:lnSpc>
                          <a:spcPct val="107000"/>
                        </a:lnSpc>
                        <a:spcAft>
                          <a:spcPts val="1500"/>
                        </a:spcAft>
                      </a:pPr>
                      <a:r>
                        <a:rPr lang="en-IN" sz="1050" dirty="0">
                          <a:effectLst/>
                        </a:rPr>
                        <a:t>Specifies option about the memory size and indexing. This is completely optional.</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591288007"/>
                  </a:ext>
                </a:extLst>
              </a:tr>
            </a:tbl>
          </a:graphicData>
        </a:graphic>
      </p:graphicFrame>
    </p:spTree>
    <p:extLst>
      <p:ext uri="{BB962C8B-B14F-4D97-AF65-F5344CB8AC3E}">
        <p14:creationId xmlns:p14="http://schemas.microsoft.com/office/powerpoint/2010/main" val="25947013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463831"/>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1113184"/>
            <a:ext cx="6576389" cy="4044336"/>
          </a:xfrm>
        </p:spPr>
        <p:txBody>
          <a:bodyPr>
            <a:normAutofit fontScale="92500" lnSpcReduction="10000"/>
          </a:bodyPr>
          <a:lstStyle/>
          <a:p>
            <a:pPr marL="0" indent="0" algn="just">
              <a:buNone/>
            </a:pPr>
            <a:r>
              <a:rPr lang="en-IN" dirty="0"/>
              <a:t>Options can have the following fields:</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r">
              <a:buNone/>
            </a:pPr>
            <a:r>
              <a:rPr lang="en-IN" i="1" dirty="0"/>
              <a:t>…to be continued</a:t>
            </a:r>
          </a:p>
        </p:txBody>
      </p:sp>
      <p:graphicFrame>
        <p:nvGraphicFramePr>
          <p:cNvPr id="5" name="Table 4">
            <a:extLst>
              <a:ext uri="{FF2B5EF4-FFF2-40B4-BE49-F238E27FC236}">
                <a16:creationId xmlns:a16="http://schemas.microsoft.com/office/drawing/2014/main" id="{074A0EA6-6947-404E-A7EB-0313252C3D13}"/>
              </a:ext>
            </a:extLst>
          </p:cNvPr>
          <p:cNvGraphicFramePr>
            <a:graphicFrameLocks noGrp="1"/>
          </p:cNvGraphicFramePr>
          <p:nvPr>
            <p:extLst>
              <p:ext uri="{D42A27DB-BD31-4B8C-83A1-F6EECF244321}">
                <p14:modId xmlns:p14="http://schemas.microsoft.com/office/powerpoint/2010/main" val="2037506960"/>
              </p:ext>
            </p:extLst>
          </p:nvPr>
        </p:nvGraphicFramePr>
        <p:xfrm>
          <a:off x="861390" y="1700481"/>
          <a:ext cx="6268281" cy="2818510"/>
        </p:xfrm>
        <a:graphic>
          <a:graphicData uri="http://schemas.openxmlformats.org/drawingml/2006/table">
            <a:tbl>
              <a:tblPr firstRow="1" firstCol="1" bandRow="1">
                <a:tableStyleId>{5C22544A-7EE6-4342-B048-85BDC9FD1C3A}</a:tableStyleId>
              </a:tblPr>
              <a:tblGrid>
                <a:gridCol w="1068929">
                  <a:extLst>
                    <a:ext uri="{9D8B030D-6E8A-4147-A177-3AD203B41FA5}">
                      <a16:colId xmlns:a16="http://schemas.microsoft.com/office/drawing/2014/main" val="2868675760"/>
                    </a:ext>
                  </a:extLst>
                </a:gridCol>
                <a:gridCol w="934016">
                  <a:extLst>
                    <a:ext uri="{9D8B030D-6E8A-4147-A177-3AD203B41FA5}">
                      <a16:colId xmlns:a16="http://schemas.microsoft.com/office/drawing/2014/main" val="2765371146"/>
                    </a:ext>
                  </a:extLst>
                </a:gridCol>
                <a:gridCol w="4265336">
                  <a:extLst>
                    <a:ext uri="{9D8B030D-6E8A-4147-A177-3AD203B41FA5}">
                      <a16:colId xmlns:a16="http://schemas.microsoft.com/office/drawing/2014/main" val="1387162074"/>
                    </a:ext>
                  </a:extLst>
                </a:gridCol>
              </a:tblGrid>
              <a:tr h="341604">
                <a:tc>
                  <a:txBody>
                    <a:bodyPr/>
                    <a:lstStyle/>
                    <a:p>
                      <a:pPr algn="ctr">
                        <a:lnSpc>
                          <a:spcPct val="107000"/>
                        </a:lnSpc>
                        <a:spcAft>
                          <a:spcPts val="1500"/>
                        </a:spcAft>
                      </a:pPr>
                      <a:r>
                        <a:rPr lang="en-IN" sz="1050">
                          <a:effectLst/>
                        </a:rPr>
                        <a:t>Field</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ctr">
                        <a:lnSpc>
                          <a:spcPct val="107000"/>
                        </a:lnSpc>
                        <a:spcAft>
                          <a:spcPts val="1500"/>
                        </a:spcAft>
                      </a:pPr>
                      <a:r>
                        <a:rPr lang="en-IN" sz="1050">
                          <a:effectLst/>
                        </a:rPr>
                        <a:t>Type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ctr">
                        <a:lnSpc>
                          <a:spcPct val="107000"/>
                        </a:lnSpc>
                        <a:spcAft>
                          <a:spcPts val="1500"/>
                        </a:spcAft>
                      </a:pPr>
                      <a:r>
                        <a:rPr lang="en-IN" sz="1050">
                          <a:effectLst/>
                        </a:rPr>
                        <a:t>Description</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2167299298"/>
                  </a:ext>
                </a:extLst>
              </a:tr>
              <a:tr h="896848">
                <a:tc>
                  <a:txBody>
                    <a:bodyPr/>
                    <a:lstStyle/>
                    <a:p>
                      <a:pPr algn="ctr">
                        <a:lnSpc>
                          <a:spcPct val="107000"/>
                        </a:lnSpc>
                        <a:spcAft>
                          <a:spcPts val="1500"/>
                        </a:spcAft>
                      </a:pPr>
                      <a:r>
                        <a:rPr lang="en-IN" sz="1050" dirty="0">
                          <a:effectLst/>
                        </a:rPr>
                        <a:t>capped</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nchor="ctr"/>
                </a:tc>
                <a:tc>
                  <a:txBody>
                    <a:bodyPr/>
                    <a:lstStyle/>
                    <a:p>
                      <a:pPr algn="ctr">
                        <a:lnSpc>
                          <a:spcPct val="107000"/>
                        </a:lnSpc>
                        <a:spcAft>
                          <a:spcPts val="1500"/>
                        </a:spcAft>
                      </a:pPr>
                      <a:r>
                        <a:rPr lang="en-IN" sz="1050" dirty="0">
                          <a:effectLst/>
                        </a:rPr>
                        <a:t>Boolean</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nchor="ctr"/>
                </a:tc>
                <a:tc>
                  <a:txBody>
                    <a:bodyPr/>
                    <a:lstStyle/>
                    <a:p>
                      <a:pPr>
                        <a:lnSpc>
                          <a:spcPct val="107000"/>
                        </a:lnSpc>
                        <a:spcAft>
                          <a:spcPts val="1500"/>
                        </a:spcAft>
                      </a:pPr>
                      <a:r>
                        <a:rPr lang="en-IN" sz="1050">
                          <a:effectLst/>
                        </a:rPr>
                        <a:t>(Optional) If true, enables a capped collection. Capped collection is a fixed size collection that automatically overwrites its oldest entries when it reaches its maximum size. If you specify true, you need to specify size parameter also.</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738137804"/>
                  </a:ext>
                </a:extLst>
              </a:tr>
              <a:tr h="526686">
                <a:tc>
                  <a:txBody>
                    <a:bodyPr/>
                    <a:lstStyle/>
                    <a:p>
                      <a:pPr algn="ctr">
                        <a:lnSpc>
                          <a:spcPct val="107000"/>
                        </a:lnSpc>
                        <a:spcAft>
                          <a:spcPts val="1500"/>
                        </a:spcAft>
                      </a:pPr>
                      <a:r>
                        <a:rPr lang="en-IN" sz="1050" dirty="0">
                          <a:effectLst/>
                        </a:rPr>
                        <a:t>autoIndexId</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nchor="ctr"/>
                </a:tc>
                <a:tc>
                  <a:txBody>
                    <a:bodyPr/>
                    <a:lstStyle/>
                    <a:p>
                      <a:pPr algn="ctr">
                        <a:lnSpc>
                          <a:spcPct val="107000"/>
                        </a:lnSpc>
                        <a:spcAft>
                          <a:spcPts val="1500"/>
                        </a:spcAft>
                      </a:pPr>
                      <a:r>
                        <a:rPr lang="en-IN" sz="1050" dirty="0">
                          <a:effectLst/>
                        </a:rPr>
                        <a:t>Boolean</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nchor="ctr"/>
                </a:tc>
                <a:tc>
                  <a:txBody>
                    <a:bodyPr/>
                    <a:lstStyle/>
                    <a:p>
                      <a:pPr>
                        <a:lnSpc>
                          <a:spcPct val="107000"/>
                        </a:lnSpc>
                        <a:spcAft>
                          <a:spcPts val="1500"/>
                        </a:spcAft>
                      </a:pPr>
                      <a:r>
                        <a:rPr lang="en-IN" sz="1050" dirty="0">
                          <a:effectLst/>
                        </a:rPr>
                        <a:t>(Optional) If true, automatically create index on _id fields. Default value is false.</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807484655"/>
                  </a:ext>
                </a:extLst>
              </a:tr>
              <a:tr h="526686">
                <a:tc>
                  <a:txBody>
                    <a:bodyPr/>
                    <a:lstStyle/>
                    <a:p>
                      <a:pPr algn="ctr">
                        <a:lnSpc>
                          <a:spcPct val="107000"/>
                        </a:lnSpc>
                        <a:spcAft>
                          <a:spcPts val="1500"/>
                        </a:spcAft>
                      </a:pPr>
                      <a:r>
                        <a:rPr lang="en-IN" sz="1050">
                          <a:effectLst/>
                        </a:rPr>
                        <a:t>size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nchor="ctr"/>
                </a:tc>
                <a:tc>
                  <a:txBody>
                    <a:bodyPr/>
                    <a:lstStyle/>
                    <a:p>
                      <a:pPr algn="ctr">
                        <a:lnSpc>
                          <a:spcPct val="107000"/>
                        </a:lnSpc>
                        <a:spcAft>
                          <a:spcPts val="1500"/>
                        </a:spcAft>
                      </a:pPr>
                      <a:r>
                        <a:rPr lang="en-IN" sz="1050" dirty="0">
                          <a:effectLst/>
                        </a:rPr>
                        <a:t>number</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nchor="ctr"/>
                </a:tc>
                <a:tc>
                  <a:txBody>
                    <a:bodyPr/>
                    <a:lstStyle/>
                    <a:p>
                      <a:pPr>
                        <a:lnSpc>
                          <a:spcPct val="107000"/>
                        </a:lnSpc>
                        <a:spcAft>
                          <a:spcPts val="1500"/>
                        </a:spcAft>
                      </a:pPr>
                      <a:r>
                        <a:rPr lang="en-IN" sz="1050">
                          <a:effectLst/>
                        </a:rPr>
                        <a:t>(Optional) Specifies a maximum size in bytes for a capped collection. If capped is true, then you need to specify this field also.</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688189768"/>
                  </a:ext>
                </a:extLst>
              </a:tr>
              <a:tr h="526686">
                <a:tc>
                  <a:txBody>
                    <a:bodyPr/>
                    <a:lstStyle/>
                    <a:p>
                      <a:pPr algn="ctr">
                        <a:lnSpc>
                          <a:spcPct val="107000"/>
                        </a:lnSpc>
                        <a:spcAft>
                          <a:spcPts val="1500"/>
                        </a:spcAft>
                      </a:pPr>
                      <a:r>
                        <a:rPr lang="en-IN" sz="1050">
                          <a:effectLst/>
                        </a:rPr>
                        <a:t>max</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nchor="ctr"/>
                </a:tc>
                <a:tc>
                  <a:txBody>
                    <a:bodyPr/>
                    <a:lstStyle/>
                    <a:p>
                      <a:pPr algn="ctr">
                        <a:lnSpc>
                          <a:spcPct val="107000"/>
                        </a:lnSpc>
                        <a:spcAft>
                          <a:spcPts val="1500"/>
                        </a:spcAft>
                      </a:pPr>
                      <a:r>
                        <a:rPr lang="en-IN" sz="1050" dirty="0">
                          <a:effectLst/>
                        </a:rPr>
                        <a:t>number</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nchor="ctr"/>
                </a:tc>
                <a:tc>
                  <a:txBody>
                    <a:bodyPr/>
                    <a:lstStyle/>
                    <a:p>
                      <a:pPr>
                        <a:lnSpc>
                          <a:spcPct val="107000"/>
                        </a:lnSpc>
                        <a:spcAft>
                          <a:spcPts val="1500"/>
                        </a:spcAft>
                      </a:pPr>
                      <a:r>
                        <a:rPr lang="en-IN" sz="1050" dirty="0">
                          <a:effectLst/>
                        </a:rPr>
                        <a:t>(Optional) Specifies the maximum number of documents allowed in the capped collection.</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837192797"/>
                  </a:ext>
                </a:extLst>
              </a:tr>
            </a:tbl>
          </a:graphicData>
        </a:graphic>
      </p:graphicFrame>
    </p:spTree>
    <p:extLst>
      <p:ext uri="{BB962C8B-B14F-4D97-AF65-F5344CB8AC3E}">
        <p14:creationId xmlns:p14="http://schemas.microsoft.com/office/powerpoint/2010/main" val="1236645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375146"/>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921027"/>
            <a:ext cx="7000459" cy="4577932"/>
          </a:xfrm>
        </p:spPr>
        <p:txBody>
          <a:bodyPr>
            <a:normAutofit fontScale="85000" lnSpcReduction="20000"/>
          </a:bodyPr>
          <a:lstStyle/>
          <a:p>
            <a:pPr marL="0" indent="0" algn="just">
              <a:buNone/>
            </a:pPr>
            <a:r>
              <a:rPr lang="en-IN" sz="1900" b="1" dirty="0">
                <a:effectLst>
                  <a:outerShdw blurRad="38100" dist="38100" dir="2700000" algn="tl">
                    <a:srgbClr val="000000">
                      <a:alpha val="43137"/>
                    </a:srgbClr>
                  </a:outerShdw>
                </a:effectLst>
              </a:rPr>
              <a:t>EXAMPLE: </a:t>
            </a:r>
            <a:r>
              <a:rPr lang="en-IN" dirty="0"/>
              <a:t> </a:t>
            </a:r>
          </a:p>
          <a:p>
            <a:pPr marL="0" indent="0" algn="just">
              <a:buNone/>
            </a:pPr>
            <a:r>
              <a:rPr lang="en-IN" dirty="0"/>
              <a:t>1. Without Options parameter – </a:t>
            </a:r>
          </a:p>
          <a:p>
            <a:pPr marL="0" indent="0" algn="ctr">
              <a:buNone/>
            </a:pPr>
            <a:r>
              <a:rPr lang="en-IN" sz="2100" b="1" i="1" dirty="0">
                <a:solidFill>
                  <a:schemeClr val="accent1"/>
                </a:solidFill>
                <a:effectLst>
                  <a:outerShdw blurRad="38100" dist="38100" dir="2700000" algn="tl">
                    <a:srgbClr val="000000">
                      <a:alpha val="43137"/>
                    </a:srgbClr>
                  </a:outerShdw>
                </a:effectLst>
              </a:rPr>
              <a:t>db.createCollection(‘Employees’);</a:t>
            </a:r>
          </a:p>
          <a:p>
            <a:pPr marL="0" indent="0" algn="just">
              <a:buNone/>
            </a:pPr>
            <a:r>
              <a:rPr lang="en-IN" dirty="0"/>
              <a:t>This will create the </a:t>
            </a:r>
            <a:r>
              <a:rPr lang="en-IN" b="1" dirty="0">
                <a:solidFill>
                  <a:schemeClr val="accent1"/>
                </a:solidFill>
                <a:effectLst>
                  <a:outerShdw blurRad="38100" dist="38100" dir="2700000" algn="tl">
                    <a:srgbClr val="000000">
                      <a:alpha val="43137"/>
                    </a:srgbClr>
                  </a:outerShdw>
                </a:effectLst>
              </a:rPr>
              <a:t>Employees</a:t>
            </a:r>
            <a:r>
              <a:rPr lang="en-IN" dirty="0"/>
              <a:t> collection.</a:t>
            </a:r>
          </a:p>
          <a:p>
            <a:pPr marL="0" indent="0" algn="just">
              <a:buNone/>
            </a:pPr>
            <a:endParaRPr lang="en-IN" dirty="0"/>
          </a:p>
          <a:p>
            <a:pPr marL="0" indent="0" algn="just">
              <a:buNone/>
            </a:pPr>
            <a:endParaRPr lang="en-IN" dirty="0"/>
          </a:p>
          <a:p>
            <a:pPr marL="0" indent="0" algn="just">
              <a:buNone/>
            </a:pPr>
            <a:endParaRPr lang="en-IN" dirty="0"/>
          </a:p>
          <a:p>
            <a:pPr marL="0" indent="0" algn="just">
              <a:buNone/>
            </a:pPr>
            <a:r>
              <a:rPr lang="en-IN" dirty="0"/>
              <a:t>2. With Options parameter</a:t>
            </a:r>
          </a:p>
          <a:p>
            <a:pPr marL="0" indent="0" algn="ctr">
              <a:buNone/>
            </a:pPr>
            <a:r>
              <a:rPr lang="en-IN" b="1" i="1" dirty="0">
                <a:solidFill>
                  <a:schemeClr val="accent1"/>
                </a:solidFill>
                <a:effectLst>
                  <a:outerShdw blurRad="38100" dist="38100" dir="2700000" algn="tl">
                    <a:srgbClr val="000000">
                      <a:alpha val="43137"/>
                    </a:srgbClr>
                  </a:outerShdw>
                </a:effectLst>
              </a:rPr>
              <a:t>db.createCollection(‘Employees’, {capped: true, autoIndexId: true, size:  6142800, max: 10000});</a:t>
            </a:r>
          </a:p>
          <a:p>
            <a:pPr marL="0" indent="0" algn="just">
              <a:buNone/>
            </a:pPr>
            <a:endParaRPr lang="en-IN" b="1" i="1" dirty="0">
              <a:solidFill>
                <a:schemeClr val="accent1"/>
              </a:solidFill>
              <a:effectLst>
                <a:outerShdw blurRad="38100" dist="38100" dir="2700000" algn="tl">
                  <a:srgbClr val="000000">
                    <a:alpha val="43137"/>
                  </a:srgbClr>
                </a:outerShdw>
              </a:effectLst>
            </a:endParaRPr>
          </a:p>
          <a:p>
            <a:pPr marL="0" indent="0" algn="just">
              <a:buNone/>
            </a:pPr>
            <a:endParaRPr lang="en-IN" dirty="0"/>
          </a:p>
          <a:p>
            <a:pPr marL="0" indent="0" algn="just">
              <a:buNone/>
            </a:pPr>
            <a:endParaRPr lang="en-IN" dirty="0"/>
          </a:p>
          <a:p>
            <a:pPr marL="0" indent="0" algn="just">
              <a:buNone/>
            </a:pPr>
            <a:endParaRPr lang="en-IN" dirty="0"/>
          </a:p>
          <a:p>
            <a:pPr marL="0" indent="0" algn="r">
              <a:buNone/>
            </a:pPr>
            <a:r>
              <a:rPr lang="en-IN" i="1" dirty="0"/>
              <a:t>…to be continued</a:t>
            </a:r>
          </a:p>
        </p:txBody>
      </p:sp>
      <p:pic>
        <p:nvPicPr>
          <p:cNvPr id="8" name="Picture 7">
            <a:extLst>
              <a:ext uri="{FF2B5EF4-FFF2-40B4-BE49-F238E27FC236}">
                <a16:creationId xmlns:a16="http://schemas.microsoft.com/office/drawing/2014/main" id="{66E1796B-79AF-4D4E-9136-D3D2F94DC813}"/>
              </a:ext>
            </a:extLst>
          </p:cNvPr>
          <p:cNvPicPr>
            <a:picLocks noChangeAspect="1"/>
          </p:cNvPicPr>
          <p:nvPr/>
        </p:nvPicPr>
        <p:blipFill>
          <a:blip r:embed="rId2"/>
          <a:stretch>
            <a:fillRect/>
          </a:stretch>
        </p:blipFill>
        <p:spPr>
          <a:xfrm>
            <a:off x="808455" y="2178062"/>
            <a:ext cx="5101026" cy="923392"/>
          </a:xfrm>
          <a:prstGeom prst="rect">
            <a:avLst/>
          </a:prstGeom>
        </p:spPr>
      </p:pic>
      <p:pic>
        <p:nvPicPr>
          <p:cNvPr id="10" name="Picture 9">
            <a:extLst>
              <a:ext uri="{FF2B5EF4-FFF2-40B4-BE49-F238E27FC236}">
                <a16:creationId xmlns:a16="http://schemas.microsoft.com/office/drawing/2014/main" id="{6AA966D2-8BE6-48BD-A62D-017961FD1419}"/>
              </a:ext>
            </a:extLst>
          </p:cNvPr>
          <p:cNvPicPr>
            <a:picLocks noChangeAspect="1"/>
          </p:cNvPicPr>
          <p:nvPr/>
        </p:nvPicPr>
        <p:blipFill>
          <a:blip r:embed="rId3"/>
          <a:stretch>
            <a:fillRect/>
          </a:stretch>
        </p:blipFill>
        <p:spPr>
          <a:xfrm>
            <a:off x="808455" y="3974883"/>
            <a:ext cx="5101026" cy="1033846"/>
          </a:xfrm>
          <a:prstGeom prst="rect">
            <a:avLst/>
          </a:prstGeom>
        </p:spPr>
      </p:pic>
    </p:spTree>
    <p:extLst>
      <p:ext uri="{BB962C8B-B14F-4D97-AF65-F5344CB8AC3E}">
        <p14:creationId xmlns:p14="http://schemas.microsoft.com/office/powerpoint/2010/main" val="3817288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375146"/>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921028"/>
            <a:ext cx="6851176" cy="4401600"/>
          </a:xfrm>
        </p:spPr>
        <p:txBody>
          <a:bodyPr>
            <a:normAutofit/>
          </a:bodyPr>
          <a:lstStyle/>
          <a:p>
            <a:pPr marL="0" indent="0" algn="just">
              <a:buNone/>
            </a:pPr>
            <a:r>
              <a:rPr lang="en-IN" sz="4200" b="1" dirty="0">
                <a:solidFill>
                  <a:schemeClr val="accent1"/>
                </a:solidFill>
                <a:effectLst>
                  <a:outerShdw blurRad="38100" dist="38100" dir="2700000" algn="tl">
                    <a:srgbClr val="000000">
                      <a:alpha val="43137"/>
                    </a:srgbClr>
                  </a:outerShdw>
                </a:effectLst>
              </a:rPr>
              <a:t>INSERT DOCUMENT</a:t>
            </a:r>
          </a:p>
          <a:p>
            <a:pPr marL="0" indent="0" algn="just">
              <a:buNone/>
            </a:pPr>
            <a:r>
              <a:rPr lang="en-IN" dirty="0"/>
              <a:t>For</a:t>
            </a:r>
            <a:r>
              <a:rPr lang="en-IN" dirty="0">
                <a:solidFill>
                  <a:schemeClr val="accent1"/>
                </a:solidFill>
              </a:rPr>
              <a:t> </a:t>
            </a:r>
            <a:r>
              <a:rPr lang="en-IN" dirty="0"/>
              <a:t>inserting the document in MongoDB collection, you need to write the following command:</a:t>
            </a:r>
          </a:p>
          <a:p>
            <a:pPr marL="0" indent="0" algn="ctr">
              <a:buNone/>
            </a:pPr>
            <a:r>
              <a:rPr lang="en-IN" sz="2000" b="1" i="1" dirty="0" err="1">
                <a:solidFill>
                  <a:schemeClr val="accent1"/>
                </a:solidFill>
                <a:effectLst>
                  <a:outerShdw blurRad="38100" dist="38100" dir="2700000" algn="tl">
                    <a:srgbClr val="000000">
                      <a:alpha val="43137"/>
                    </a:srgbClr>
                  </a:outerShdw>
                </a:effectLst>
              </a:rPr>
              <a:t>db.collection_name.insert</a:t>
            </a:r>
            <a:r>
              <a:rPr lang="en-IN" sz="2000" b="1" i="1" dirty="0">
                <a:solidFill>
                  <a:schemeClr val="accent1"/>
                </a:solidFill>
                <a:effectLst>
                  <a:outerShdw blurRad="38100" dist="38100" dir="2700000" algn="tl">
                    <a:srgbClr val="000000">
                      <a:alpha val="43137"/>
                    </a:srgbClr>
                  </a:outerShdw>
                </a:effectLst>
              </a:rPr>
              <a:t>(document)</a:t>
            </a:r>
          </a:p>
          <a:p>
            <a:pPr marL="0" indent="0" algn="just">
              <a:buNone/>
            </a:pPr>
            <a:r>
              <a:rPr lang="en-IN" dirty="0"/>
              <a:t>Where in place of collection name you can place your collection name.</a:t>
            </a:r>
          </a:p>
          <a:p>
            <a:pPr marL="0" indent="0" algn="ctr">
              <a:buNone/>
            </a:pPr>
            <a:r>
              <a:rPr lang="en-IN" b="1" i="1" dirty="0" err="1">
                <a:solidFill>
                  <a:schemeClr val="accent1"/>
                </a:solidFill>
                <a:effectLst>
                  <a:outerShdw blurRad="38100" dist="38100" dir="2700000" algn="tl">
                    <a:srgbClr val="000000">
                      <a:alpha val="43137"/>
                    </a:srgbClr>
                  </a:outerShdw>
                </a:effectLst>
              </a:rPr>
              <a:t>db.Employees.insert</a:t>
            </a:r>
            <a:r>
              <a:rPr lang="en-IN" b="1" i="1" dirty="0">
                <a:solidFill>
                  <a:schemeClr val="accent1"/>
                </a:solidFill>
                <a:effectLst>
                  <a:outerShdw blurRad="38100" dist="38100" dir="2700000" algn="tl">
                    <a:srgbClr val="000000">
                      <a:alpha val="43137"/>
                    </a:srgbClr>
                  </a:outerShdw>
                </a:effectLst>
              </a:rPr>
              <a:t>({‘name’: ‘John Doe’, ‘empId’: ‘HL0014’})</a:t>
            </a:r>
          </a:p>
          <a:p>
            <a:pPr marL="0" indent="0" algn="just">
              <a:buNone/>
            </a:pPr>
            <a:endParaRPr lang="en-IN" dirty="0"/>
          </a:p>
          <a:p>
            <a:pPr marL="0" indent="0" algn="just">
              <a:buNone/>
            </a:pPr>
            <a:endParaRPr lang="en-IN" dirty="0"/>
          </a:p>
          <a:p>
            <a:pPr marL="0" indent="0" algn="just">
              <a:buNone/>
            </a:pPr>
            <a:endParaRPr lang="en-IN" dirty="0"/>
          </a:p>
          <a:p>
            <a:pPr marL="0" indent="0" algn="r">
              <a:buNone/>
            </a:pPr>
            <a:r>
              <a:rPr lang="en-IN" i="1" dirty="0"/>
              <a:t>…to be continued</a:t>
            </a:r>
          </a:p>
        </p:txBody>
      </p:sp>
      <p:pic>
        <p:nvPicPr>
          <p:cNvPr id="5" name="Picture 4">
            <a:extLst>
              <a:ext uri="{FF2B5EF4-FFF2-40B4-BE49-F238E27FC236}">
                <a16:creationId xmlns:a16="http://schemas.microsoft.com/office/drawing/2014/main" id="{366BE32A-EA45-4AF7-8FCF-C843CC657E9A}"/>
              </a:ext>
            </a:extLst>
          </p:cNvPr>
          <p:cNvPicPr>
            <a:picLocks noChangeAspect="1"/>
          </p:cNvPicPr>
          <p:nvPr/>
        </p:nvPicPr>
        <p:blipFill>
          <a:blip r:embed="rId2"/>
          <a:stretch>
            <a:fillRect/>
          </a:stretch>
        </p:blipFill>
        <p:spPr>
          <a:xfrm>
            <a:off x="818866" y="3937379"/>
            <a:ext cx="6718112" cy="948520"/>
          </a:xfrm>
          <a:prstGeom prst="rect">
            <a:avLst/>
          </a:prstGeom>
        </p:spPr>
      </p:pic>
    </p:spTree>
    <p:extLst>
      <p:ext uri="{BB962C8B-B14F-4D97-AF65-F5344CB8AC3E}">
        <p14:creationId xmlns:p14="http://schemas.microsoft.com/office/powerpoint/2010/main" val="29015542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375146"/>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668740"/>
            <a:ext cx="7025183" cy="4790364"/>
          </a:xfrm>
        </p:spPr>
        <p:txBody>
          <a:bodyPr>
            <a:normAutofit lnSpcReduction="10000"/>
          </a:bodyPr>
          <a:lstStyle/>
          <a:p>
            <a:pPr marL="0" indent="0" algn="just">
              <a:buNone/>
            </a:pPr>
            <a:r>
              <a:rPr lang="en-IN" sz="3200" b="1" dirty="0">
                <a:solidFill>
                  <a:schemeClr val="accent1"/>
                </a:solidFill>
                <a:effectLst>
                  <a:outerShdw blurRad="38100" dist="38100" dir="2700000" algn="tl">
                    <a:srgbClr val="000000">
                      <a:alpha val="43137"/>
                    </a:srgbClr>
                  </a:outerShdw>
                </a:effectLst>
              </a:rPr>
              <a:t>INSERT DOCUMENT</a:t>
            </a:r>
          </a:p>
          <a:p>
            <a:pPr marL="0" indent="0" algn="just">
              <a:buNone/>
            </a:pPr>
            <a:r>
              <a:rPr lang="en-IN" dirty="0"/>
              <a:t>To insert multiple documents inside a single query, you must pass an array of documents in the insert() command:</a:t>
            </a:r>
          </a:p>
          <a:p>
            <a:pPr marL="0" indent="0" algn="ctr">
              <a:buNone/>
            </a:pPr>
            <a:r>
              <a:rPr lang="en-IN" sz="2000" b="1" i="1" dirty="0" err="1">
                <a:solidFill>
                  <a:schemeClr val="accent1"/>
                </a:solidFill>
                <a:effectLst>
                  <a:outerShdw blurRad="38100" dist="38100" dir="2700000" algn="tl">
                    <a:srgbClr val="000000">
                      <a:alpha val="43137"/>
                    </a:srgbClr>
                  </a:outerShdw>
                </a:effectLst>
              </a:rPr>
              <a:t>db.Employees.insert</a:t>
            </a:r>
            <a:r>
              <a:rPr lang="en-IN" sz="2000" b="1" i="1" dirty="0">
                <a:solidFill>
                  <a:schemeClr val="accent1"/>
                </a:solidFill>
                <a:effectLst>
                  <a:outerShdw blurRad="38100" dist="38100" dir="2700000" algn="tl">
                    <a:srgbClr val="000000">
                      <a:alpha val="43137"/>
                    </a:srgbClr>
                  </a:outerShdw>
                </a:effectLst>
              </a:rPr>
              <a:t>([{'name': 'John Smith', 'empId': 'HL0015'},{'name': '</a:t>
            </a:r>
            <a:r>
              <a:rPr lang="en-IN" sz="2000" b="1" i="1" dirty="0" err="1">
                <a:solidFill>
                  <a:schemeClr val="accent1"/>
                </a:solidFill>
                <a:effectLst>
                  <a:outerShdw blurRad="38100" dist="38100" dir="2700000" algn="tl">
                    <a:srgbClr val="000000">
                      <a:alpha val="43137"/>
                    </a:srgbClr>
                  </a:outerShdw>
                </a:effectLst>
              </a:rPr>
              <a:t>Dwane</a:t>
            </a:r>
            <a:r>
              <a:rPr lang="en-IN" sz="2000" b="1" i="1" dirty="0">
                <a:solidFill>
                  <a:schemeClr val="accent1"/>
                </a:solidFill>
                <a:effectLst>
                  <a:outerShdw blurRad="38100" dist="38100" dir="2700000" algn="tl">
                    <a:srgbClr val="000000">
                      <a:alpha val="43137"/>
                    </a:srgbClr>
                  </a:outerShdw>
                </a:effectLst>
              </a:rPr>
              <a:t> Simmons', 'empId': 'HL0016'}]);</a:t>
            </a: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just">
              <a:buNone/>
            </a:pPr>
            <a:endParaRPr lang="en-IN" dirty="0"/>
          </a:p>
          <a:p>
            <a:pPr marL="0" indent="0" algn="just">
              <a:buNone/>
            </a:pPr>
            <a:endParaRPr lang="en-IN" dirty="0"/>
          </a:p>
          <a:p>
            <a:pPr marL="0" indent="0" algn="r">
              <a:buNone/>
            </a:pPr>
            <a:r>
              <a:rPr lang="en-IN" i="1" dirty="0"/>
              <a:t>…to be continued</a:t>
            </a:r>
          </a:p>
        </p:txBody>
      </p:sp>
      <p:pic>
        <p:nvPicPr>
          <p:cNvPr id="6" name="Picture 5">
            <a:extLst>
              <a:ext uri="{FF2B5EF4-FFF2-40B4-BE49-F238E27FC236}">
                <a16:creationId xmlns:a16="http://schemas.microsoft.com/office/drawing/2014/main" id="{0E3720CD-B119-4E22-B778-23ABC5768BD0}"/>
              </a:ext>
            </a:extLst>
          </p:cNvPr>
          <p:cNvPicPr>
            <a:picLocks noChangeAspect="1"/>
          </p:cNvPicPr>
          <p:nvPr/>
        </p:nvPicPr>
        <p:blipFill>
          <a:blip r:embed="rId2"/>
          <a:stretch>
            <a:fillRect/>
          </a:stretch>
        </p:blipFill>
        <p:spPr>
          <a:xfrm>
            <a:off x="685802" y="2743201"/>
            <a:ext cx="7025183" cy="2210936"/>
          </a:xfrm>
          <a:prstGeom prst="rect">
            <a:avLst/>
          </a:prstGeom>
        </p:spPr>
      </p:pic>
    </p:spTree>
    <p:extLst>
      <p:ext uri="{BB962C8B-B14F-4D97-AF65-F5344CB8AC3E}">
        <p14:creationId xmlns:p14="http://schemas.microsoft.com/office/powerpoint/2010/main" val="1553002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375146"/>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832342"/>
            <a:ext cx="7188956" cy="4845127"/>
          </a:xfrm>
        </p:spPr>
        <p:txBody>
          <a:bodyPr>
            <a:normAutofit fontScale="92500" lnSpcReduction="10000"/>
          </a:bodyPr>
          <a:lstStyle/>
          <a:p>
            <a:pPr marL="0" indent="0" algn="just">
              <a:buNone/>
            </a:pPr>
            <a:r>
              <a:rPr lang="en-IN" sz="3200" b="1" dirty="0">
                <a:solidFill>
                  <a:schemeClr val="accent1"/>
                </a:solidFill>
                <a:effectLst>
                  <a:outerShdw blurRad="38100" dist="38100" dir="2700000" algn="tl">
                    <a:srgbClr val="000000">
                      <a:alpha val="43137"/>
                    </a:srgbClr>
                  </a:outerShdw>
                </a:effectLst>
              </a:rPr>
              <a:t>UPDATE</a:t>
            </a:r>
          </a:p>
          <a:p>
            <a:pPr marL="0" indent="0" algn="just">
              <a:buNone/>
            </a:pPr>
            <a:r>
              <a:rPr lang="en-IN" dirty="0"/>
              <a:t>For updating any document, an </a:t>
            </a:r>
            <a:r>
              <a:rPr lang="en-IN" b="1" i="1" dirty="0">
                <a:effectLst>
                  <a:outerShdw blurRad="38100" dist="38100" dir="2700000" algn="tl">
                    <a:srgbClr val="000000">
                      <a:alpha val="43137"/>
                    </a:srgbClr>
                  </a:outerShdw>
                </a:effectLst>
              </a:rPr>
              <a:t>update() </a:t>
            </a:r>
            <a:r>
              <a:rPr lang="en-IN" dirty="0"/>
              <a:t>or </a:t>
            </a:r>
            <a:r>
              <a:rPr lang="en-IN" b="1" i="1" dirty="0">
                <a:effectLst>
                  <a:outerShdw blurRad="38100" dist="38100" dir="2700000" algn="tl">
                    <a:srgbClr val="000000">
                      <a:alpha val="43137"/>
                    </a:srgbClr>
                  </a:outerShdw>
                </a:effectLst>
              </a:rPr>
              <a:t>save() </a:t>
            </a:r>
            <a:r>
              <a:rPr lang="en-IN" dirty="0"/>
              <a:t>method is used:</a:t>
            </a:r>
          </a:p>
          <a:p>
            <a:pPr marL="0" indent="0" algn="ctr">
              <a:buNone/>
            </a:pPr>
            <a:r>
              <a:rPr lang="en-IN" sz="2000" b="1" i="1" dirty="0" err="1">
                <a:solidFill>
                  <a:schemeClr val="accent1"/>
                </a:solidFill>
                <a:effectLst>
                  <a:outerShdw blurRad="38100" dist="38100" dir="2700000" algn="tl">
                    <a:srgbClr val="000000">
                      <a:alpha val="43137"/>
                    </a:srgbClr>
                  </a:outerShdw>
                </a:effectLst>
              </a:rPr>
              <a:t>db.Employees.update</a:t>
            </a:r>
            <a:r>
              <a:rPr lang="en-IN" sz="2000" b="1" i="1" dirty="0">
                <a:solidFill>
                  <a:schemeClr val="accent1"/>
                </a:solidFill>
                <a:effectLst>
                  <a:outerShdw blurRad="38100" dist="38100" dir="2700000" algn="tl">
                    <a:srgbClr val="000000">
                      <a:alpha val="43137"/>
                    </a:srgbClr>
                  </a:outerShdw>
                </a:effectLst>
              </a:rPr>
              <a:t>({'name': 'John Smith’},{$set:{'name': 'John Smith Carlos’}});</a:t>
            </a: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just">
              <a:buNone/>
            </a:pPr>
            <a:r>
              <a:rPr lang="en-IN" sz="2000" b="1" i="1" dirty="0">
                <a:effectLst>
                  <a:outerShdw blurRad="38100" dist="38100" dir="2700000" algn="tl">
                    <a:srgbClr val="000000">
                      <a:alpha val="43137"/>
                    </a:srgbClr>
                  </a:outerShdw>
                </a:effectLst>
              </a:rPr>
              <a:t>NOTE: By default mongodb will update only a single document. To update multiple documents , there is a need to set the  ‘multi’  parameter to true.</a:t>
            </a:r>
          </a:p>
          <a:p>
            <a:pPr marL="0" indent="0" algn="ctr">
              <a:buNone/>
            </a:pPr>
            <a:r>
              <a:rPr lang="en-IN" b="1" i="1" dirty="0" err="1">
                <a:solidFill>
                  <a:schemeClr val="accent1"/>
                </a:solidFill>
                <a:effectLst>
                  <a:outerShdw blurRad="38100" dist="38100" dir="2700000" algn="tl">
                    <a:srgbClr val="000000">
                      <a:alpha val="43137"/>
                    </a:srgbClr>
                  </a:outerShdw>
                </a:effectLst>
              </a:rPr>
              <a:t>db.Employees.update</a:t>
            </a:r>
            <a:r>
              <a:rPr lang="en-IN" b="1" i="1" dirty="0">
                <a:solidFill>
                  <a:schemeClr val="accent1"/>
                </a:solidFill>
                <a:effectLst>
                  <a:outerShdw blurRad="38100" dist="38100" dir="2700000" algn="tl">
                    <a:srgbClr val="000000">
                      <a:alpha val="43137"/>
                    </a:srgbClr>
                  </a:outerShdw>
                </a:effectLst>
              </a:rPr>
              <a:t>({'name': 'John Smith’},{$set:{'name': 'John Smith Carlos’}}, {multi: true});</a:t>
            </a:r>
            <a:endParaRPr lang="en-IN" dirty="0"/>
          </a:p>
          <a:p>
            <a:pPr marL="0" indent="0" algn="r">
              <a:buNone/>
            </a:pPr>
            <a:r>
              <a:rPr lang="en-IN" i="1" dirty="0"/>
              <a:t>…to be continued</a:t>
            </a:r>
          </a:p>
        </p:txBody>
      </p:sp>
      <p:pic>
        <p:nvPicPr>
          <p:cNvPr id="5" name="Picture 4">
            <a:extLst>
              <a:ext uri="{FF2B5EF4-FFF2-40B4-BE49-F238E27FC236}">
                <a16:creationId xmlns:a16="http://schemas.microsoft.com/office/drawing/2014/main" id="{233DA4D7-C1E1-4826-AC96-FC29F8EEEAB0}"/>
              </a:ext>
            </a:extLst>
          </p:cNvPr>
          <p:cNvPicPr>
            <a:picLocks noChangeAspect="1"/>
          </p:cNvPicPr>
          <p:nvPr/>
        </p:nvPicPr>
        <p:blipFill>
          <a:blip r:embed="rId2"/>
          <a:stretch>
            <a:fillRect/>
          </a:stretch>
        </p:blipFill>
        <p:spPr>
          <a:xfrm>
            <a:off x="685802" y="2547172"/>
            <a:ext cx="7188956" cy="1100193"/>
          </a:xfrm>
          <a:prstGeom prst="rect">
            <a:avLst/>
          </a:prstGeom>
        </p:spPr>
      </p:pic>
    </p:spTree>
    <p:extLst>
      <p:ext uri="{BB962C8B-B14F-4D97-AF65-F5344CB8AC3E}">
        <p14:creationId xmlns:p14="http://schemas.microsoft.com/office/powerpoint/2010/main" val="18664224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375146"/>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832342"/>
            <a:ext cx="7311786" cy="4735945"/>
          </a:xfrm>
        </p:spPr>
        <p:txBody>
          <a:bodyPr>
            <a:normAutofit fontScale="85000" lnSpcReduction="10000"/>
          </a:bodyPr>
          <a:lstStyle/>
          <a:p>
            <a:pPr marL="0" indent="0" algn="just">
              <a:buNone/>
            </a:pPr>
            <a:r>
              <a:rPr lang="en-IN" sz="3200" b="1" dirty="0">
                <a:solidFill>
                  <a:schemeClr val="accent1"/>
                </a:solidFill>
                <a:effectLst>
                  <a:outerShdw blurRad="38100" dist="38100" dir="2700000" algn="tl">
                    <a:srgbClr val="000000">
                      <a:alpha val="43137"/>
                    </a:srgbClr>
                  </a:outerShdw>
                </a:effectLst>
              </a:rPr>
              <a:t>UPDATE</a:t>
            </a:r>
          </a:p>
          <a:p>
            <a:pPr marL="0" indent="0" algn="just">
              <a:buNone/>
            </a:pPr>
            <a:r>
              <a:rPr lang="en-IN" b="1" dirty="0">
                <a:effectLst>
                  <a:outerShdw blurRad="38100" dist="38100" dir="2700000" algn="tl">
                    <a:srgbClr val="000000">
                      <a:alpha val="43137"/>
                    </a:srgbClr>
                  </a:outerShdw>
                </a:effectLst>
              </a:rPr>
              <a:t>Using save() method:</a:t>
            </a:r>
          </a:p>
          <a:p>
            <a:pPr marL="0" indent="0" algn="just">
              <a:buNone/>
            </a:pPr>
            <a:r>
              <a:rPr lang="en-IN" dirty="0"/>
              <a:t>Save method will replace the existing document with the new document  passed in the  save() method.</a:t>
            </a:r>
          </a:p>
          <a:p>
            <a:pPr marL="0" indent="0" algn="ctr">
              <a:buNone/>
            </a:pPr>
            <a:r>
              <a:rPr lang="en-IN" sz="2000" b="1" i="1" dirty="0" err="1">
                <a:solidFill>
                  <a:schemeClr val="accent1"/>
                </a:solidFill>
                <a:effectLst>
                  <a:outerShdw blurRad="38100" dist="38100" dir="2700000" algn="tl">
                    <a:srgbClr val="000000">
                      <a:alpha val="43137"/>
                    </a:srgbClr>
                  </a:outerShdw>
                </a:effectLst>
              </a:rPr>
              <a:t>db.Employees.save</a:t>
            </a:r>
            <a:r>
              <a:rPr lang="en-IN" sz="2000" b="1" i="1" dirty="0">
                <a:solidFill>
                  <a:schemeClr val="accent1"/>
                </a:solidFill>
                <a:effectLst>
                  <a:outerShdw blurRad="38100" dist="38100" dir="2700000" algn="tl">
                    <a:srgbClr val="000000">
                      <a:alpha val="43137"/>
                    </a:srgbClr>
                  </a:outerShdw>
                </a:effectLst>
              </a:rPr>
              <a:t>({"_id" : ObjectId("5bef7ca23a929140015e491f"),'name': 'John Smith Carlos', 'empId':'HL0017’});</a:t>
            </a: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just">
              <a:buNone/>
            </a:pPr>
            <a:endParaRPr lang="en-IN" sz="2000" b="1" i="1" dirty="0">
              <a:effectLst>
                <a:outerShdw blurRad="38100" dist="38100" dir="2700000" algn="tl">
                  <a:srgbClr val="000000">
                    <a:alpha val="43137"/>
                  </a:srgbClr>
                </a:outerShdw>
              </a:effectLst>
            </a:endParaRPr>
          </a:p>
          <a:p>
            <a:pPr marL="0" indent="0" algn="just">
              <a:buNone/>
            </a:pPr>
            <a:endParaRPr lang="en-IN" sz="2000" b="1" i="1" dirty="0">
              <a:effectLst>
                <a:outerShdw blurRad="38100" dist="38100" dir="2700000" algn="tl">
                  <a:srgbClr val="000000">
                    <a:alpha val="43137"/>
                  </a:srgbClr>
                </a:outerShdw>
              </a:effectLst>
            </a:endParaRPr>
          </a:p>
          <a:p>
            <a:pPr marL="0" indent="0" algn="just">
              <a:buNone/>
            </a:pPr>
            <a:r>
              <a:rPr lang="en-IN" sz="2000" b="1" i="1" dirty="0">
                <a:effectLst>
                  <a:outerShdw blurRad="38100" dist="38100" dir="2700000" algn="tl">
                    <a:srgbClr val="000000">
                      <a:alpha val="43137"/>
                    </a:srgbClr>
                  </a:outerShdw>
                </a:effectLst>
              </a:rPr>
              <a:t>NOTE: If Save method is used without _id, then it will update the document else it will insert a document.</a:t>
            </a:r>
            <a:endParaRPr lang="en-IN" dirty="0"/>
          </a:p>
          <a:p>
            <a:pPr marL="0" indent="0" algn="r">
              <a:buNone/>
            </a:pPr>
            <a:r>
              <a:rPr lang="en-IN" i="1" dirty="0"/>
              <a:t>…to be continued</a:t>
            </a:r>
          </a:p>
        </p:txBody>
      </p:sp>
      <p:pic>
        <p:nvPicPr>
          <p:cNvPr id="8" name="Picture 7">
            <a:extLst>
              <a:ext uri="{FF2B5EF4-FFF2-40B4-BE49-F238E27FC236}">
                <a16:creationId xmlns:a16="http://schemas.microsoft.com/office/drawing/2014/main" id="{8BE5419B-807B-4922-9099-CA2170822DE3}"/>
              </a:ext>
            </a:extLst>
          </p:cNvPr>
          <p:cNvPicPr>
            <a:picLocks noChangeAspect="1"/>
          </p:cNvPicPr>
          <p:nvPr/>
        </p:nvPicPr>
        <p:blipFill>
          <a:blip r:embed="rId2"/>
          <a:stretch>
            <a:fillRect/>
          </a:stretch>
        </p:blipFill>
        <p:spPr>
          <a:xfrm>
            <a:off x="685802" y="2832219"/>
            <a:ext cx="7188956" cy="1767076"/>
          </a:xfrm>
          <a:prstGeom prst="rect">
            <a:avLst/>
          </a:prstGeom>
        </p:spPr>
      </p:pic>
    </p:spTree>
    <p:extLst>
      <p:ext uri="{BB962C8B-B14F-4D97-AF65-F5344CB8AC3E}">
        <p14:creationId xmlns:p14="http://schemas.microsoft.com/office/powerpoint/2010/main" val="6837642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375146"/>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832342"/>
            <a:ext cx="7311786" cy="4613115"/>
          </a:xfrm>
        </p:spPr>
        <p:txBody>
          <a:bodyPr>
            <a:normAutofit/>
          </a:bodyPr>
          <a:lstStyle/>
          <a:p>
            <a:pPr marL="0" indent="0" algn="just">
              <a:buNone/>
            </a:pPr>
            <a:r>
              <a:rPr lang="en-IN" sz="3200" b="1" dirty="0">
                <a:solidFill>
                  <a:schemeClr val="accent1"/>
                </a:solidFill>
                <a:effectLst>
                  <a:outerShdw blurRad="38100" dist="38100" dir="2700000" algn="tl">
                    <a:srgbClr val="000000">
                      <a:alpha val="43137"/>
                    </a:srgbClr>
                  </a:outerShdw>
                </a:effectLst>
              </a:rPr>
              <a:t>DELETE</a:t>
            </a:r>
          </a:p>
          <a:p>
            <a:pPr marL="0" indent="0" algn="just">
              <a:buNone/>
            </a:pPr>
            <a:r>
              <a:rPr lang="en-IN" dirty="0"/>
              <a:t>To delete a document , MongoDB has </a:t>
            </a:r>
            <a:r>
              <a:rPr lang="en-IN" sz="1900" b="1" dirty="0">
                <a:solidFill>
                  <a:schemeClr val="accent1"/>
                </a:solidFill>
                <a:effectLst>
                  <a:outerShdw blurRad="38100" dist="38100" dir="2700000" algn="tl">
                    <a:srgbClr val="000000">
                      <a:alpha val="43137"/>
                    </a:srgbClr>
                  </a:outerShdw>
                </a:effectLst>
              </a:rPr>
              <a:t>remove() </a:t>
            </a:r>
            <a:r>
              <a:rPr lang="en-IN" dirty="0"/>
              <a:t>method.</a:t>
            </a:r>
          </a:p>
          <a:p>
            <a:pPr marL="0" indent="0" algn="ctr">
              <a:buNone/>
            </a:pPr>
            <a:r>
              <a:rPr lang="en-IN" sz="2000" b="1" i="1" dirty="0" err="1">
                <a:solidFill>
                  <a:schemeClr val="accent1"/>
                </a:solidFill>
                <a:effectLst>
                  <a:outerShdw blurRad="38100" dist="38100" dir="2700000" algn="tl">
                    <a:srgbClr val="000000">
                      <a:alpha val="43137"/>
                    </a:srgbClr>
                  </a:outerShdw>
                </a:effectLst>
              </a:rPr>
              <a:t>db.Employees.remove</a:t>
            </a:r>
            <a:r>
              <a:rPr lang="en-IN" sz="2000" b="1" i="1" dirty="0">
                <a:solidFill>
                  <a:schemeClr val="accent1"/>
                </a:solidFill>
                <a:effectLst>
                  <a:outerShdw blurRad="38100" dist="38100" dir="2700000" algn="tl">
                    <a:srgbClr val="000000">
                      <a:alpha val="43137"/>
                    </a:srgbClr>
                  </a:outerShdw>
                </a:effectLst>
              </a:rPr>
              <a:t>({'name': 'John Smith Carlos’});</a:t>
            </a: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just">
              <a:buNone/>
            </a:pPr>
            <a:endParaRPr lang="en-IN" dirty="0"/>
          </a:p>
          <a:p>
            <a:pPr marL="0" indent="0" algn="just">
              <a:buNone/>
            </a:pPr>
            <a:r>
              <a:rPr lang="en-IN" dirty="0"/>
              <a:t>This will remove all the documents matching with the conditions.</a:t>
            </a:r>
          </a:p>
          <a:p>
            <a:pPr marL="0" indent="0" algn="just">
              <a:buNone/>
            </a:pPr>
            <a:r>
              <a:rPr lang="en-IN" dirty="0"/>
              <a:t>To remove only one matching document there is </a:t>
            </a:r>
            <a:r>
              <a:rPr lang="en-IN" b="1" dirty="0" err="1">
                <a:solidFill>
                  <a:schemeClr val="accent1"/>
                </a:solidFill>
                <a:effectLst>
                  <a:outerShdw blurRad="38100" dist="38100" dir="2700000" algn="tl">
                    <a:srgbClr val="000000">
                      <a:alpha val="43137"/>
                    </a:srgbClr>
                  </a:outerShdw>
                </a:effectLst>
              </a:rPr>
              <a:t>deleteOne</a:t>
            </a:r>
            <a:r>
              <a:rPr lang="en-IN" b="1" dirty="0">
                <a:solidFill>
                  <a:schemeClr val="accent1"/>
                </a:solidFill>
                <a:effectLst>
                  <a:outerShdw blurRad="38100" dist="38100" dir="2700000" algn="tl">
                    <a:srgbClr val="000000">
                      <a:alpha val="43137"/>
                    </a:srgbClr>
                  </a:outerShdw>
                </a:effectLst>
              </a:rPr>
              <a:t>() </a:t>
            </a:r>
            <a:r>
              <a:rPr lang="en-IN" dirty="0"/>
              <a:t>method or </a:t>
            </a:r>
            <a:r>
              <a:rPr lang="en-IN" b="1" dirty="0">
                <a:solidFill>
                  <a:schemeClr val="accent1"/>
                </a:solidFill>
                <a:effectLst>
                  <a:outerShdw blurRad="38100" dist="38100" dir="2700000" algn="tl">
                    <a:srgbClr val="000000">
                      <a:alpha val="43137"/>
                    </a:srgbClr>
                  </a:outerShdw>
                </a:effectLst>
              </a:rPr>
              <a:t>remove() </a:t>
            </a:r>
            <a:r>
              <a:rPr lang="en-IN" dirty="0"/>
              <a:t>method with </a:t>
            </a:r>
            <a:r>
              <a:rPr lang="en-IN" b="1" dirty="0" err="1">
                <a:solidFill>
                  <a:schemeClr val="accent1"/>
                </a:solidFill>
              </a:rPr>
              <a:t>justOne</a:t>
            </a:r>
            <a:r>
              <a:rPr lang="en-IN" dirty="0"/>
              <a:t> parameter.</a:t>
            </a:r>
          </a:p>
          <a:p>
            <a:pPr marL="0" indent="0" algn="r">
              <a:buNone/>
            </a:pPr>
            <a:r>
              <a:rPr lang="en-IN" i="1" dirty="0"/>
              <a:t>…to be continued</a:t>
            </a:r>
          </a:p>
        </p:txBody>
      </p:sp>
      <p:pic>
        <p:nvPicPr>
          <p:cNvPr id="9" name="Picture 8">
            <a:extLst>
              <a:ext uri="{FF2B5EF4-FFF2-40B4-BE49-F238E27FC236}">
                <a16:creationId xmlns:a16="http://schemas.microsoft.com/office/drawing/2014/main" id="{28997BBC-C7B1-4F04-8519-A766786C8AE0}"/>
              </a:ext>
            </a:extLst>
          </p:cNvPr>
          <p:cNvPicPr>
            <a:picLocks noChangeAspect="1"/>
          </p:cNvPicPr>
          <p:nvPr/>
        </p:nvPicPr>
        <p:blipFill>
          <a:blip r:embed="rId2"/>
          <a:stretch>
            <a:fillRect/>
          </a:stretch>
        </p:blipFill>
        <p:spPr>
          <a:xfrm>
            <a:off x="685802" y="2311948"/>
            <a:ext cx="7216252" cy="1686846"/>
          </a:xfrm>
          <a:prstGeom prst="rect">
            <a:avLst/>
          </a:prstGeom>
        </p:spPr>
      </p:pic>
    </p:spTree>
    <p:extLst>
      <p:ext uri="{BB962C8B-B14F-4D97-AF65-F5344CB8AC3E}">
        <p14:creationId xmlns:p14="http://schemas.microsoft.com/office/powerpoint/2010/main" val="8676474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375146"/>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3" y="832343"/>
            <a:ext cx="6533863" cy="4776888"/>
          </a:xfrm>
        </p:spPr>
        <p:txBody>
          <a:bodyPr>
            <a:normAutofit fontScale="77500" lnSpcReduction="20000"/>
          </a:bodyPr>
          <a:lstStyle/>
          <a:p>
            <a:pPr marL="0" indent="0" algn="just">
              <a:buNone/>
            </a:pPr>
            <a:r>
              <a:rPr lang="en-IN" sz="3200" b="1" dirty="0">
                <a:solidFill>
                  <a:schemeClr val="accent1"/>
                </a:solidFill>
                <a:effectLst>
                  <a:outerShdw blurRad="38100" dist="38100" dir="2700000" algn="tl">
                    <a:srgbClr val="000000">
                      <a:alpha val="43137"/>
                    </a:srgbClr>
                  </a:outerShdw>
                </a:effectLst>
              </a:rPr>
              <a:t>DELETE</a:t>
            </a:r>
          </a:p>
          <a:p>
            <a:pPr marL="0" indent="0" algn="just">
              <a:buNone/>
            </a:pPr>
            <a:r>
              <a:rPr lang="en-IN" dirty="0"/>
              <a:t>To delete a document , MongoDB has </a:t>
            </a:r>
            <a:r>
              <a:rPr lang="en-IN" sz="1900" b="1" dirty="0">
                <a:solidFill>
                  <a:schemeClr val="accent1"/>
                </a:solidFill>
                <a:effectLst>
                  <a:outerShdw blurRad="38100" dist="38100" dir="2700000" algn="tl">
                    <a:srgbClr val="000000">
                      <a:alpha val="43137"/>
                    </a:srgbClr>
                  </a:outerShdw>
                </a:effectLst>
              </a:rPr>
              <a:t>remove() </a:t>
            </a:r>
            <a:r>
              <a:rPr lang="en-IN" dirty="0"/>
              <a:t>method.</a:t>
            </a:r>
          </a:p>
          <a:p>
            <a:pPr marL="0" indent="0" algn="ctr">
              <a:buNone/>
            </a:pPr>
            <a:r>
              <a:rPr lang="en-IN" sz="2000" b="1" i="1" dirty="0" err="1">
                <a:solidFill>
                  <a:schemeClr val="accent1"/>
                </a:solidFill>
                <a:effectLst>
                  <a:outerShdw blurRad="38100" dist="38100" dir="2700000" algn="tl">
                    <a:srgbClr val="000000">
                      <a:alpha val="43137"/>
                    </a:srgbClr>
                  </a:outerShdw>
                </a:effectLst>
              </a:rPr>
              <a:t>db.Employees.deleteOne</a:t>
            </a:r>
            <a:r>
              <a:rPr lang="en-IN" sz="2000" b="1" i="1" dirty="0">
                <a:solidFill>
                  <a:schemeClr val="accent1"/>
                </a:solidFill>
                <a:effectLst>
                  <a:outerShdw blurRad="38100" dist="38100" dir="2700000" algn="tl">
                    <a:srgbClr val="000000">
                      <a:alpha val="43137"/>
                    </a:srgbClr>
                  </a:outerShdw>
                </a:effectLst>
              </a:rPr>
              <a:t>({'name': 'John Smith Carlos’});</a:t>
            </a: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ctr">
              <a:buNone/>
            </a:pPr>
            <a:endParaRPr lang="en-IN" sz="2000" b="1" i="1" dirty="0">
              <a:solidFill>
                <a:schemeClr val="accent1"/>
              </a:solidFill>
              <a:effectLst>
                <a:outerShdw blurRad="38100" dist="38100" dir="2700000" algn="tl">
                  <a:srgbClr val="000000">
                    <a:alpha val="43137"/>
                  </a:srgbClr>
                </a:outerShdw>
              </a:effectLst>
            </a:endParaRPr>
          </a:p>
          <a:p>
            <a:pPr marL="0" indent="0" algn="just">
              <a:buNone/>
            </a:pPr>
            <a:endParaRPr lang="en-IN" sz="2000" b="1" i="1" dirty="0">
              <a:solidFill>
                <a:schemeClr val="accent1"/>
              </a:solidFill>
              <a:effectLst>
                <a:outerShdw blurRad="38100" dist="38100" dir="2700000" algn="tl">
                  <a:srgbClr val="000000">
                    <a:alpha val="43137"/>
                  </a:srgbClr>
                </a:outerShdw>
              </a:effectLst>
            </a:endParaRPr>
          </a:p>
          <a:p>
            <a:pPr marL="0" indent="0" algn="just">
              <a:buNone/>
            </a:pPr>
            <a:r>
              <a:rPr lang="en-IN" sz="2000" b="1" i="1" dirty="0">
                <a:solidFill>
                  <a:schemeClr val="accent1"/>
                </a:solidFill>
                <a:effectLst>
                  <a:outerShdw blurRad="38100" dist="38100" dir="2700000" algn="tl">
                    <a:srgbClr val="000000">
                      <a:alpha val="43137"/>
                    </a:srgbClr>
                  </a:outerShdw>
                </a:effectLst>
              </a:rPr>
              <a:t>The other way to delete single document is : use the </a:t>
            </a:r>
            <a:r>
              <a:rPr lang="en-IN" sz="2000" b="1" i="1" dirty="0" err="1">
                <a:effectLst>
                  <a:outerShdw blurRad="38100" dist="38100" dir="2700000" algn="tl">
                    <a:srgbClr val="000000">
                      <a:alpha val="43137"/>
                    </a:srgbClr>
                  </a:outerShdw>
                </a:effectLst>
              </a:rPr>
              <a:t>findOne</a:t>
            </a:r>
            <a:r>
              <a:rPr lang="en-IN" sz="2000" b="1" i="1" dirty="0">
                <a:effectLst>
                  <a:outerShdw blurRad="38100" dist="38100" dir="2700000" algn="tl">
                    <a:srgbClr val="000000">
                      <a:alpha val="43137"/>
                    </a:srgbClr>
                  </a:outerShdw>
                </a:effectLst>
              </a:rPr>
              <a:t>() </a:t>
            </a:r>
            <a:r>
              <a:rPr lang="en-IN" sz="2000" b="1" i="1" dirty="0">
                <a:solidFill>
                  <a:schemeClr val="accent1"/>
                </a:solidFill>
                <a:effectLst>
                  <a:outerShdw blurRad="38100" dist="38100" dir="2700000" algn="tl">
                    <a:srgbClr val="000000">
                      <a:alpha val="43137"/>
                    </a:srgbClr>
                  </a:outerShdw>
                </a:effectLst>
              </a:rPr>
              <a:t>method first to find the matching first document and then use </a:t>
            </a:r>
            <a:r>
              <a:rPr lang="en-IN" sz="2000" b="1" i="1" dirty="0">
                <a:effectLst>
                  <a:outerShdw blurRad="38100" dist="38100" dir="2700000" algn="tl">
                    <a:srgbClr val="000000">
                      <a:alpha val="43137"/>
                    </a:srgbClr>
                  </a:outerShdw>
                </a:effectLst>
              </a:rPr>
              <a:t>remove()</a:t>
            </a:r>
            <a:r>
              <a:rPr lang="en-IN" sz="2000" b="1" i="1" dirty="0">
                <a:solidFill>
                  <a:schemeClr val="accent1"/>
                </a:solidFill>
                <a:effectLst>
                  <a:outerShdw blurRad="38100" dist="38100" dir="2700000" algn="tl">
                    <a:srgbClr val="000000">
                      <a:alpha val="43137"/>
                    </a:srgbClr>
                  </a:outerShdw>
                </a:effectLst>
              </a:rPr>
              <a:t> method.</a:t>
            </a:r>
          </a:p>
          <a:p>
            <a:pPr marL="0" indent="0" algn="just">
              <a:buNone/>
            </a:pPr>
            <a:endParaRPr lang="en-IN" dirty="0"/>
          </a:p>
          <a:p>
            <a:pPr marL="0" indent="0" algn="r">
              <a:buNone/>
            </a:pPr>
            <a:r>
              <a:rPr lang="en-IN" i="1" dirty="0"/>
              <a:t>…to be continued</a:t>
            </a:r>
          </a:p>
        </p:txBody>
      </p:sp>
      <p:pic>
        <p:nvPicPr>
          <p:cNvPr id="5" name="Picture 4">
            <a:extLst>
              <a:ext uri="{FF2B5EF4-FFF2-40B4-BE49-F238E27FC236}">
                <a16:creationId xmlns:a16="http://schemas.microsoft.com/office/drawing/2014/main" id="{8510966B-A69C-4A7C-8C5E-E872F28A96E9}"/>
              </a:ext>
            </a:extLst>
          </p:cNvPr>
          <p:cNvPicPr>
            <a:picLocks noChangeAspect="1"/>
          </p:cNvPicPr>
          <p:nvPr/>
        </p:nvPicPr>
        <p:blipFill>
          <a:blip r:embed="rId2"/>
          <a:stretch>
            <a:fillRect/>
          </a:stretch>
        </p:blipFill>
        <p:spPr>
          <a:xfrm>
            <a:off x="754040" y="1981405"/>
            <a:ext cx="6397387" cy="2372231"/>
          </a:xfrm>
          <a:prstGeom prst="rect">
            <a:avLst/>
          </a:prstGeom>
        </p:spPr>
      </p:pic>
    </p:spTree>
    <p:extLst>
      <p:ext uri="{BB962C8B-B14F-4D97-AF65-F5344CB8AC3E}">
        <p14:creationId xmlns:p14="http://schemas.microsoft.com/office/powerpoint/2010/main" val="22140811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2" y="375146"/>
            <a:ext cx="10131425" cy="457196"/>
          </a:xfrm>
        </p:spPr>
        <p:txBody>
          <a:bodyPr>
            <a:normAutofit fontScale="90000"/>
          </a:bodyPr>
          <a:lstStyle/>
          <a:p>
            <a:r>
              <a:rPr lang="en-IN" dirty="0">
                <a:latin typeface="Berlin Sans FB Demi" panose="020E0802020502020306" pitchFamily="34" charset="0"/>
              </a:rPr>
              <a:t>Basic crud operations</a:t>
            </a:r>
            <a:endParaRPr lang="en-IN"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3" y="832343"/>
            <a:ext cx="6697636" cy="4572170"/>
          </a:xfrm>
        </p:spPr>
        <p:txBody>
          <a:bodyPr>
            <a:normAutofit fontScale="92500" lnSpcReduction="10000"/>
          </a:bodyPr>
          <a:lstStyle/>
          <a:p>
            <a:pPr marL="0" indent="0" algn="just">
              <a:buNone/>
            </a:pPr>
            <a:r>
              <a:rPr lang="en-IN" sz="3200" b="1" dirty="0">
                <a:solidFill>
                  <a:schemeClr val="accent1"/>
                </a:solidFill>
                <a:effectLst>
                  <a:outerShdw blurRad="38100" dist="38100" dir="2700000" algn="tl">
                    <a:srgbClr val="000000">
                      <a:alpha val="43137"/>
                    </a:srgbClr>
                  </a:outerShdw>
                </a:effectLst>
              </a:rPr>
              <a:t>DELETE</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r>
              <a:rPr lang="en-IN" dirty="0"/>
              <a:t>This way you can remove a particular document from the collection. </a:t>
            </a:r>
          </a:p>
          <a:p>
            <a:pPr marL="0" indent="0" algn="just">
              <a:buNone/>
            </a:pPr>
            <a:r>
              <a:rPr lang="en-IN" b="1" dirty="0" err="1">
                <a:solidFill>
                  <a:schemeClr val="accent1"/>
                </a:solidFill>
                <a:effectLst>
                  <a:outerShdw blurRad="38100" dist="38100" dir="2700000" algn="tl">
                    <a:srgbClr val="000000">
                      <a:alpha val="43137"/>
                    </a:srgbClr>
                  </a:outerShdw>
                </a:effectLst>
              </a:rPr>
              <a:t>findOne</a:t>
            </a:r>
            <a:r>
              <a:rPr lang="en-IN" b="1" dirty="0">
                <a:solidFill>
                  <a:schemeClr val="accent1"/>
                </a:solidFill>
                <a:effectLst>
                  <a:outerShdw blurRad="38100" dist="38100" dir="2700000" algn="tl">
                    <a:srgbClr val="000000">
                      <a:alpha val="43137"/>
                    </a:srgbClr>
                  </a:outerShdw>
                </a:effectLst>
              </a:rPr>
              <a:t>() </a:t>
            </a:r>
            <a:r>
              <a:rPr lang="en-IN" dirty="0"/>
              <a:t>method searches all the data and returns the first matching document. You can pass the condition inside </a:t>
            </a:r>
            <a:r>
              <a:rPr lang="en-IN" dirty="0">
                <a:effectLst>
                  <a:outerShdw blurRad="38100" dist="38100" dir="2700000" algn="tl">
                    <a:srgbClr val="000000">
                      <a:alpha val="43137"/>
                    </a:srgbClr>
                  </a:outerShdw>
                </a:effectLst>
              </a:rPr>
              <a:t>the</a:t>
            </a:r>
            <a:r>
              <a:rPr lang="en-IN" b="1" dirty="0">
                <a:solidFill>
                  <a:schemeClr val="accent1"/>
                </a:solidFill>
                <a:effectLst>
                  <a:outerShdw blurRad="38100" dist="38100" dir="2700000" algn="tl">
                    <a:srgbClr val="000000">
                      <a:alpha val="43137"/>
                    </a:srgbClr>
                  </a:outerShdw>
                </a:effectLst>
              </a:rPr>
              <a:t> </a:t>
            </a:r>
            <a:r>
              <a:rPr lang="en-IN" b="1" dirty="0" err="1">
                <a:solidFill>
                  <a:schemeClr val="accent1"/>
                </a:solidFill>
                <a:effectLst>
                  <a:outerShdw blurRad="38100" dist="38100" dir="2700000" algn="tl">
                    <a:srgbClr val="000000">
                      <a:alpha val="43137"/>
                    </a:srgbClr>
                  </a:outerShdw>
                </a:effectLst>
              </a:rPr>
              <a:t>findOne</a:t>
            </a:r>
            <a:r>
              <a:rPr lang="en-IN" b="1" dirty="0">
                <a:solidFill>
                  <a:schemeClr val="accent1"/>
                </a:solidFill>
                <a:effectLst>
                  <a:outerShdw blurRad="38100" dist="38100" dir="2700000" algn="tl">
                    <a:srgbClr val="000000">
                      <a:alpha val="43137"/>
                    </a:srgbClr>
                  </a:outerShdw>
                </a:effectLst>
              </a:rPr>
              <a:t>() </a:t>
            </a:r>
            <a:r>
              <a:rPr lang="en-IN" dirty="0" err="1"/>
              <a:t>method.m</a:t>
            </a:r>
            <a:endParaRPr lang="en-IN" dirty="0"/>
          </a:p>
          <a:p>
            <a:pPr marL="0" indent="0" algn="just">
              <a:buNone/>
            </a:pPr>
            <a:r>
              <a:rPr lang="en-IN" b="1" dirty="0">
                <a:solidFill>
                  <a:schemeClr val="accent1"/>
                </a:solidFill>
                <a:effectLst>
                  <a:outerShdw blurRad="38100" dist="38100" dir="2700000" algn="tl">
                    <a:srgbClr val="000000">
                      <a:alpha val="43137"/>
                    </a:srgbClr>
                  </a:outerShdw>
                </a:effectLst>
              </a:rPr>
              <a:t>NOTE:</a:t>
            </a:r>
            <a:r>
              <a:rPr lang="en-IN" dirty="0"/>
              <a:t> If you don’t specify the deletion criteria (</a:t>
            </a:r>
            <a:r>
              <a:rPr lang="en-IN" dirty="0" err="1"/>
              <a:t>db.Employees.remove</a:t>
            </a:r>
            <a:r>
              <a:rPr lang="en-IN" dirty="0"/>
              <a:t>()), then it will delete all the documents inside the collection.</a:t>
            </a:r>
          </a:p>
          <a:p>
            <a:pPr marL="0" indent="0" algn="r">
              <a:buNone/>
            </a:pPr>
            <a:endParaRPr lang="en-IN" i="1" dirty="0"/>
          </a:p>
        </p:txBody>
      </p:sp>
      <p:pic>
        <p:nvPicPr>
          <p:cNvPr id="6" name="Picture 5">
            <a:extLst>
              <a:ext uri="{FF2B5EF4-FFF2-40B4-BE49-F238E27FC236}">
                <a16:creationId xmlns:a16="http://schemas.microsoft.com/office/drawing/2014/main" id="{184B92F2-FAA1-40DA-8108-87C0D7B4CF98}"/>
              </a:ext>
            </a:extLst>
          </p:cNvPr>
          <p:cNvPicPr>
            <a:picLocks noChangeAspect="1"/>
          </p:cNvPicPr>
          <p:nvPr/>
        </p:nvPicPr>
        <p:blipFill>
          <a:blip r:embed="rId2"/>
          <a:stretch>
            <a:fillRect/>
          </a:stretch>
        </p:blipFill>
        <p:spPr>
          <a:xfrm>
            <a:off x="685801" y="1453487"/>
            <a:ext cx="6697637" cy="1975513"/>
          </a:xfrm>
          <a:prstGeom prst="rect">
            <a:avLst/>
          </a:prstGeom>
        </p:spPr>
      </p:pic>
    </p:spTree>
    <p:extLst>
      <p:ext uri="{BB962C8B-B14F-4D97-AF65-F5344CB8AC3E}">
        <p14:creationId xmlns:p14="http://schemas.microsoft.com/office/powerpoint/2010/main" val="31155865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3" y="375146"/>
            <a:ext cx="7693922" cy="457196"/>
          </a:xfrm>
        </p:spPr>
        <p:txBody>
          <a:bodyPr>
            <a:noAutofit/>
          </a:bodyPr>
          <a:lstStyle/>
          <a:p>
            <a:r>
              <a:rPr lang="en-IN" sz="2800" dirty="0">
                <a:latin typeface="Berlin Sans FB Demi" panose="020E0802020502020306" pitchFamily="34" charset="0"/>
              </a:rPr>
              <a:t>IMPORTANT PROJECTION &amp; QUERY METHODS</a:t>
            </a:r>
            <a:endParaRPr lang="en-IN" sz="2800"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3" y="955174"/>
            <a:ext cx="6875057" cy="4258272"/>
          </a:xfrm>
        </p:spPr>
        <p:txBody>
          <a:bodyPr>
            <a:normAutofit fontScale="92500" lnSpcReduction="20000"/>
          </a:bodyPr>
          <a:lstStyle/>
          <a:p>
            <a:pPr marL="0" indent="0" algn="just">
              <a:buNone/>
            </a:pPr>
            <a:r>
              <a:rPr lang="en-IN" sz="3200" b="1" dirty="0">
                <a:solidFill>
                  <a:schemeClr val="accent1"/>
                </a:solidFill>
                <a:effectLst>
                  <a:outerShdw blurRad="38100" dist="38100" dir="2700000" algn="tl">
                    <a:srgbClr val="000000">
                      <a:alpha val="43137"/>
                    </a:srgbClr>
                  </a:outerShdw>
                </a:effectLst>
              </a:rPr>
              <a:t>find()</a:t>
            </a:r>
          </a:p>
          <a:p>
            <a:pPr marL="0" indent="0" algn="just">
              <a:buNone/>
            </a:pPr>
            <a:r>
              <a:rPr lang="en-IN" dirty="0"/>
              <a:t>find() is the essential projection method which helps in selecting only the necessary data.</a:t>
            </a:r>
          </a:p>
          <a:p>
            <a:pPr marL="0" indent="0" algn="ctr">
              <a:buNone/>
            </a:pPr>
            <a:r>
              <a:rPr lang="en-IN" dirty="0"/>
              <a:t> </a:t>
            </a:r>
            <a:r>
              <a:rPr lang="en-IN" b="1" i="1" dirty="0" err="1">
                <a:solidFill>
                  <a:schemeClr val="accent1"/>
                </a:solidFill>
                <a:effectLst>
                  <a:outerShdw blurRad="38100" dist="38100" dir="2700000" algn="tl">
                    <a:srgbClr val="000000">
                      <a:alpha val="43137"/>
                    </a:srgbClr>
                  </a:outerShdw>
                </a:effectLst>
              </a:rPr>
              <a:t>db.Employees.find</a:t>
            </a:r>
            <a:r>
              <a:rPr lang="en-IN" b="1" i="1" dirty="0">
                <a:solidFill>
                  <a:schemeClr val="accent1"/>
                </a:solidFill>
                <a:effectLst>
                  <a:outerShdw blurRad="38100" dist="38100" dir="2700000" algn="tl">
                    <a:srgbClr val="000000">
                      <a:alpha val="43137"/>
                    </a:srgbClr>
                  </a:outerShdw>
                </a:effectLst>
              </a:rPr>
              <a:t>({});</a:t>
            </a:r>
          </a:p>
          <a:p>
            <a:pPr marL="0" indent="0" algn="just">
              <a:buNone/>
            </a:pPr>
            <a:r>
              <a:rPr lang="en-IN" sz="3200" b="1" dirty="0" err="1">
                <a:solidFill>
                  <a:schemeClr val="accent1"/>
                </a:solidFill>
                <a:effectLst>
                  <a:outerShdw blurRad="38100" dist="38100" dir="2700000" algn="tl">
                    <a:srgbClr val="000000">
                      <a:alpha val="43137"/>
                    </a:srgbClr>
                  </a:outerShdw>
                </a:effectLst>
              </a:rPr>
              <a:t>findOne</a:t>
            </a:r>
            <a:r>
              <a:rPr lang="en-IN" sz="3200" b="1" dirty="0">
                <a:solidFill>
                  <a:schemeClr val="accent1"/>
                </a:solidFill>
                <a:effectLst>
                  <a:outerShdw blurRad="38100" dist="38100" dir="2700000" algn="tl">
                    <a:srgbClr val="000000">
                      <a:alpha val="43137"/>
                    </a:srgbClr>
                  </a:outerShdw>
                </a:effectLst>
              </a:rPr>
              <a:t>()</a:t>
            </a:r>
          </a:p>
          <a:p>
            <a:pPr marL="0" indent="0" algn="just">
              <a:buNone/>
            </a:pPr>
            <a:r>
              <a:rPr lang="en-IN" sz="1900" dirty="0"/>
              <a:t>This method returns the first matched document from the collection. You need to specify the condition inside the </a:t>
            </a:r>
            <a:r>
              <a:rPr lang="en-IN" sz="1900" dirty="0" err="1"/>
              <a:t>findOne</a:t>
            </a:r>
            <a:r>
              <a:rPr lang="en-IN" sz="1900" dirty="0"/>
              <a:t>() method.</a:t>
            </a:r>
          </a:p>
          <a:p>
            <a:pPr marL="0" indent="0" algn="ctr">
              <a:buNone/>
            </a:pPr>
            <a:r>
              <a:rPr lang="en-IN" sz="1900" b="1" dirty="0" err="1">
                <a:solidFill>
                  <a:schemeClr val="accent1"/>
                </a:solidFill>
                <a:effectLst>
                  <a:outerShdw blurRad="38100" dist="38100" dir="2700000" algn="tl">
                    <a:srgbClr val="000000">
                      <a:alpha val="43137"/>
                    </a:srgbClr>
                  </a:outerShdw>
                </a:effectLst>
              </a:rPr>
              <a:t>db.Employees.findOne</a:t>
            </a:r>
            <a:r>
              <a:rPr lang="en-IN" sz="1900" b="1" dirty="0">
                <a:solidFill>
                  <a:schemeClr val="accent1"/>
                </a:solidFill>
                <a:effectLst>
                  <a:outerShdw blurRad="38100" dist="38100" dir="2700000" algn="tl">
                    <a:srgbClr val="000000">
                      <a:alpha val="43137"/>
                    </a:srgbClr>
                  </a:outerShdw>
                </a:effectLst>
              </a:rPr>
              <a:t>({'name': 'John Smith Carlos’});</a:t>
            </a:r>
          </a:p>
          <a:p>
            <a:pPr marL="0" indent="0" algn="just">
              <a:buNone/>
            </a:pPr>
            <a:r>
              <a:rPr lang="en-IN" sz="3200" b="1" dirty="0">
                <a:solidFill>
                  <a:schemeClr val="accent1"/>
                </a:solidFill>
                <a:effectLst>
                  <a:outerShdw blurRad="38100" dist="38100" dir="2700000" algn="tl">
                    <a:srgbClr val="000000">
                      <a:alpha val="43137"/>
                    </a:srgbClr>
                  </a:outerShdw>
                </a:effectLst>
              </a:rPr>
              <a:t>pretty()</a:t>
            </a:r>
          </a:p>
          <a:p>
            <a:pPr marL="0" indent="0" algn="just">
              <a:buNone/>
            </a:pPr>
            <a:r>
              <a:rPr lang="en-IN" sz="1900" dirty="0"/>
              <a:t>This method is used to display the text in the formatted way.</a:t>
            </a:r>
          </a:p>
          <a:p>
            <a:pPr marL="0" indent="0" algn="r">
              <a:buNone/>
            </a:pPr>
            <a:r>
              <a:rPr lang="en-IN" sz="2000" i="1" dirty="0"/>
              <a:t>…to be continued</a:t>
            </a:r>
          </a:p>
          <a:p>
            <a:pPr marL="0" indent="0" algn="just">
              <a:buNone/>
            </a:pPr>
            <a:endParaRPr lang="en-IN" sz="1900" b="1" dirty="0">
              <a:solidFill>
                <a:schemeClr val="accent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56499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3" y="375146"/>
            <a:ext cx="7693922" cy="457196"/>
          </a:xfrm>
        </p:spPr>
        <p:txBody>
          <a:bodyPr>
            <a:noAutofit/>
          </a:bodyPr>
          <a:lstStyle/>
          <a:p>
            <a:r>
              <a:rPr lang="en-IN" sz="2800" dirty="0">
                <a:latin typeface="Berlin Sans FB Demi" panose="020E0802020502020306" pitchFamily="34" charset="0"/>
              </a:rPr>
              <a:t>IMPORTANT PROJECTION &amp; QUERY METHODS</a:t>
            </a:r>
            <a:endParaRPr lang="en-IN" sz="2800"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2" y="955174"/>
            <a:ext cx="7502855" cy="4353806"/>
          </a:xfrm>
        </p:spPr>
        <p:txBody>
          <a:bodyPr>
            <a:normAutofit fontScale="70000" lnSpcReduction="20000"/>
          </a:bodyPr>
          <a:lstStyle/>
          <a:p>
            <a:pPr marL="0" indent="0" algn="just">
              <a:buNone/>
            </a:pPr>
            <a:r>
              <a:rPr lang="en-IN" sz="3200" b="1" dirty="0">
                <a:solidFill>
                  <a:schemeClr val="accent1"/>
                </a:solidFill>
                <a:effectLst>
                  <a:outerShdw blurRad="38100" dist="38100" dir="2700000" algn="tl">
                    <a:srgbClr val="000000">
                      <a:alpha val="43137"/>
                    </a:srgbClr>
                  </a:outerShdw>
                </a:effectLst>
              </a:rPr>
              <a:t>distinct()</a:t>
            </a:r>
          </a:p>
          <a:p>
            <a:pPr marL="0" indent="0" algn="just">
              <a:buNone/>
            </a:pPr>
            <a:r>
              <a:rPr lang="en-IN" sz="2300" dirty="0"/>
              <a:t>distinct() is the essential method which helps in returning  an array of documents that have distinct values for a specified field.</a:t>
            </a:r>
          </a:p>
          <a:p>
            <a:pPr marL="0" indent="0" algn="ctr">
              <a:buNone/>
            </a:pPr>
            <a:r>
              <a:rPr lang="en-IN" dirty="0"/>
              <a:t> </a:t>
            </a:r>
            <a:r>
              <a:rPr lang="en-IN" sz="2900" b="1" i="1" dirty="0" err="1">
                <a:solidFill>
                  <a:schemeClr val="accent1"/>
                </a:solidFill>
                <a:effectLst>
                  <a:outerShdw blurRad="38100" dist="38100" dir="2700000" algn="tl">
                    <a:srgbClr val="000000">
                      <a:alpha val="43137"/>
                    </a:srgbClr>
                  </a:outerShdw>
                </a:effectLst>
              </a:rPr>
              <a:t>db.Employees.distinct</a:t>
            </a:r>
            <a:r>
              <a:rPr lang="en-IN" sz="2900" b="1" i="1" dirty="0">
                <a:solidFill>
                  <a:schemeClr val="accent1"/>
                </a:solidFill>
                <a:effectLst>
                  <a:outerShdw blurRad="38100" dist="38100" dir="2700000" algn="tl">
                    <a:srgbClr val="000000">
                      <a:alpha val="43137"/>
                    </a:srgbClr>
                  </a:outerShdw>
                </a:effectLst>
              </a:rPr>
              <a:t>({‘name’});</a:t>
            </a:r>
          </a:p>
          <a:p>
            <a:pPr marL="0" indent="0" algn="just">
              <a:buNone/>
            </a:pPr>
            <a:r>
              <a:rPr lang="en-IN" sz="3200" b="1" dirty="0" err="1">
                <a:solidFill>
                  <a:schemeClr val="accent1"/>
                </a:solidFill>
                <a:effectLst>
                  <a:outerShdw blurRad="38100" dist="38100" dir="2700000" algn="tl">
                    <a:srgbClr val="000000">
                      <a:alpha val="43137"/>
                    </a:srgbClr>
                  </a:outerShdw>
                </a:effectLst>
              </a:rPr>
              <a:t>isCapped</a:t>
            </a:r>
            <a:r>
              <a:rPr lang="en-IN" sz="3200" b="1" dirty="0">
                <a:solidFill>
                  <a:schemeClr val="accent1"/>
                </a:solidFill>
                <a:effectLst>
                  <a:outerShdw blurRad="38100" dist="38100" dir="2700000" algn="tl">
                    <a:srgbClr val="000000">
                      <a:alpha val="43137"/>
                    </a:srgbClr>
                  </a:outerShdw>
                </a:effectLst>
              </a:rPr>
              <a:t>()</a:t>
            </a:r>
          </a:p>
          <a:p>
            <a:pPr marL="0" indent="0" algn="just">
              <a:buNone/>
            </a:pPr>
            <a:r>
              <a:rPr lang="en-IN" sz="2300" dirty="0"/>
              <a:t>This method is used to check whether that collection is capped or not.</a:t>
            </a:r>
          </a:p>
          <a:p>
            <a:pPr marL="0" indent="0" algn="ctr">
              <a:buNone/>
            </a:pPr>
            <a:r>
              <a:rPr lang="en-IN" sz="2900" b="1" i="1" dirty="0" err="1">
                <a:solidFill>
                  <a:schemeClr val="accent1"/>
                </a:solidFill>
                <a:effectLst>
                  <a:outerShdw blurRad="38100" dist="38100" dir="2700000" algn="tl">
                    <a:srgbClr val="000000">
                      <a:alpha val="43137"/>
                    </a:srgbClr>
                  </a:outerShdw>
                </a:effectLst>
              </a:rPr>
              <a:t>db.Employees.isCapped</a:t>
            </a:r>
            <a:r>
              <a:rPr lang="en-IN" sz="2900" b="1" i="1" dirty="0">
                <a:solidFill>
                  <a:schemeClr val="accent1"/>
                </a:solidFill>
                <a:effectLst>
                  <a:outerShdw blurRad="38100" dist="38100" dir="2700000" algn="tl">
                    <a:srgbClr val="000000">
                      <a:alpha val="43137"/>
                    </a:srgbClr>
                  </a:outerShdw>
                </a:effectLst>
              </a:rPr>
              <a:t>();</a:t>
            </a:r>
          </a:p>
          <a:p>
            <a:pPr marL="0" indent="0" algn="just">
              <a:buNone/>
            </a:pPr>
            <a:r>
              <a:rPr lang="en-IN" sz="2300" dirty="0"/>
              <a:t>It will return a Boolean value. If capped then true other wise false.</a:t>
            </a:r>
          </a:p>
          <a:p>
            <a:pPr marL="0" indent="0" algn="just">
              <a:buNone/>
            </a:pPr>
            <a:r>
              <a:rPr lang="en-IN" sz="3200" b="1" dirty="0">
                <a:solidFill>
                  <a:schemeClr val="accent1"/>
                </a:solidFill>
                <a:effectLst>
                  <a:outerShdw blurRad="38100" dist="38100" dir="2700000" algn="tl">
                    <a:srgbClr val="000000">
                      <a:alpha val="43137"/>
                    </a:srgbClr>
                  </a:outerShdw>
                </a:effectLst>
              </a:rPr>
              <a:t>limit()</a:t>
            </a:r>
          </a:p>
          <a:p>
            <a:pPr marL="0" indent="0" algn="just">
              <a:buNone/>
            </a:pPr>
            <a:r>
              <a:rPr lang="en-IN" sz="2300" dirty="0"/>
              <a:t>This method is used to limit the records in MongoDB. It accepts the number type argument.</a:t>
            </a:r>
          </a:p>
          <a:p>
            <a:pPr marL="0" indent="0" algn="ctr">
              <a:buNone/>
            </a:pPr>
            <a:r>
              <a:rPr lang="en-IN" sz="2900" b="1" i="1" dirty="0" err="1">
                <a:solidFill>
                  <a:schemeClr val="accent1"/>
                </a:solidFill>
                <a:effectLst>
                  <a:outerShdw blurRad="38100" dist="38100" dir="2700000" algn="tl">
                    <a:srgbClr val="000000">
                      <a:alpha val="43137"/>
                    </a:srgbClr>
                  </a:outerShdw>
                </a:effectLst>
              </a:rPr>
              <a:t>db.Employees.find</a:t>
            </a:r>
            <a:r>
              <a:rPr lang="en-IN" sz="2900" b="1" i="1" dirty="0">
                <a:solidFill>
                  <a:schemeClr val="accent1"/>
                </a:solidFill>
                <a:effectLst>
                  <a:outerShdw blurRad="38100" dist="38100" dir="2700000" algn="tl">
                    <a:srgbClr val="000000">
                      <a:alpha val="43137"/>
                    </a:srgbClr>
                  </a:outerShdw>
                </a:effectLst>
              </a:rPr>
              <a:t>({}).limit(2);</a:t>
            </a:r>
          </a:p>
          <a:p>
            <a:pPr marL="0" indent="0" algn="just">
              <a:buNone/>
            </a:pPr>
            <a:endParaRPr lang="en-IN" sz="1900" b="1" dirty="0">
              <a:solidFill>
                <a:schemeClr val="accent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5268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3" y="484328"/>
            <a:ext cx="7175307" cy="457196"/>
          </a:xfrm>
        </p:spPr>
        <p:txBody>
          <a:bodyPr>
            <a:noAutofit/>
          </a:bodyPr>
          <a:lstStyle/>
          <a:p>
            <a:r>
              <a:rPr lang="en-IN" sz="2800" dirty="0">
                <a:latin typeface="Berlin Sans FB Demi" panose="020E0802020502020306" pitchFamily="34" charset="0"/>
              </a:rPr>
              <a:t>IMPORTANT PROJECTION &amp; QUERY METHODS</a:t>
            </a:r>
            <a:endParaRPr lang="en-IN" sz="2800"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3" y="1214650"/>
            <a:ext cx="6943296" cy="4080682"/>
          </a:xfrm>
        </p:spPr>
        <p:txBody>
          <a:bodyPr>
            <a:normAutofit fontScale="92500" lnSpcReduction="10000"/>
          </a:bodyPr>
          <a:lstStyle/>
          <a:p>
            <a:pPr marL="0" indent="0" algn="just">
              <a:buNone/>
            </a:pPr>
            <a:r>
              <a:rPr lang="en-IN" sz="3500" b="1" dirty="0">
                <a:solidFill>
                  <a:schemeClr val="accent1"/>
                </a:solidFill>
                <a:effectLst>
                  <a:outerShdw blurRad="38100" dist="38100" dir="2700000" algn="tl">
                    <a:srgbClr val="000000">
                      <a:alpha val="43137"/>
                    </a:srgbClr>
                  </a:outerShdw>
                </a:effectLst>
              </a:rPr>
              <a:t>skip()</a:t>
            </a:r>
          </a:p>
          <a:p>
            <a:pPr marL="0" indent="0" algn="just">
              <a:buNone/>
            </a:pPr>
            <a:r>
              <a:rPr lang="en-IN" sz="2100" dirty="0"/>
              <a:t>This method is used to skip the number of documents. It accepts the number type argument.</a:t>
            </a:r>
          </a:p>
          <a:p>
            <a:pPr marL="0" indent="0" algn="ctr">
              <a:buNone/>
            </a:pPr>
            <a:r>
              <a:rPr lang="en-IN" sz="2600" b="1" i="1" dirty="0" err="1">
                <a:solidFill>
                  <a:schemeClr val="accent1"/>
                </a:solidFill>
                <a:effectLst>
                  <a:outerShdw blurRad="38100" dist="38100" dir="2700000" algn="tl">
                    <a:srgbClr val="000000">
                      <a:alpha val="43137"/>
                    </a:srgbClr>
                  </a:outerShdw>
                </a:effectLst>
              </a:rPr>
              <a:t>db.Employees.find</a:t>
            </a:r>
            <a:r>
              <a:rPr lang="en-IN" sz="2600" b="1" i="1" dirty="0">
                <a:solidFill>
                  <a:schemeClr val="accent1"/>
                </a:solidFill>
                <a:effectLst>
                  <a:outerShdw blurRad="38100" dist="38100" dir="2700000" algn="tl">
                    <a:srgbClr val="000000">
                      <a:alpha val="43137"/>
                    </a:srgbClr>
                  </a:outerShdw>
                </a:effectLst>
              </a:rPr>
              <a:t>({}).limit(1).skip(1);</a:t>
            </a:r>
            <a:endParaRPr lang="en-IN" sz="2600" dirty="0"/>
          </a:p>
          <a:p>
            <a:pPr marL="0" indent="0" algn="just">
              <a:buNone/>
            </a:pPr>
            <a:r>
              <a:rPr lang="en-IN" sz="3500" b="1" dirty="0">
                <a:solidFill>
                  <a:schemeClr val="accent1"/>
                </a:solidFill>
                <a:effectLst>
                  <a:outerShdw blurRad="38100" dist="38100" dir="2700000" algn="tl">
                    <a:srgbClr val="000000">
                      <a:alpha val="43137"/>
                    </a:srgbClr>
                  </a:outerShdw>
                </a:effectLst>
              </a:rPr>
              <a:t>sort()</a:t>
            </a:r>
          </a:p>
          <a:p>
            <a:pPr marL="0" indent="0" algn="just">
              <a:buNone/>
            </a:pPr>
            <a:r>
              <a:rPr lang="en-IN" sz="2300" dirty="0"/>
              <a:t>This method is used to sort the documents in MongoDB.</a:t>
            </a:r>
          </a:p>
          <a:p>
            <a:pPr marL="0" indent="0" algn="ctr">
              <a:buNone/>
            </a:pPr>
            <a:r>
              <a:rPr lang="en-IN" sz="2600" b="1" i="1" dirty="0" err="1">
                <a:solidFill>
                  <a:schemeClr val="accent1"/>
                </a:solidFill>
                <a:effectLst>
                  <a:outerShdw blurRad="38100" dist="38100" dir="2700000" algn="tl">
                    <a:srgbClr val="000000">
                      <a:alpha val="43137"/>
                    </a:srgbClr>
                  </a:outerShdw>
                </a:effectLst>
              </a:rPr>
              <a:t>db.Employees.find</a:t>
            </a:r>
            <a:r>
              <a:rPr lang="en-IN" sz="2600" b="1" i="1" dirty="0">
                <a:solidFill>
                  <a:schemeClr val="accent1"/>
                </a:solidFill>
                <a:effectLst>
                  <a:outerShdw blurRad="38100" dist="38100" dir="2700000" algn="tl">
                    <a:srgbClr val="000000">
                      <a:alpha val="43137"/>
                    </a:srgbClr>
                  </a:outerShdw>
                </a:effectLst>
              </a:rPr>
              <a:t>({}).sort({‘name’: -1});</a:t>
            </a:r>
          </a:p>
          <a:p>
            <a:pPr marL="0" indent="0" algn="just">
              <a:buNone/>
            </a:pPr>
            <a:r>
              <a:rPr lang="en-IN" sz="1900" dirty="0"/>
              <a:t>This will sort the document in descending order on the field </a:t>
            </a:r>
            <a:r>
              <a:rPr lang="en-IN" sz="1900" b="1" i="1" dirty="0">
                <a:solidFill>
                  <a:schemeClr val="accent1"/>
                </a:solidFill>
              </a:rPr>
              <a:t>name</a:t>
            </a:r>
            <a:r>
              <a:rPr lang="en-IN" sz="1900" dirty="0"/>
              <a:t>.</a:t>
            </a:r>
          </a:p>
          <a:p>
            <a:pPr marL="0" indent="0" algn="r">
              <a:buNone/>
            </a:pPr>
            <a:r>
              <a:rPr lang="en-IN" sz="2000" i="1" dirty="0"/>
              <a:t>…to be continued</a:t>
            </a:r>
          </a:p>
          <a:p>
            <a:pPr marL="0" indent="0" algn="just">
              <a:buNone/>
            </a:pPr>
            <a:endParaRPr lang="en-IN" sz="1900" b="1" dirty="0">
              <a:solidFill>
                <a:schemeClr val="accent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47937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3" y="484328"/>
            <a:ext cx="7175307" cy="457196"/>
          </a:xfrm>
        </p:spPr>
        <p:txBody>
          <a:bodyPr>
            <a:noAutofit/>
          </a:bodyPr>
          <a:lstStyle/>
          <a:p>
            <a:r>
              <a:rPr lang="en-IN" sz="2800" dirty="0">
                <a:latin typeface="Berlin Sans FB Demi" panose="020E0802020502020306" pitchFamily="34" charset="0"/>
              </a:rPr>
              <a:t>IMPORTANT operators  </a:t>
            </a:r>
            <a:endParaRPr lang="en-IN" sz="2800" dirty="0"/>
          </a:p>
        </p:txBody>
      </p:sp>
      <p:sp>
        <p:nvSpPr>
          <p:cNvPr id="3" name="Content Placeholder 2">
            <a:extLst>
              <a:ext uri="{FF2B5EF4-FFF2-40B4-BE49-F238E27FC236}">
                <a16:creationId xmlns:a16="http://schemas.microsoft.com/office/drawing/2014/main" id="{36262B5F-ABA1-417B-B998-A248C0E11CEC}"/>
              </a:ext>
            </a:extLst>
          </p:cNvPr>
          <p:cNvSpPr>
            <a:spLocks noGrp="1"/>
          </p:cNvSpPr>
          <p:nvPr>
            <p:ph idx="1"/>
          </p:nvPr>
        </p:nvSpPr>
        <p:spPr>
          <a:xfrm>
            <a:off x="685803" y="1214650"/>
            <a:ext cx="6943296" cy="4080682"/>
          </a:xfrm>
        </p:spPr>
        <p:txBody>
          <a:bodyPr>
            <a:normAutofit fontScale="85000" lnSpcReduction="20000"/>
          </a:bodyPr>
          <a:lstStyle/>
          <a:p>
            <a:pPr marL="0" indent="0" algn="just">
              <a:buNone/>
            </a:pPr>
            <a:r>
              <a:rPr lang="en-IN" sz="3500" b="1" dirty="0">
                <a:solidFill>
                  <a:schemeClr val="accent1"/>
                </a:solidFill>
                <a:effectLst>
                  <a:outerShdw blurRad="38100" dist="38100" dir="2700000" algn="tl">
                    <a:srgbClr val="000000">
                      <a:alpha val="43137"/>
                    </a:srgbClr>
                  </a:outerShdw>
                </a:effectLst>
              </a:rPr>
              <a:t>AND </a:t>
            </a:r>
          </a:p>
          <a:p>
            <a:pPr marL="0" indent="0" algn="just">
              <a:buNone/>
            </a:pPr>
            <a:r>
              <a:rPr lang="en-IN" sz="2100" dirty="0"/>
              <a:t>This is the operator used to query the data with AND relation. It will search the document satisfying the conditions that you pass in the query.</a:t>
            </a:r>
          </a:p>
          <a:p>
            <a:pPr marL="0" indent="0" algn="ctr">
              <a:buNone/>
            </a:pPr>
            <a:r>
              <a:rPr lang="en-IN" sz="2600" b="1" i="1" dirty="0" err="1">
                <a:solidFill>
                  <a:schemeClr val="accent1"/>
                </a:solidFill>
                <a:effectLst>
                  <a:outerShdw blurRad="38100" dist="38100" dir="2700000" algn="tl">
                    <a:srgbClr val="000000">
                      <a:alpha val="43137"/>
                    </a:srgbClr>
                  </a:outerShdw>
                </a:effectLst>
              </a:rPr>
              <a:t>db.Employees.find</a:t>
            </a:r>
            <a:r>
              <a:rPr lang="en-IN" sz="2600" b="1" i="1" dirty="0">
                <a:solidFill>
                  <a:schemeClr val="accent1"/>
                </a:solidFill>
                <a:effectLst>
                  <a:outerShdw blurRad="38100" dist="38100" dir="2700000" algn="tl">
                    <a:srgbClr val="000000">
                      <a:alpha val="43137"/>
                    </a:srgbClr>
                  </a:outerShdw>
                </a:effectLst>
              </a:rPr>
              <a:t>({$and: [{‘name’: ‘John Smith Carlos’}, {‘EmpId’: ‘HL0020’}]});</a:t>
            </a:r>
            <a:endParaRPr lang="en-IN" sz="2600" dirty="0"/>
          </a:p>
          <a:p>
            <a:pPr marL="0" indent="0" algn="just">
              <a:buNone/>
            </a:pPr>
            <a:r>
              <a:rPr lang="en-IN" sz="3500" b="1" dirty="0">
                <a:solidFill>
                  <a:schemeClr val="accent1"/>
                </a:solidFill>
                <a:effectLst>
                  <a:outerShdw blurRad="38100" dist="38100" dir="2700000" algn="tl">
                    <a:srgbClr val="000000">
                      <a:alpha val="43137"/>
                    </a:srgbClr>
                  </a:outerShdw>
                </a:effectLst>
              </a:rPr>
              <a:t>OR</a:t>
            </a:r>
          </a:p>
          <a:p>
            <a:pPr marL="0" indent="0" algn="just">
              <a:buNone/>
            </a:pPr>
            <a:r>
              <a:rPr lang="en-IN" sz="2100" dirty="0"/>
              <a:t>This operator is used to query the data with OR relation. It will search the document and return the result if any of the specified condition is fulfilled.</a:t>
            </a:r>
            <a:r>
              <a:rPr lang="en-IN" sz="2100" b="1" i="1" dirty="0">
                <a:solidFill>
                  <a:schemeClr val="accent1"/>
                </a:solidFill>
                <a:effectLst>
                  <a:outerShdw blurRad="38100" dist="38100" dir="2700000" algn="tl">
                    <a:srgbClr val="000000">
                      <a:alpha val="43137"/>
                    </a:srgbClr>
                  </a:outerShdw>
                </a:effectLst>
              </a:rPr>
              <a:t> </a:t>
            </a:r>
          </a:p>
          <a:p>
            <a:pPr marL="0" indent="0" algn="ctr">
              <a:buNone/>
            </a:pPr>
            <a:r>
              <a:rPr lang="en-IN" sz="2400" b="1" i="1" dirty="0" err="1">
                <a:solidFill>
                  <a:schemeClr val="accent1"/>
                </a:solidFill>
                <a:effectLst>
                  <a:outerShdw blurRad="38100" dist="38100" dir="2700000" algn="tl">
                    <a:srgbClr val="000000">
                      <a:alpha val="43137"/>
                    </a:srgbClr>
                  </a:outerShdw>
                </a:effectLst>
              </a:rPr>
              <a:t>db.Employees.find</a:t>
            </a:r>
            <a:r>
              <a:rPr lang="en-IN" sz="2400" b="1" i="1" dirty="0">
                <a:solidFill>
                  <a:schemeClr val="accent1"/>
                </a:solidFill>
                <a:effectLst>
                  <a:outerShdw blurRad="38100" dist="38100" dir="2700000" algn="tl">
                    <a:srgbClr val="000000">
                      <a:alpha val="43137"/>
                    </a:srgbClr>
                  </a:outerShdw>
                </a:effectLst>
              </a:rPr>
              <a:t>({$or: [{‘name’: ‘John Smith Carlos’}, {‘EmpId’: ‘HL0020’}]});</a:t>
            </a:r>
            <a:r>
              <a:rPr lang="en-IN" sz="2400" dirty="0"/>
              <a:t> </a:t>
            </a:r>
          </a:p>
          <a:p>
            <a:pPr marL="0" indent="0" algn="just">
              <a:buNone/>
            </a:pPr>
            <a:endParaRPr lang="en-IN" sz="1900" b="1" dirty="0">
              <a:solidFill>
                <a:schemeClr val="accent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028852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3" y="484328"/>
            <a:ext cx="7175307" cy="566550"/>
          </a:xfrm>
        </p:spPr>
        <p:txBody>
          <a:bodyPr>
            <a:noAutofit/>
          </a:bodyPr>
          <a:lstStyle/>
          <a:p>
            <a:r>
              <a:rPr lang="en-IN" sz="2800" dirty="0">
                <a:latin typeface="Berlin Sans FB Demi" panose="020E0802020502020306" pitchFamily="34" charset="0"/>
              </a:rPr>
              <a:t>RDBMS Where clause equivalents in MongoDB</a:t>
            </a:r>
          </a:p>
        </p:txBody>
      </p:sp>
      <p:graphicFrame>
        <p:nvGraphicFramePr>
          <p:cNvPr id="7" name="Content Placeholder 6">
            <a:extLst>
              <a:ext uri="{FF2B5EF4-FFF2-40B4-BE49-F238E27FC236}">
                <a16:creationId xmlns:a16="http://schemas.microsoft.com/office/drawing/2014/main" id="{033F28AD-8057-4910-A3A8-FE99F50F02DC}"/>
              </a:ext>
            </a:extLst>
          </p:cNvPr>
          <p:cNvGraphicFramePr>
            <a:graphicFrameLocks noGrp="1"/>
          </p:cNvGraphicFramePr>
          <p:nvPr>
            <p:ph idx="1"/>
            <p:extLst>
              <p:ext uri="{D42A27DB-BD31-4B8C-83A1-F6EECF244321}">
                <p14:modId xmlns:p14="http://schemas.microsoft.com/office/powerpoint/2010/main" val="3386374559"/>
              </p:ext>
            </p:extLst>
          </p:nvPr>
        </p:nvGraphicFramePr>
        <p:xfrm>
          <a:off x="807467" y="1338769"/>
          <a:ext cx="10225154" cy="5164580"/>
        </p:xfrm>
        <a:graphic>
          <a:graphicData uri="http://schemas.openxmlformats.org/drawingml/2006/table">
            <a:tbl>
              <a:tblPr firstRow="1" firstCol="1" bandRow="1">
                <a:tableStyleId>{5C22544A-7EE6-4342-B048-85BDC9FD1C3A}</a:tableStyleId>
              </a:tblPr>
              <a:tblGrid>
                <a:gridCol w="1723065">
                  <a:extLst>
                    <a:ext uri="{9D8B030D-6E8A-4147-A177-3AD203B41FA5}">
                      <a16:colId xmlns:a16="http://schemas.microsoft.com/office/drawing/2014/main" val="2015569287"/>
                    </a:ext>
                  </a:extLst>
                </a:gridCol>
                <a:gridCol w="2514656">
                  <a:extLst>
                    <a:ext uri="{9D8B030D-6E8A-4147-A177-3AD203B41FA5}">
                      <a16:colId xmlns:a16="http://schemas.microsoft.com/office/drawing/2014/main" val="1279535946"/>
                    </a:ext>
                  </a:extLst>
                </a:gridCol>
                <a:gridCol w="3619326">
                  <a:extLst>
                    <a:ext uri="{9D8B030D-6E8A-4147-A177-3AD203B41FA5}">
                      <a16:colId xmlns:a16="http://schemas.microsoft.com/office/drawing/2014/main" val="2781319567"/>
                    </a:ext>
                  </a:extLst>
                </a:gridCol>
                <a:gridCol w="2368107">
                  <a:extLst>
                    <a:ext uri="{9D8B030D-6E8A-4147-A177-3AD203B41FA5}">
                      <a16:colId xmlns:a16="http://schemas.microsoft.com/office/drawing/2014/main" val="1670146073"/>
                    </a:ext>
                  </a:extLst>
                </a:gridCol>
              </a:tblGrid>
              <a:tr h="503822">
                <a:tc>
                  <a:txBody>
                    <a:bodyPr/>
                    <a:lstStyle/>
                    <a:p>
                      <a:pPr algn="l">
                        <a:lnSpc>
                          <a:spcPct val="107000"/>
                        </a:lnSpc>
                        <a:spcAft>
                          <a:spcPts val="1500"/>
                        </a:spcAft>
                      </a:pPr>
                      <a:r>
                        <a:rPr lang="en-IN" sz="1050" dirty="0">
                          <a:effectLst/>
                        </a:rPr>
                        <a:t>Operation</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Syntax</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Example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RDBMS Equivalent</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1899298293"/>
                  </a:ext>
                </a:extLst>
              </a:tr>
              <a:tr h="776793">
                <a:tc>
                  <a:txBody>
                    <a:bodyPr/>
                    <a:lstStyle/>
                    <a:p>
                      <a:pPr algn="l">
                        <a:lnSpc>
                          <a:spcPct val="107000"/>
                        </a:lnSpc>
                        <a:spcAft>
                          <a:spcPts val="1500"/>
                        </a:spcAft>
                      </a:pPr>
                      <a:r>
                        <a:rPr lang="en-IN" sz="1050" dirty="0">
                          <a:effectLst/>
                        </a:rPr>
                        <a:t>Equality</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dirty="0">
                          <a:effectLst/>
                        </a:rPr>
                        <a:t>{&lt;key&gt;:&lt;value&gt;}</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db.Employees.find({"name":"John Doe"}).pretty()</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where name = John Doe'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1401733426"/>
                  </a:ext>
                </a:extLst>
              </a:tr>
              <a:tr h="776793">
                <a:tc>
                  <a:txBody>
                    <a:bodyPr/>
                    <a:lstStyle/>
                    <a:p>
                      <a:pPr algn="l">
                        <a:lnSpc>
                          <a:spcPct val="107000"/>
                        </a:lnSpc>
                        <a:spcAft>
                          <a:spcPts val="1500"/>
                        </a:spcAft>
                      </a:pPr>
                      <a:r>
                        <a:rPr lang="en-IN" sz="1050">
                          <a:effectLst/>
                        </a:rPr>
                        <a:t>Less Than</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dirty="0">
                          <a:effectLst/>
                        </a:rPr>
                        <a:t>{&lt;key&gt;:{$</a:t>
                      </a:r>
                      <a:r>
                        <a:rPr lang="en-IN" sz="1050" dirty="0" err="1">
                          <a:effectLst/>
                        </a:rPr>
                        <a:t>lt</a:t>
                      </a:r>
                      <a:r>
                        <a:rPr lang="en-IN" sz="1050" dirty="0">
                          <a:effectLst/>
                        </a:rPr>
                        <a:t>:&lt;value&gt;}}</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db.Employees.find({"salary":{$lt:20000}}).pretty()</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dirty="0">
                          <a:effectLst/>
                        </a:rPr>
                        <a:t>where salary &lt; 20000</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2483030777"/>
                  </a:ext>
                </a:extLst>
              </a:tr>
              <a:tr h="776793">
                <a:tc>
                  <a:txBody>
                    <a:bodyPr/>
                    <a:lstStyle/>
                    <a:p>
                      <a:pPr algn="l">
                        <a:lnSpc>
                          <a:spcPct val="107000"/>
                        </a:lnSpc>
                        <a:spcAft>
                          <a:spcPts val="1500"/>
                        </a:spcAft>
                      </a:pPr>
                      <a:r>
                        <a:rPr lang="en-IN" sz="1050">
                          <a:effectLst/>
                        </a:rPr>
                        <a:t>Less Than Equals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{&lt;key&gt;:{$lte:&lt;value&gt;}}</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dirty="0" err="1">
                          <a:effectLst/>
                        </a:rPr>
                        <a:t>db.Employees.find</a:t>
                      </a:r>
                      <a:r>
                        <a:rPr lang="en-IN" sz="1050" dirty="0">
                          <a:effectLst/>
                        </a:rPr>
                        <a:t>({"salary":{$lte:20000}}).pretty()</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where salary &lt;= 20000</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2512204427"/>
                  </a:ext>
                </a:extLst>
              </a:tr>
              <a:tr h="776793">
                <a:tc>
                  <a:txBody>
                    <a:bodyPr/>
                    <a:lstStyle/>
                    <a:p>
                      <a:pPr algn="l">
                        <a:lnSpc>
                          <a:spcPct val="107000"/>
                        </a:lnSpc>
                        <a:spcAft>
                          <a:spcPts val="1500"/>
                        </a:spcAft>
                      </a:pPr>
                      <a:r>
                        <a:rPr lang="en-IN" sz="1050">
                          <a:effectLst/>
                        </a:rPr>
                        <a:t>Greater Than</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{&lt;key&gt;:{$gt:&lt;value&gt;}}</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dirty="0" err="1">
                          <a:effectLst/>
                        </a:rPr>
                        <a:t>db.Employees.find</a:t>
                      </a:r>
                      <a:r>
                        <a:rPr lang="en-IN" sz="1050" dirty="0">
                          <a:effectLst/>
                        </a:rPr>
                        <a:t>({"salary":{$gt:20000}}).pretty()</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where salary &gt; 20000</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3603128823"/>
                  </a:ext>
                </a:extLst>
              </a:tr>
              <a:tr h="776793">
                <a:tc>
                  <a:txBody>
                    <a:bodyPr/>
                    <a:lstStyle/>
                    <a:p>
                      <a:pPr algn="l">
                        <a:lnSpc>
                          <a:spcPct val="107000"/>
                        </a:lnSpc>
                        <a:spcAft>
                          <a:spcPts val="1500"/>
                        </a:spcAft>
                      </a:pPr>
                      <a:r>
                        <a:rPr lang="en-IN" sz="1050">
                          <a:effectLst/>
                        </a:rPr>
                        <a:t>Greater Than Equals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{&lt;key&gt;:{$gte:&lt;value&gt;}}</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dirty="0" err="1">
                          <a:effectLst/>
                        </a:rPr>
                        <a:t>db.Employees.find</a:t>
                      </a:r>
                      <a:r>
                        <a:rPr lang="en-IN" sz="1050" dirty="0">
                          <a:effectLst/>
                        </a:rPr>
                        <a:t>({"salary":{$gte:20000}}).pretty()</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dirty="0">
                          <a:effectLst/>
                        </a:rPr>
                        <a:t>where likes &gt;= 20000</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3142384873"/>
                  </a:ext>
                </a:extLst>
              </a:tr>
              <a:tr h="776793">
                <a:tc>
                  <a:txBody>
                    <a:bodyPr/>
                    <a:lstStyle/>
                    <a:p>
                      <a:pPr algn="l">
                        <a:lnSpc>
                          <a:spcPct val="107000"/>
                        </a:lnSpc>
                        <a:spcAft>
                          <a:spcPts val="1500"/>
                        </a:spcAft>
                      </a:pPr>
                      <a:r>
                        <a:rPr lang="en-IN" sz="1050">
                          <a:effectLst/>
                        </a:rPr>
                        <a:t>Not Equals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a:effectLst/>
                        </a:rPr>
                        <a:t>{&lt;key&gt;:{$ne:&lt;value&gt;}}</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dirty="0" err="1">
                          <a:effectLst/>
                        </a:rPr>
                        <a:t>db.Employees.find</a:t>
                      </a:r>
                      <a:r>
                        <a:rPr lang="en-IN" sz="1050" dirty="0">
                          <a:effectLst/>
                        </a:rPr>
                        <a:t>({"salary":{$ne:20000}}).pretty()</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tc>
                  <a:txBody>
                    <a:bodyPr/>
                    <a:lstStyle/>
                    <a:p>
                      <a:pPr algn="l">
                        <a:lnSpc>
                          <a:spcPct val="107000"/>
                        </a:lnSpc>
                        <a:spcAft>
                          <a:spcPts val="1500"/>
                        </a:spcAft>
                      </a:pPr>
                      <a:r>
                        <a:rPr lang="en-IN" sz="1050" dirty="0">
                          <a:effectLst/>
                        </a:rPr>
                        <a:t>where likes != 20000</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76200" marR="76200" marT="76200" marB="76200"/>
                </a:tc>
                <a:extLst>
                  <a:ext uri="{0D108BD9-81ED-4DB2-BD59-A6C34878D82A}">
                    <a16:rowId xmlns:a16="http://schemas.microsoft.com/office/drawing/2014/main" val="3464596265"/>
                  </a:ext>
                </a:extLst>
              </a:tr>
            </a:tbl>
          </a:graphicData>
        </a:graphic>
      </p:graphicFrame>
    </p:spTree>
    <p:extLst>
      <p:ext uri="{BB962C8B-B14F-4D97-AF65-F5344CB8AC3E}">
        <p14:creationId xmlns:p14="http://schemas.microsoft.com/office/powerpoint/2010/main" val="40102166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3297C-398B-4E71-AAF4-E54D299D19B9}"/>
              </a:ext>
            </a:extLst>
          </p:cNvPr>
          <p:cNvSpPr>
            <a:spLocks noGrp="1"/>
          </p:cNvSpPr>
          <p:nvPr>
            <p:ph type="title"/>
          </p:nvPr>
        </p:nvSpPr>
        <p:spPr>
          <a:xfrm>
            <a:off x="685802" y="609602"/>
            <a:ext cx="7707571" cy="1055425"/>
          </a:xfrm>
        </p:spPr>
        <p:txBody>
          <a:bodyPr>
            <a:normAutofit fontScale="90000"/>
          </a:bodyPr>
          <a:lstStyle/>
          <a:p>
            <a:r>
              <a:rPr lang="en-IN" dirty="0">
                <a:latin typeface="Berlin Sans FB Demi" panose="020E0802020502020306" pitchFamily="34" charset="0"/>
              </a:rPr>
              <a:t>Where mongodb is best suitable?</a:t>
            </a:r>
            <a:endParaRPr lang="en-IN" dirty="0"/>
          </a:p>
        </p:txBody>
      </p:sp>
      <p:sp>
        <p:nvSpPr>
          <p:cNvPr id="3" name="Content Placeholder 2">
            <a:extLst>
              <a:ext uri="{FF2B5EF4-FFF2-40B4-BE49-F238E27FC236}">
                <a16:creationId xmlns:a16="http://schemas.microsoft.com/office/drawing/2014/main" id="{08B89428-5BEE-4DC1-87A9-CA810513616A}"/>
              </a:ext>
            </a:extLst>
          </p:cNvPr>
          <p:cNvSpPr>
            <a:spLocks noGrp="1"/>
          </p:cNvSpPr>
          <p:nvPr>
            <p:ph idx="1"/>
          </p:nvPr>
        </p:nvSpPr>
        <p:spPr>
          <a:xfrm>
            <a:off x="685803" y="1665027"/>
            <a:ext cx="6956944" cy="3616657"/>
          </a:xfrm>
        </p:spPr>
        <p:txBody>
          <a:bodyPr>
            <a:normAutofit/>
          </a:bodyPr>
          <a:lstStyle/>
          <a:p>
            <a:pPr marL="0" indent="0">
              <a:buNone/>
            </a:pPr>
            <a:r>
              <a:rPr lang="en-IN" dirty="0"/>
              <a:t>MongoDB is best suited for unstructured and semi-structured data such as:</a:t>
            </a:r>
          </a:p>
          <a:p>
            <a:r>
              <a:rPr lang="en-IN" dirty="0"/>
              <a:t>Social media posts</a:t>
            </a:r>
          </a:p>
          <a:p>
            <a:r>
              <a:rPr lang="en-IN" dirty="0"/>
              <a:t>Web pages</a:t>
            </a:r>
          </a:p>
          <a:p>
            <a:r>
              <a:rPr lang="en-IN" dirty="0"/>
              <a:t>Emails</a:t>
            </a:r>
          </a:p>
          <a:p>
            <a:r>
              <a:rPr lang="en-IN" dirty="0"/>
              <a:t>Medical records</a:t>
            </a:r>
          </a:p>
          <a:p>
            <a:r>
              <a:rPr lang="en-IN" dirty="0"/>
              <a:t>Reports</a:t>
            </a:r>
          </a:p>
          <a:p>
            <a:r>
              <a:rPr lang="en-IN" dirty="0"/>
              <a:t>Raw data from marketing researches</a:t>
            </a:r>
          </a:p>
          <a:p>
            <a:r>
              <a:rPr lang="en-IN" dirty="0"/>
              <a:t>Scientific data</a:t>
            </a:r>
          </a:p>
          <a:p>
            <a:endParaRPr lang="en-IN" dirty="0"/>
          </a:p>
        </p:txBody>
      </p:sp>
    </p:spTree>
    <p:extLst>
      <p:ext uri="{BB962C8B-B14F-4D97-AF65-F5344CB8AC3E}">
        <p14:creationId xmlns:p14="http://schemas.microsoft.com/office/powerpoint/2010/main" val="3610494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3" y="418377"/>
            <a:ext cx="7175307" cy="1147703"/>
          </a:xfrm>
        </p:spPr>
        <p:txBody>
          <a:bodyPr>
            <a:noAutofit/>
          </a:bodyPr>
          <a:lstStyle/>
          <a:p>
            <a:r>
              <a:rPr lang="en-IN" sz="2800" dirty="0">
                <a:latin typeface="Berlin Sans FB Demi" panose="020E0802020502020306" pitchFamily="34" charset="0"/>
              </a:rPr>
              <a:t>Excellent MongoDB learning references</a:t>
            </a:r>
          </a:p>
        </p:txBody>
      </p:sp>
      <p:sp>
        <p:nvSpPr>
          <p:cNvPr id="4" name="Content Placeholder 3">
            <a:extLst>
              <a:ext uri="{FF2B5EF4-FFF2-40B4-BE49-F238E27FC236}">
                <a16:creationId xmlns:a16="http://schemas.microsoft.com/office/drawing/2014/main" id="{C3F6C325-4978-40C9-9D69-D2A61AFFB868}"/>
              </a:ext>
            </a:extLst>
          </p:cNvPr>
          <p:cNvSpPr>
            <a:spLocks noGrp="1"/>
          </p:cNvSpPr>
          <p:nvPr>
            <p:ph idx="1"/>
          </p:nvPr>
        </p:nvSpPr>
        <p:spPr>
          <a:xfrm>
            <a:off x="685803" y="1566080"/>
            <a:ext cx="6929649" cy="4189864"/>
          </a:xfrm>
        </p:spPr>
        <p:txBody>
          <a:bodyPr>
            <a:normAutofit/>
          </a:bodyPr>
          <a:lstStyle/>
          <a:p>
            <a:r>
              <a:rPr lang="en-IN" dirty="0"/>
              <a:t>SQL to MongoDB mapping Chart</a:t>
            </a:r>
            <a:br>
              <a:rPr lang="en-IN" dirty="0"/>
            </a:br>
            <a:r>
              <a:rPr lang="en-IN" u="sng" dirty="0">
                <a:hlinkClick r:id="rId2"/>
              </a:rPr>
              <a:t>https://docs.mongodb.com/manual/reference/sql-comparison/</a:t>
            </a:r>
            <a:endParaRPr lang="en-IN" dirty="0"/>
          </a:p>
          <a:p>
            <a:r>
              <a:rPr lang="en-IN" dirty="0"/>
              <a:t>What is NoSQL?</a:t>
            </a:r>
            <a:br>
              <a:rPr lang="en-IN" dirty="0"/>
            </a:br>
            <a:r>
              <a:rPr lang="en-IN" u="sng" dirty="0">
                <a:hlinkClick r:id="rId3"/>
              </a:rPr>
              <a:t>https://www.mongodb.com/nosql-explained</a:t>
            </a:r>
            <a:endParaRPr lang="en-IN" dirty="0"/>
          </a:p>
          <a:p>
            <a:r>
              <a:rPr lang="en-IN" dirty="0"/>
              <a:t>MongoDB and MySQL Comparison</a:t>
            </a:r>
            <a:br>
              <a:rPr lang="en-IN" dirty="0"/>
            </a:br>
            <a:r>
              <a:rPr lang="en-IN" u="sng" dirty="0">
                <a:hlinkClick r:id="rId4"/>
              </a:rPr>
              <a:t>https://www.mongodb.com/compare/mongodb-mysql</a:t>
            </a:r>
            <a:endParaRPr lang="en-IN" u="sng" dirty="0"/>
          </a:p>
          <a:p>
            <a:r>
              <a:rPr lang="en-IN" dirty="0"/>
              <a:t>MongoDB Cheat Sheet</a:t>
            </a:r>
            <a:br>
              <a:rPr lang="en-IN" dirty="0"/>
            </a:br>
            <a:r>
              <a:rPr lang="en-IN" u="sng" dirty="0">
                <a:hlinkClick r:id="rId5"/>
              </a:rPr>
              <a:t>https://blog.codecentric.de/files/2012/12/MongoDB-CheatSheet-v1_0.pdf</a:t>
            </a:r>
            <a:endParaRPr lang="en-IN" dirty="0"/>
          </a:p>
          <a:p>
            <a:r>
              <a:rPr lang="en-IN" dirty="0"/>
              <a:t>Organized Reference card – PDF file – </a:t>
            </a:r>
            <a:r>
              <a:rPr lang="en-IN" dirty="0" err="1"/>
              <a:t>Dzone</a:t>
            </a:r>
            <a:br>
              <a:rPr lang="en-IN" dirty="0"/>
            </a:br>
            <a:r>
              <a:rPr lang="en-IN" u="sng" dirty="0">
                <a:hlinkClick r:id="rId6"/>
              </a:rPr>
              <a:t>https://dzone.com/refcardz/mongodb?chapter=1</a:t>
            </a:r>
            <a:endParaRPr lang="en-IN" dirty="0"/>
          </a:p>
          <a:p>
            <a:pPr marL="0" indent="0" algn="r">
              <a:buNone/>
            </a:pPr>
            <a:r>
              <a:rPr lang="en-IN" i="1" dirty="0"/>
              <a:t>…to be continued</a:t>
            </a:r>
          </a:p>
          <a:p>
            <a:pPr marL="0" indent="0">
              <a:buNone/>
            </a:pPr>
            <a:endParaRPr lang="en-IN" dirty="0"/>
          </a:p>
        </p:txBody>
      </p:sp>
    </p:spTree>
    <p:extLst>
      <p:ext uri="{BB962C8B-B14F-4D97-AF65-F5344CB8AC3E}">
        <p14:creationId xmlns:p14="http://schemas.microsoft.com/office/powerpoint/2010/main" val="27914961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B01D-98E3-4632-88E4-753A99B3E3DB}"/>
              </a:ext>
            </a:extLst>
          </p:cNvPr>
          <p:cNvSpPr>
            <a:spLocks noGrp="1"/>
          </p:cNvSpPr>
          <p:nvPr>
            <p:ph type="title"/>
          </p:nvPr>
        </p:nvSpPr>
        <p:spPr>
          <a:xfrm>
            <a:off x="685803" y="409433"/>
            <a:ext cx="7175307" cy="1147703"/>
          </a:xfrm>
        </p:spPr>
        <p:txBody>
          <a:bodyPr>
            <a:noAutofit/>
          </a:bodyPr>
          <a:lstStyle/>
          <a:p>
            <a:r>
              <a:rPr lang="en-IN" sz="2800" dirty="0">
                <a:latin typeface="Berlin Sans FB Demi" panose="020E0802020502020306" pitchFamily="34" charset="0"/>
              </a:rPr>
              <a:t>Excellent MongoDB learning references</a:t>
            </a:r>
          </a:p>
        </p:txBody>
      </p:sp>
      <p:sp>
        <p:nvSpPr>
          <p:cNvPr id="4" name="Content Placeholder 3">
            <a:extLst>
              <a:ext uri="{FF2B5EF4-FFF2-40B4-BE49-F238E27FC236}">
                <a16:creationId xmlns:a16="http://schemas.microsoft.com/office/drawing/2014/main" id="{C3F6C325-4978-40C9-9D69-D2A61AFFB868}"/>
              </a:ext>
            </a:extLst>
          </p:cNvPr>
          <p:cNvSpPr>
            <a:spLocks noGrp="1"/>
          </p:cNvSpPr>
          <p:nvPr>
            <p:ph idx="1"/>
          </p:nvPr>
        </p:nvSpPr>
        <p:spPr>
          <a:xfrm>
            <a:off x="685803" y="1334068"/>
            <a:ext cx="6765875" cy="4189864"/>
          </a:xfrm>
        </p:spPr>
        <p:txBody>
          <a:bodyPr>
            <a:normAutofit/>
          </a:bodyPr>
          <a:lstStyle/>
          <a:p>
            <a:r>
              <a:rPr lang="en-IN" dirty="0"/>
              <a:t>Online Course Catalogue</a:t>
            </a:r>
            <a:br>
              <a:rPr lang="en-IN" dirty="0"/>
            </a:br>
            <a:r>
              <a:rPr lang="en-IN" u="sng" dirty="0">
                <a:hlinkClick r:id="rId2"/>
              </a:rPr>
              <a:t>https://university.mongodb.com/courses/catalog</a:t>
            </a:r>
            <a:endParaRPr lang="en-IN" dirty="0"/>
          </a:p>
          <a:p>
            <a:r>
              <a:rPr lang="en-IN" dirty="0"/>
              <a:t>MongoDB resources – starter kit</a:t>
            </a:r>
            <a:br>
              <a:rPr lang="en-IN" dirty="0"/>
            </a:br>
            <a:r>
              <a:rPr lang="en-IN" u="sng" dirty="0">
                <a:hlinkClick r:id="rId3"/>
              </a:rPr>
              <a:t>https://resources.mongodb.com/getting-started-with-mongodb</a:t>
            </a:r>
            <a:endParaRPr lang="en-IN" dirty="0"/>
          </a:p>
          <a:p>
            <a:r>
              <a:rPr lang="en-IN" dirty="0"/>
              <a:t>Brief Introduction to MongoDB by Eliot Horowitz (CTO &amp; Co-founder of MongoDB)</a:t>
            </a:r>
            <a:br>
              <a:rPr lang="en-IN" dirty="0"/>
            </a:br>
            <a:r>
              <a:rPr lang="en-IN" u="sng" dirty="0">
                <a:hlinkClick r:id="rId4"/>
              </a:rPr>
              <a:t>https://www.youtube.com/watch?v</a:t>
            </a:r>
            <a:r>
              <a:rPr lang="en-IN" u="sng">
                <a:hlinkClick r:id="rId4"/>
              </a:rPr>
              <a:t>=EE8ZTQxa0AM</a:t>
            </a:r>
            <a:endParaRPr lang="en-IN" dirty="0"/>
          </a:p>
        </p:txBody>
      </p:sp>
    </p:spTree>
    <p:extLst>
      <p:ext uri="{BB962C8B-B14F-4D97-AF65-F5344CB8AC3E}">
        <p14:creationId xmlns:p14="http://schemas.microsoft.com/office/powerpoint/2010/main" val="15086111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4507</TotalTime>
  <Words>3975</Words>
  <Application>Microsoft Office PowerPoint</Application>
  <PresentationFormat>Widescreen</PresentationFormat>
  <Paragraphs>586</Paragraphs>
  <Slides>45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ＭＳ Ｐゴシック</vt:lpstr>
      <vt:lpstr>Arial</vt:lpstr>
      <vt:lpstr>Berlin Sans FB Demi</vt:lpstr>
      <vt:lpstr>Calibri</vt:lpstr>
      <vt:lpstr>Calibri Light</vt:lpstr>
      <vt:lpstr>Constantia</vt:lpstr>
      <vt:lpstr>Wingdings</vt:lpstr>
      <vt:lpstr>Celestial</vt:lpstr>
      <vt:lpstr>PowerPoint Presentation</vt:lpstr>
      <vt:lpstr>Contents</vt:lpstr>
      <vt:lpstr>What is Mongodb?</vt:lpstr>
      <vt:lpstr>What is NOSQL?</vt:lpstr>
      <vt:lpstr>How nosql is different from conventional rdbms?</vt:lpstr>
      <vt:lpstr>Why mongodb is important ?</vt:lpstr>
      <vt:lpstr>Key features of mongodb ?</vt:lpstr>
      <vt:lpstr>Not great for? </vt:lpstr>
      <vt:lpstr>HOW TO INSTALL &amp; RUN MONGODB ? </vt:lpstr>
      <vt:lpstr>How to install &amp; run mongodb ?</vt:lpstr>
      <vt:lpstr>PowerPoint Presentation</vt:lpstr>
      <vt:lpstr>HOW TO INSTALL &amp; RUN MONGODB ? </vt:lpstr>
      <vt:lpstr>What is there in installation package ?</vt:lpstr>
      <vt:lpstr>What is there in installation package ?</vt:lpstr>
      <vt:lpstr>What is json?</vt:lpstr>
      <vt:lpstr>json example</vt:lpstr>
      <vt:lpstr>Basic sql to mongodb Terminology comparison</vt:lpstr>
      <vt:lpstr>ROW(RDBMS)      DOCUMENT(NOSQL)</vt:lpstr>
      <vt:lpstr>Major datatypes in mongodb ?</vt:lpstr>
      <vt:lpstr>What is objectId (_id) ?</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Basic crud operations</vt:lpstr>
      <vt:lpstr>IMPORTANT PROJECTION &amp; QUERY METHODS</vt:lpstr>
      <vt:lpstr>IMPORTANT PROJECTION &amp; QUERY METHODS</vt:lpstr>
      <vt:lpstr>IMPORTANT PROJECTION &amp; QUERY METHODS</vt:lpstr>
      <vt:lpstr>IMPORTANT operators  </vt:lpstr>
      <vt:lpstr>RDBMS Where clause equivalents in MongoDB</vt:lpstr>
      <vt:lpstr>Where mongodb is best suitable?</vt:lpstr>
      <vt:lpstr>Excellent MongoDB learning references</vt:lpstr>
      <vt:lpstr>Excellent MongoDB learning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Aishwarya Kumar Singh</dc:creator>
  <cp:lastModifiedBy>Shyani Sharma</cp:lastModifiedBy>
  <cp:revision>227</cp:revision>
  <dcterms:created xsi:type="dcterms:W3CDTF">2018-11-14T08:16:38Z</dcterms:created>
  <dcterms:modified xsi:type="dcterms:W3CDTF">2026-07-17T10:15:08Z</dcterms:modified>
</cp:coreProperties>
</file>