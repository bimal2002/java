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546" r:id="rId2"/>
    <p:sldId id="308" r:id="rId3"/>
    <p:sldId id="377" r:id="rId4"/>
    <p:sldId id="381" r:id="rId5"/>
    <p:sldId id="549" r:id="rId6"/>
    <p:sldId id="559" r:id="rId7"/>
    <p:sldId id="551" r:id="rId8"/>
    <p:sldId id="552" r:id="rId9"/>
    <p:sldId id="550" r:id="rId10"/>
    <p:sldId id="557" r:id="rId11"/>
    <p:sldId id="547" r:id="rId12"/>
    <p:sldId id="554" r:id="rId13"/>
    <p:sldId id="553" r:id="rId14"/>
    <p:sldId id="555" r:id="rId15"/>
    <p:sldId id="556" r:id="rId16"/>
    <p:sldId id="558" r:id="rId17"/>
  </p:sldIdLst>
  <p:sldSz cx="12192000" cy="6858000"/>
  <p:notesSz cx="6858000" cy="9144000"/>
  <p:defaultTextStyle>
    <a:defPPr>
      <a:defRPr lang="sv-S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B500"/>
    <a:srgbClr val="003865"/>
    <a:srgbClr val="C0C0C0"/>
    <a:srgbClr val="F2F2F2"/>
    <a:srgbClr val="EAEAEA"/>
    <a:srgbClr val="787878"/>
    <a:srgbClr val="961B81"/>
    <a:srgbClr val="FBFBFB"/>
    <a:srgbClr val="FCFC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647" autoAdjust="0"/>
    <p:restoredTop sz="95501" autoAdjust="0"/>
  </p:normalViewPr>
  <p:slideViewPr>
    <p:cSldViewPr snapToGrid="0">
      <p:cViewPr varScale="1">
        <p:scale>
          <a:sx n="91" d="100"/>
          <a:sy n="91" d="100"/>
        </p:scale>
        <p:origin x="706" y="67"/>
      </p:cViewPr>
      <p:guideLst/>
    </p:cSldViewPr>
  </p:slideViewPr>
  <p:outlineViewPr>
    <p:cViewPr>
      <p:scale>
        <a:sx n="33" d="100"/>
        <a:sy n="33" d="100"/>
      </p:scale>
      <p:origin x="0" y="-1188"/>
    </p:cViewPr>
  </p:outlineViewPr>
  <p:notesTextViewPr>
    <p:cViewPr>
      <p:scale>
        <a:sx n="200" d="100"/>
        <a:sy n="2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BEE5AE1-1D5F-483D-90B5-92A2A708F59B}" type="datetimeFigureOut">
              <a:rPr lang="en-US" smtClean="0"/>
              <a:t>7/30/2026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919B2B-FBA9-4EA3-BAD3-94A21FB4DC70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09403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22919B2B-FBA9-4EA3-BAD3-94A21FB4DC70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57330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JU Intro">
    <p:bg>
      <p:bgPr>
        <a:solidFill>
          <a:srgbClr val="7878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59CC-B640-4DB3-BB6F-301CDED75AAD}" type="datetimeFigureOut">
              <a:rPr lang="sv-SE" smtClean="0"/>
              <a:t>2026-07-30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pic>
        <p:nvPicPr>
          <p:cNvPr id="8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48029" y="2514600"/>
            <a:ext cx="3295941" cy="18344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800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tart Grey">
    <p:bg>
      <p:bgPr>
        <a:solidFill>
          <a:srgbClr val="7878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408079" y="1122363"/>
            <a:ext cx="11501792" cy="2387600"/>
          </a:xfrm>
        </p:spPr>
        <p:txBody>
          <a:bodyPr anchor="b"/>
          <a:lstStyle>
            <a:lvl1pPr algn="l">
              <a:defRPr sz="6000"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8079" y="3602038"/>
            <a:ext cx="11501792" cy="1655762"/>
          </a:xfrm>
        </p:spPr>
        <p:txBody>
          <a:bodyPr/>
          <a:lstStyle>
            <a:lvl1pPr marL="0" indent="0" algn="l">
              <a:buNone/>
              <a:defRPr sz="2400">
                <a:latin typeface="Georgia" panose="02040502050405020303" pitchFamily="18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sv-S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59CC-B640-4DB3-BB6F-301CDED75AAD}" type="datetimeFigureOut">
              <a:rPr lang="sv-SE" smtClean="0"/>
              <a:t>2026-07-30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cxnSp>
        <p:nvCxnSpPr>
          <p:cNvPr id="9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8"/>
          </a:xfrm>
          <a:prstGeom prst="rect">
            <a:avLst/>
          </a:prstGeom>
        </p:spPr>
      </p:pic>
      <p:cxnSp>
        <p:nvCxnSpPr>
          <p:cNvPr id="11" name="Rak 6"/>
          <p:cNvCxnSpPr/>
          <p:nvPr userDrawn="1"/>
        </p:nvCxnSpPr>
        <p:spPr>
          <a:xfrm>
            <a:off x="520700" y="475096"/>
            <a:ext cx="11389171" cy="0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771508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Orange">
    <p:bg>
      <p:bgPr>
        <a:solidFill>
          <a:srgbClr val="FFB5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Title 1"/>
          <p:cNvSpPr>
            <a:spLocks noGrp="1"/>
          </p:cNvSpPr>
          <p:nvPr>
            <p:ph type="ctrTitle" hasCustomPrompt="1"/>
          </p:nvPr>
        </p:nvSpPr>
        <p:spPr>
          <a:xfrm>
            <a:off x="408079" y="1122363"/>
            <a:ext cx="11501792" cy="2387600"/>
          </a:xfrm>
        </p:spPr>
        <p:txBody>
          <a:bodyPr anchor="b"/>
          <a:lstStyle>
            <a:lvl1pPr algn="l">
              <a:defRPr sz="6000" cap="all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6" name="Subtitle 2"/>
          <p:cNvSpPr>
            <a:spLocks noGrp="1"/>
          </p:cNvSpPr>
          <p:nvPr>
            <p:ph type="subTitle" idx="1"/>
          </p:nvPr>
        </p:nvSpPr>
        <p:spPr>
          <a:xfrm>
            <a:off x="408079" y="3602038"/>
            <a:ext cx="11501792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sv-SE" dirty="0"/>
          </a:p>
        </p:txBody>
      </p:sp>
      <p:cxnSp>
        <p:nvCxnSpPr>
          <p:cNvPr id="37" name="Rak 6"/>
          <p:cNvCxnSpPr/>
          <p:nvPr userDrawn="1"/>
        </p:nvCxnSpPr>
        <p:spPr>
          <a:xfrm>
            <a:off x="520700" y="475096"/>
            <a:ext cx="11389171" cy="0"/>
          </a:xfrm>
          <a:prstGeom prst="line">
            <a:avLst/>
          </a:prstGeom>
          <a:ln w="952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5754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59CC-B640-4DB3-BB6F-301CDED75AAD}" type="datetimeFigureOut">
              <a:rPr lang="sv-SE" smtClean="0"/>
              <a:t>2026-07-30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sp>
        <p:nvSpPr>
          <p:cNvPr id="32" name="Title 1"/>
          <p:cNvSpPr>
            <a:spLocks noGrp="1"/>
          </p:cNvSpPr>
          <p:nvPr>
            <p:ph type="ctrTitle" hasCustomPrompt="1"/>
          </p:nvPr>
        </p:nvSpPr>
        <p:spPr>
          <a:xfrm>
            <a:off x="408079" y="1122363"/>
            <a:ext cx="11501792" cy="2387600"/>
          </a:xfrm>
        </p:spPr>
        <p:txBody>
          <a:bodyPr anchor="b"/>
          <a:lstStyle>
            <a:lvl1pPr algn="l">
              <a:defRPr sz="6000" cap="all" baseline="0">
                <a:solidFill>
                  <a:srgbClr val="787878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3" name="Subtitle 2"/>
          <p:cNvSpPr>
            <a:spLocks noGrp="1"/>
          </p:cNvSpPr>
          <p:nvPr>
            <p:ph type="subTitle" idx="1"/>
          </p:nvPr>
        </p:nvSpPr>
        <p:spPr>
          <a:xfrm>
            <a:off x="408079" y="3602038"/>
            <a:ext cx="11501792" cy="1655762"/>
          </a:xfrm>
        </p:spPr>
        <p:txBody>
          <a:bodyPr/>
          <a:lstStyle>
            <a:lvl1pPr marL="0" indent="0" algn="l">
              <a:buNone/>
              <a:defRPr sz="2400">
                <a:solidFill>
                  <a:srgbClr val="787878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sv-SE" dirty="0"/>
          </a:p>
        </p:txBody>
      </p:sp>
      <p:cxnSp>
        <p:nvCxnSpPr>
          <p:cNvPr id="37" name="Rak 6"/>
          <p:cNvCxnSpPr/>
          <p:nvPr userDrawn="1"/>
        </p:nvCxnSpPr>
        <p:spPr>
          <a:xfrm>
            <a:off x="520700" y="475096"/>
            <a:ext cx="11389171" cy="0"/>
          </a:xfrm>
          <a:prstGeom prst="line">
            <a:avLst/>
          </a:prstGeom>
          <a:ln w="9525" cmpd="sng">
            <a:solidFill>
              <a:srgbClr val="787878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0108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Blue">
    <p:bg>
      <p:bgPr>
        <a:solidFill>
          <a:srgbClr val="00386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08079" y="1122363"/>
            <a:ext cx="11501792" cy="2387600"/>
          </a:xfrm>
        </p:spPr>
        <p:txBody>
          <a:bodyPr anchor="b"/>
          <a:lstStyle>
            <a:lvl1pPr algn="l">
              <a:defRPr sz="6000" cap="all" baseline="0"/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408079" y="3602038"/>
            <a:ext cx="11501792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sv-SE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28859CC-B640-4DB3-BB6F-301CDED75AAD}" type="datetimeFigureOut">
              <a:rPr lang="sv-SE" smtClean="0"/>
              <a:t>2026-07-30</a:t>
            </a:fld>
            <a:endParaRPr lang="sv-SE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sv-SE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cxnSp>
        <p:nvCxnSpPr>
          <p:cNvPr id="16" name="Rak 6"/>
          <p:cNvCxnSpPr/>
          <p:nvPr userDrawn="1"/>
        </p:nvCxnSpPr>
        <p:spPr>
          <a:xfrm>
            <a:off x="520700" y="475096"/>
            <a:ext cx="11389171" cy="0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47910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tart Purple">
    <p:bg>
      <p:bgPr>
        <a:solidFill>
          <a:srgbClr val="961B8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408079" y="1122363"/>
            <a:ext cx="11501792" cy="2387600"/>
          </a:xfrm>
        </p:spPr>
        <p:txBody>
          <a:bodyPr anchor="b"/>
          <a:lstStyle>
            <a:lvl1pPr algn="l">
              <a:defRPr sz="6000" cap="all" baseline="0"/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408079" y="3602038"/>
            <a:ext cx="11501792" cy="1655762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sv-SE" dirty="0"/>
          </a:p>
        </p:txBody>
      </p:sp>
      <p:sp>
        <p:nvSpPr>
          <p:cNvPr id="10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/>
          <a:p>
            <a:fld id="{428859CC-B640-4DB3-BB6F-301CDED75AAD}" type="datetimeFigureOut">
              <a:rPr lang="sv-SE" smtClean="0"/>
              <a:t>2026-07-30</a:t>
            </a:fld>
            <a:endParaRPr lang="sv-SE"/>
          </a:p>
        </p:txBody>
      </p:sp>
      <p:sp>
        <p:nvSpPr>
          <p:cNvPr id="11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/>
          <a:p>
            <a:endParaRPr lang="sv-SE"/>
          </a:p>
        </p:txBody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cxnSp>
        <p:nvCxnSpPr>
          <p:cNvPr id="16" name="Rak 6"/>
          <p:cNvCxnSpPr/>
          <p:nvPr userDrawn="1"/>
        </p:nvCxnSpPr>
        <p:spPr>
          <a:xfrm>
            <a:off x="520700" y="475096"/>
            <a:ext cx="11389171" cy="0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8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81123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59CC-B640-4DB3-BB6F-301CDED75AAD}" type="datetimeFigureOut">
              <a:rPr lang="sv-SE" smtClean="0"/>
              <a:t>2026-07-30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cxnSp>
        <p:nvCxnSpPr>
          <p:cNvPr id="10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37353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>
                <a:solidFill>
                  <a:srgbClr val="787878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787878"/>
                </a:solidFill>
              </a:defRPr>
            </a:lvl1pPr>
            <a:lvl2pPr>
              <a:defRPr>
                <a:solidFill>
                  <a:srgbClr val="787878"/>
                </a:solidFill>
              </a:defRPr>
            </a:lvl2pPr>
            <a:lvl3pPr>
              <a:defRPr>
                <a:solidFill>
                  <a:srgbClr val="787878"/>
                </a:solidFill>
              </a:defRPr>
            </a:lvl3pPr>
            <a:lvl4pPr>
              <a:defRPr>
                <a:solidFill>
                  <a:srgbClr val="787878"/>
                </a:solidFill>
              </a:defRPr>
            </a:lvl4pPr>
            <a:lvl5pPr>
              <a:defRPr>
                <a:solidFill>
                  <a:srgbClr val="787878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59CC-B640-4DB3-BB6F-301CDED75AAD}" type="datetimeFigureOut">
              <a:rPr lang="sv-SE" smtClean="0"/>
              <a:t>2026-07-30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cxnSp>
        <p:nvCxnSpPr>
          <p:cNvPr id="9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31969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Georgia" panose="02040502050405020303" pitchFamily="18" charset="0"/>
              </a:defRPr>
            </a:lvl1pPr>
            <a:lvl2pPr>
              <a:defRPr>
                <a:latin typeface="Georgia" panose="02040502050405020303" pitchFamily="18" charset="0"/>
              </a:defRPr>
            </a:lvl2pPr>
            <a:lvl3pPr>
              <a:defRPr>
                <a:latin typeface="Georgia" panose="02040502050405020303" pitchFamily="18" charset="0"/>
              </a:defRPr>
            </a:lvl3pPr>
            <a:lvl4pPr>
              <a:defRPr>
                <a:latin typeface="Georgia" panose="02040502050405020303" pitchFamily="18" charset="0"/>
              </a:defRPr>
            </a:lvl4pPr>
            <a:lvl5pPr>
              <a:defRPr>
                <a:latin typeface="Georgia" panose="02040502050405020303" pitchFamily="18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59CC-B640-4DB3-BB6F-301CDED75AAD}" type="datetimeFigureOut">
              <a:rPr lang="sv-SE" smtClean="0"/>
              <a:t>2026-07-30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cxnSp>
        <p:nvCxnSpPr>
          <p:cNvPr id="11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72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>
                <a:solidFill>
                  <a:srgbClr val="787878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rgbClr val="787878"/>
                </a:solidFill>
              </a:defRPr>
            </a:lvl1pPr>
            <a:lvl2pPr>
              <a:defRPr>
                <a:solidFill>
                  <a:srgbClr val="787878"/>
                </a:solidFill>
              </a:defRPr>
            </a:lvl2pPr>
            <a:lvl3pPr>
              <a:defRPr>
                <a:solidFill>
                  <a:srgbClr val="787878"/>
                </a:solidFill>
              </a:defRPr>
            </a:lvl3pPr>
            <a:lvl4pPr>
              <a:defRPr>
                <a:solidFill>
                  <a:srgbClr val="787878"/>
                </a:solidFill>
              </a:defRPr>
            </a:lvl4pPr>
            <a:lvl5pPr>
              <a:defRPr>
                <a:solidFill>
                  <a:srgbClr val="787878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rgbClr val="787878"/>
                </a:solidFill>
              </a:defRPr>
            </a:lvl1pPr>
            <a:lvl2pPr>
              <a:defRPr>
                <a:solidFill>
                  <a:srgbClr val="787878"/>
                </a:solidFill>
              </a:defRPr>
            </a:lvl2pPr>
            <a:lvl3pPr>
              <a:defRPr>
                <a:solidFill>
                  <a:srgbClr val="787878"/>
                </a:solidFill>
              </a:defRPr>
            </a:lvl3pPr>
            <a:lvl4pPr>
              <a:defRPr>
                <a:solidFill>
                  <a:srgbClr val="787878"/>
                </a:solidFill>
              </a:defRPr>
            </a:lvl4pPr>
            <a:lvl5pPr>
              <a:defRPr>
                <a:solidFill>
                  <a:srgbClr val="787878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59CC-B640-4DB3-BB6F-301CDED75AAD}" type="datetimeFigureOut">
              <a:rPr lang="sv-SE" smtClean="0"/>
              <a:t>2026-07-30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cxnSp>
        <p:nvCxnSpPr>
          <p:cNvPr id="10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43060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72200" y="802696"/>
            <a:ext cx="5181600" cy="1325563"/>
          </a:xfrm>
        </p:spPr>
        <p:txBody>
          <a:bodyPr anchor="b" anchorCtr="0"/>
          <a:lstStyle>
            <a:lvl1pPr>
              <a:defRPr cap="all" baseline="0"/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338141"/>
            <a:ext cx="5181600" cy="3838821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59CC-B640-4DB3-BB6F-301CDED75AAD}" type="datetimeFigureOut">
              <a:rPr lang="sv-SE" smtClean="0"/>
              <a:t>2026-07-30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sp>
        <p:nvSpPr>
          <p:cNvPr id="11" name="Picture Placeholder 2"/>
          <p:cNvSpPr>
            <a:spLocks noGrp="1"/>
          </p:cNvSpPr>
          <p:nvPr>
            <p:ph type="pic" idx="1"/>
          </p:nvPr>
        </p:nvSpPr>
        <p:spPr>
          <a:xfrm>
            <a:off x="520700" y="476093"/>
            <a:ext cx="5194300" cy="53698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cxnSp>
        <p:nvCxnSpPr>
          <p:cNvPr id="12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88777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and Content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6172200" y="802696"/>
            <a:ext cx="5181600" cy="1325563"/>
          </a:xfrm>
        </p:spPr>
        <p:txBody>
          <a:bodyPr anchor="b" anchorCtr="0"/>
          <a:lstStyle>
            <a:lvl1pPr>
              <a:defRPr cap="all" baseline="0">
                <a:solidFill>
                  <a:srgbClr val="787878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338141"/>
            <a:ext cx="5181600" cy="3838821"/>
          </a:xfrm>
        </p:spPr>
        <p:txBody>
          <a:bodyPr/>
          <a:lstStyle>
            <a:lvl1pPr>
              <a:defRPr>
                <a:solidFill>
                  <a:srgbClr val="787878"/>
                </a:solidFill>
              </a:defRPr>
            </a:lvl1pPr>
            <a:lvl2pPr>
              <a:defRPr>
                <a:solidFill>
                  <a:srgbClr val="787878"/>
                </a:solidFill>
              </a:defRPr>
            </a:lvl2pPr>
            <a:lvl3pPr>
              <a:defRPr>
                <a:solidFill>
                  <a:srgbClr val="787878"/>
                </a:solidFill>
              </a:defRPr>
            </a:lvl3pPr>
            <a:lvl4pPr>
              <a:defRPr>
                <a:solidFill>
                  <a:srgbClr val="787878"/>
                </a:solidFill>
              </a:defRPr>
            </a:lvl4pPr>
            <a:lvl5pPr>
              <a:defRPr>
                <a:solidFill>
                  <a:srgbClr val="787878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59CC-B640-4DB3-BB6F-301CDED75AAD}" type="datetimeFigureOut">
              <a:rPr lang="sv-SE" smtClean="0"/>
              <a:t>2026-07-30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sp>
        <p:nvSpPr>
          <p:cNvPr id="11" name="Picture Placeholder 2"/>
          <p:cNvSpPr>
            <a:spLocks noGrp="1"/>
          </p:cNvSpPr>
          <p:nvPr>
            <p:ph type="pic" idx="1"/>
          </p:nvPr>
        </p:nvSpPr>
        <p:spPr>
          <a:xfrm>
            <a:off x="520700" y="476093"/>
            <a:ext cx="5194300" cy="5369844"/>
          </a:xfrm>
        </p:spPr>
        <p:txBody>
          <a:bodyPr/>
          <a:lstStyle>
            <a:lvl1pPr marL="0" indent="0">
              <a:buNone/>
              <a:defRPr sz="3200">
                <a:solidFill>
                  <a:srgbClr val="787878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 dirty="0"/>
          </a:p>
        </p:txBody>
      </p:sp>
      <p:cxnSp>
        <p:nvCxnSpPr>
          <p:cNvPr id="12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3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28800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boxes rectang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75275"/>
            <a:ext cx="4489502" cy="3797247"/>
          </a:xfrm>
          <a:prstGeom prst="round2DiagRect">
            <a:avLst/>
          </a:prstGeom>
          <a:solidFill>
            <a:srgbClr val="939393"/>
          </a:solidFill>
        </p:spPr>
        <p:txBody>
          <a:bodyPr>
            <a:normAutofit/>
          </a:bodyPr>
          <a:lstStyle>
            <a:lvl1pPr marL="0" indent="0" algn="ctr">
              <a:buNone/>
              <a:defRPr sz="40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5980" y="1153050"/>
            <a:ext cx="4489200" cy="3819472"/>
          </a:xfrm>
          <a:prstGeom prst="round2DiagRect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 algn="ctr">
              <a:buNone/>
              <a:defRPr sz="4000" cap="all" baseline="0">
                <a:solidFill>
                  <a:srgbClr val="787878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59CC-B640-4DB3-BB6F-301CDED75AAD}" type="datetimeFigureOut">
              <a:rPr lang="sv-SE" smtClean="0"/>
              <a:t>2026-07-30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50092" y="2467261"/>
            <a:ext cx="3928230" cy="3021879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4"/>
          </p:nvPr>
        </p:nvSpPr>
        <p:spPr>
          <a:xfrm>
            <a:off x="6990248" y="2467260"/>
            <a:ext cx="4051660" cy="3021879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787878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4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195258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boxes rectangle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175275"/>
            <a:ext cx="4489502" cy="3767019"/>
          </a:xfrm>
          <a:prstGeom prst="round2DiagRect">
            <a:avLst/>
          </a:prstGeom>
          <a:solidFill>
            <a:srgbClr val="939393"/>
          </a:solidFill>
        </p:spPr>
        <p:txBody>
          <a:bodyPr>
            <a:normAutofit/>
          </a:bodyPr>
          <a:lstStyle>
            <a:lvl1pPr marL="0" indent="0" algn="ctr">
              <a:buNone/>
              <a:defRPr sz="40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5980" y="1153050"/>
            <a:ext cx="4489200" cy="3789244"/>
          </a:xfrm>
          <a:prstGeom prst="round2DiagRect">
            <a:avLst/>
          </a:prstGeom>
          <a:solidFill>
            <a:srgbClr val="787878"/>
          </a:solidFill>
        </p:spPr>
        <p:txBody>
          <a:bodyPr>
            <a:normAutofit/>
          </a:bodyPr>
          <a:lstStyle>
            <a:lvl1pPr marL="0" indent="0" algn="ctr">
              <a:buNone/>
              <a:defRPr sz="4000" cap="all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59CC-B640-4DB3-BB6F-301CDED75AAD}" type="datetimeFigureOut">
              <a:rPr lang="sv-SE" smtClean="0"/>
              <a:t>2026-07-30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150092" y="2467261"/>
            <a:ext cx="3928230" cy="3021879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4"/>
          </p:nvPr>
        </p:nvSpPr>
        <p:spPr>
          <a:xfrm>
            <a:off x="6990248" y="2467260"/>
            <a:ext cx="4051660" cy="3021879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1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5431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boxes teardr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0092" y="1175275"/>
            <a:ext cx="3798000" cy="3797247"/>
          </a:xfrm>
          <a:prstGeom prst="teardrop">
            <a:avLst/>
          </a:prstGeom>
          <a:solidFill>
            <a:srgbClr val="939393"/>
          </a:solidFill>
        </p:spPr>
        <p:txBody>
          <a:bodyPr>
            <a:normAutofit/>
          </a:bodyPr>
          <a:lstStyle>
            <a:lvl1pPr marL="0" indent="0" algn="ctr">
              <a:buNone/>
              <a:defRPr sz="40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5980" y="1153050"/>
            <a:ext cx="3798000" cy="3798000"/>
          </a:xfrm>
          <a:prstGeom prst="teardrop">
            <a:avLst/>
          </a:prstGeom>
          <a:solidFill>
            <a:schemeClr val="bg1"/>
          </a:solidFill>
        </p:spPr>
        <p:txBody>
          <a:bodyPr>
            <a:normAutofit/>
          </a:bodyPr>
          <a:lstStyle>
            <a:lvl1pPr marL="0" indent="0" algn="ctr">
              <a:buNone/>
              <a:defRPr sz="4000" cap="all" baseline="0">
                <a:solidFill>
                  <a:srgbClr val="787878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59CC-B640-4DB3-BB6F-301CDED75AAD}" type="datetimeFigureOut">
              <a:rPr lang="sv-SE" smtClean="0"/>
              <a:t>2026-07-30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084977" y="2817853"/>
            <a:ext cx="3928230" cy="3021879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4"/>
          </p:nvPr>
        </p:nvSpPr>
        <p:spPr>
          <a:xfrm>
            <a:off x="6629150" y="2817854"/>
            <a:ext cx="4051660" cy="3021879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rgbClr val="787878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4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5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254785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fo boxes teardrop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9112" y="1175274"/>
            <a:ext cx="3798000" cy="3798000"/>
          </a:xfrm>
          <a:prstGeom prst="teardrop">
            <a:avLst/>
          </a:prstGeom>
          <a:solidFill>
            <a:srgbClr val="939393"/>
          </a:solidFill>
        </p:spPr>
        <p:txBody>
          <a:bodyPr>
            <a:normAutofit/>
          </a:bodyPr>
          <a:lstStyle>
            <a:lvl1pPr marL="0" indent="0" algn="ctr">
              <a:buNone/>
              <a:defRPr sz="4000" cap="all" baseline="0">
                <a:latin typeface="+mj-lt"/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  <a:p>
            <a:pPr lvl="0"/>
            <a:endParaRPr lang="en-US" dirty="0"/>
          </a:p>
          <a:p>
            <a:pPr lvl="0"/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5980" y="1153050"/>
            <a:ext cx="3798000" cy="3798000"/>
          </a:xfrm>
          <a:prstGeom prst="teardrop">
            <a:avLst/>
          </a:prstGeom>
          <a:solidFill>
            <a:srgbClr val="787878"/>
          </a:solidFill>
        </p:spPr>
        <p:txBody>
          <a:bodyPr>
            <a:normAutofit/>
          </a:bodyPr>
          <a:lstStyle>
            <a:lvl1pPr marL="0" indent="0" algn="ctr">
              <a:buNone/>
              <a:defRPr sz="4000" cap="all" baseline="0">
                <a:solidFill>
                  <a:schemeClr val="bg1"/>
                </a:solidFill>
                <a:latin typeface="+mj-lt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59CC-B640-4DB3-BB6F-301CDED75AAD}" type="datetimeFigureOut">
              <a:rPr lang="sv-SE" smtClean="0"/>
              <a:t>2026-07-30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893997" y="2818606"/>
            <a:ext cx="3928230" cy="3021879"/>
          </a:xfrm>
        </p:spPr>
        <p:txBody>
          <a:bodyPr>
            <a:normAutofit/>
          </a:bodyPr>
          <a:lstStyle>
            <a:lvl1pPr marL="0" indent="0" algn="ctr">
              <a:buNone/>
              <a:defRPr sz="2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14"/>
          </p:nvPr>
        </p:nvSpPr>
        <p:spPr>
          <a:xfrm>
            <a:off x="6629150" y="2818606"/>
            <a:ext cx="4051660" cy="3021879"/>
          </a:xfrm>
        </p:spPr>
        <p:txBody>
          <a:bodyPr>
            <a:normAutofit/>
          </a:bodyPr>
          <a:lstStyle>
            <a:lvl1pPr marL="0" indent="0" algn="ctr">
              <a:buNone/>
              <a:defRPr sz="2800">
                <a:solidFill>
                  <a:schemeClr val="bg1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cxnSp>
        <p:nvCxnSpPr>
          <p:cNvPr id="11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6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50333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59CC-B640-4DB3-BB6F-301CDED75AAD}" type="datetimeFigureOut">
              <a:rPr lang="sv-SE" smtClean="0"/>
              <a:t>2026-07-30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cxnSp>
        <p:nvCxnSpPr>
          <p:cNvPr id="9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4236014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cap="all" baseline="0">
                <a:solidFill>
                  <a:srgbClr val="787878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59CC-B640-4DB3-BB6F-301CDED75AAD}" type="datetimeFigureOut">
              <a:rPr lang="sv-SE" smtClean="0"/>
              <a:t>2026-07-30</a:t>
            </a:fld>
            <a:endParaRPr lang="sv-S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cxnSp>
        <p:nvCxnSpPr>
          <p:cNvPr id="8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9799236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59CC-B640-4DB3-BB6F-301CDED75AAD}" type="datetimeFigureOut">
              <a:rPr lang="sv-SE" smtClean="0"/>
              <a:t>2026-07-30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cxnSp>
        <p:nvCxnSpPr>
          <p:cNvPr id="8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922065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59CC-B640-4DB3-BB6F-301CDED75AAD}" type="datetimeFigureOut">
              <a:rPr lang="sv-SE" smtClean="0"/>
              <a:t>2026-07-30</a:t>
            </a:fld>
            <a:endParaRPr lang="sv-S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cxnSp>
        <p:nvCxnSpPr>
          <p:cNvPr id="7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0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62734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b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20700" y="476093"/>
            <a:ext cx="11132232" cy="536984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59CC-B640-4DB3-BB6F-301CDED75AAD}" type="datetimeFigureOut">
              <a:rPr lang="sv-SE" smtClean="0"/>
              <a:t>2026-07-30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cxnSp>
        <p:nvCxnSpPr>
          <p:cNvPr id="11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0657992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border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20700" y="476093"/>
            <a:ext cx="11132232" cy="5369844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59CC-B640-4DB3-BB6F-301CDED75AAD}" type="datetimeFigureOut">
              <a:rPr lang="sv-SE" smtClean="0"/>
              <a:t>2026-07-30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cxnSp>
        <p:nvCxnSpPr>
          <p:cNvPr id="8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8947274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out bor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5845937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59CC-B640-4DB3-BB6F-301CDED75AAD}" type="datetimeFigureOut">
              <a:rPr lang="sv-SE" smtClean="0"/>
              <a:t>2026-07-30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cxnSp>
        <p:nvCxnSpPr>
          <p:cNvPr id="11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bg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454950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out border Whit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12192000" cy="5845937"/>
          </a:xfrm>
        </p:spPr>
        <p:txBody>
          <a:bodyPr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sv-SE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8859CC-B640-4DB3-BB6F-301CDED75AAD}" type="datetimeFigureOut">
              <a:rPr lang="sv-SE" smtClean="0"/>
              <a:t>2026-07-30</a:t>
            </a:fld>
            <a:endParaRPr lang="sv-S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sv-S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  <p:cxnSp>
        <p:nvCxnSpPr>
          <p:cNvPr id="8" name="Rak 7"/>
          <p:cNvCxnSpPr/>
          <p:nvPr userDrawn="1"/>
        </p:nvCxnSpPr>
        <p:spPr>
          <a:xfrm>
            <a:off x="520700" y="6566233"/>
            <a:ext cx="8957023" cy="0"/>
          </a:xfrm>
          <a:prstGeom prst="line">
            <a:avLst/>
          </a:prstGeom>
          <a:ln w="9525" cmpd="sng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1" name="Bildobjekt 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8258" y="6361859"/>
            <a:ext cx="2022742" cy="3191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18297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78787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sv-SE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sv-SE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8859CC-B640-4DB3-BB6F-301CDED75AAD}" type="datetimeFigureOut">
              <a:rPr lang="sv-SE" smtClean="0"/>
              <a:t>2026-07-30</a:t>
            </a:fld>
            <a:endParaRPr lang="sv-S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sv-S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AA12D1-4D5F-4C8C-82B1-BE6DCCEF57B9}" type="slidenum">
              <a:rPr lang="sv-SE" smtClean="0"/>
              <a:t>‹#›</a:t>
            </a:fld>
            <a:endParaRPr lang="sv-SE"/>
          </a:p>
        </p:txBody>
      </p:sp>
    </p:spTree>
    <p:extLst>
      <p:ext uri="{BB962C8B-B14F-4D97-AF65-F5344CB8AC3E}">
        <p14:creationId xmlns:p14="http://schemas.microsoft.com/office/powerpoint/2010/main" val="1054189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8" r:id="rId1"/>
    <p:sldLayoutId id="2147483649" r:id="rId2"/>
    <p:sldLayoutId id="2147483674" r:id="rId3"/>
    <p:sldLayoutId id="2147483681" r:id="rId4"/>
    <p:sldLayoutId id="2147483673" r:id="rId5"/>
    <p:sldLayoutId id="2147483672" r:id="rId6"/>
    <p:sldLayoutId id="2147483650" r:id="rId7"/>
    <p:sldLayoutId id="2147483682" r:id="rId8"/>
    <p:sldLayoutId id="2147483652" r:id="rId9"/>
    <p:sldLayoutId id="2147483683" r:id="rId10"/>
    <p:sldLayoutId id="2147483689" r:id="rId11"/>
    <p:sldLayoutId id="2147483690" r:id="rId12"/>
    <p:sldLayoutId id="2147483675" r:id="rId13"/>
    <p:sldLayoutId id="2147483676" r:id="rId14"/>
    <p:sldLayoutId id="2147483686" r:id="rId15"/>
    <p:sldLayoutId id="2147483687" r:id="rId16"/>
    <p:sldLayoutId id="2147483654" r:id="rId17"/>
    <p:sldLayoutId id="2147483684" r:id="rId18"/>
    <p:sldLayoutId id="2147483655" r:id="rId19"/>
    <p:sldLayoutId id="2147483685" r:id="rId20"/>
    <p:sldLayoutId id="2147483677" r:id="rId21"/>
    <p:sldLayoutId id="2147483678" r:id="rId22"/>
    <p:sldLayoutId id="2147483680" r:id="rId23"/>
    <p:sldLayoutId id="2147483679" r:id="rId2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bg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bg1"/>
          </a:solidFill>
          <a:latin typeface="Georgia" panose="02040502050405020303" pitchFamily="18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bg1"/>
          </a:solidFill>
          <a:latin typeface="Georgia" panose="02040502050405020303" pitchFamily="18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bg1"/>
          </a:solidFill>
          <a:latin typeface="Georgia" panose="02040502050405020303" pitchFamily="18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Georgia" panose="02040502050405020303" pitchFamily="18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Georgia" panose="02040502050405020303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sv-S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hyperlink" Target="https://www.crowdstrike.com/cybersecurity-101/observability/crud/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8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6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800" dirty="0"/>
              <a:t>REST API basics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08079" y="4197783"/>
            <a:ext cx="11501792" cy="1655762"/>
          </a:xfrm>
        </p:spPr>
        <p:txBody>
          <a:bodyPr>
            <a:normAutofit/>
          </a:bodyPr>
          <a:lstStyle/>
          <a:p>
            <a:r>
              <a:rPr lang="en-US" dirty="0"/>
              <a:t>Author : Shyani Sharma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1262" y="6341312"/>
            <a:ext cx="2248609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82475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6624" y="499261"/>
            <a:ext cx="11501792" cy="776075"/>
          </a:xfrm>
        </p:spPr>
        <p:txBody>
          <a:bodyPr>
            <a:normAutofit/>
          </a:bodyPr>
          <a:lstStyle/>
          <a:p>
            <a:r>
              <a:rPr lang="en-US" sz="4800" dirty="0"/>
              <a:t>Traditional web applications</a:t>
            </a:r>
          </a:p>
        </p:txBody>
      </p:sp>
      <p:grpSp>
        <p:nvGrpSpPr>
          <p:cNvPr id="25" name="Group 24">
            <a:extLst>
              <a:ext uri="{FF2B5EF4-FFF2-40B4-BE49-F238E27FC236}">
                <a16:creationId xmlns:a16="http://schemas.microsoft.com/office/drawing/2014/main" id="{9BF87CDC-B486-494A-ACC8-03C89E88152F}"/>
              </a:ext>
            </a:extLst>
          </p:cNvPr>
          <p:cNvGrpSpPr/>
          <p:nvPr/>
        </p:nvGrpSpPr>
        <p:grpSpPr>
          <a:xfrm>
            <a:off x="1573696" y="1066393"/>
            <a:ext cx="2236304" cy="2209800"/>
            <a:chOff x="2345635" y="1690688"/>
            <a:chExt cx="2236304" cy="2209800"/>
          </a:xfrm>
        </p:grpSpPr>
        <p:sp>
          <p:nvSpPr>
            <p:cNvPr id="24" name="Rectangle 23">
              <a:extLst>
                <a:ext uri="{FF2B5EF4-FFF2-40B4-BE49-F238E27FC236}">
                  <a16:creationId xmlns:a16="http://schemas.microsoft.com/office/drawing/2014/main" id="{7B000BC2-1E72-4DDF-94BB-7BB2323904BB}"/>
                </a:ext>
              </a:extLst>
            </p:cNvPr>
            <p:cNvSpPr/>
            <p:nvPr/>
          </p:nvSpPr>
          <p:spPr>
            <a:xfrm>
              <a:off x="3220278" y="2208832"/>
              <a:ext cx="1242391" cy="90051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20" name="Graphic 18" descr="Computer">
              <a:extLst>
                <a:ext uri="{FF2B5EF4-FFF2-40B4-BE49-F238E27FC236}">
                  <a16:creationId xmlns:a16="http://schemas.microsoft.com/office/drawing/2014/main" id="{DD596ADE-C525-4BE7-8CF5-60ECD26C9AC6}"/>
                </a:ext>
              </a:extLst>
            </p:cNvPr>
            <p:cNvGrpSpPr/>
            <p:nvPr/>
          </p:nvGrpSpPr>
          <p:grpSpPr>
            <a:xfrm flipH="1">
              <a:off x="2345635" y="1690688"/>
              <a:ext cx="2236304" cy="2209800"/>
              <a:chOff x="3429000" y="2173356"/>
              <a:chExt cx="2209800" cy="2209800"/>
            </a:xfrm>
          </p:grpSpPr>
          <p:sp>
            <p:nvSpPr>
              <p:cNvPr id="21" name="Freeform: Shape 20">
                <a:extLst>
                  <a:ext uri="{FF2B5EF4-FFF2-40B4-BE49-F238E27FC236}">
                    <a16:creationId xmlns:a16="http://schemas.microsoft.com/office/drawing/2014/main" id="{1EB6B1B1-BF8C-4B99-B409-0F3224D6A70E}"/>
                  </a:ext>
                </a:extLst>
              </p:cNvPr>
              <p:cNvSpPr/>
              <p:nvPr/>
            </p:nvSpPr>
            <p:spPr>
              <a:xfrm>
                <a:off x="3433316" y="2592010"/>
                <a:ext cx="1450181" cy="1358106"/>
              </a:xfrm>
              <a:custGeom>
                <a:avLst/>
                <a:gdLst>
                  <a:gd name="connsiteX0" fmla="*/ 1284734 w 1450181"/>
                  <a:gd name="connsiteY0" fmla="*/ 916434 h 1358106"/>
                  <a:gd name="connsiteX1" fmla="*/ 179834 w 1450181"/>
                  <a:gd name="connsiteY1" fmla="*/ 916434 h 1358106"/>
                  <a:gd name="connsiteX2" fmla="*/ 179834 w 1450181"/>
                  <a:gd name="connsiteY2" fmla="*/ 179834 h 1358106"/>
                  <a:gd name="connsiteX3" fmla="*/ 1284734 w 1450181"/>
                  <a:gd name="connsiteY3" fmla="*/ 179834 h 1358106"/>
                  <a:gd name="connsiteX4" fmla="*/ 1284734 w 1450181"/>
                  <a:gd name="connsiteY4" fmla="*/ 916434 h 1358106"/>
                  <a:gd name="connsiteX5" fmla="*/ 1330772 w 1450181"/>
                  <a:gd name="connsiteY5" fmla="*/ 41721 h 1358106"/>
                  <a:gd name="connsiteX6" fmla="*/ 133796 w 1450181"/>
                  <a:gd name="connsiteY6" fmla="*/ 41721 h 1358106"/>
                  <a:gd name="connsiteX7" fmla="*/ 41721 w 1450181"/>
                  <a:gd name="connsiteY7" fmla="*/ 133796 h 1358106"/>
                  <a:gd name="connsiteX8" fmla="*/ 41721 w 1450181"/>
                  <a:gd name="connsiteY8" fmla="*/ 962472 h 1358106"/>
                  <a:gd name="connsiteX9" fmla="*/ 133796 w 1450181"/>
                  <a:gd name="connsiteY9" fmla="*/ 1054547 h 1358106"/>
                  <a:gd name="connsiteX10" fmla="*/ 594172 w 1450181"/>
                  <a:gd name="connsiteY10" fmla="*/ 1054547 h 1358106"/>
                  <a:gd name="connsiteX11" fmla="*/ 594172 w 1450181"/>
                  <a:gd name="connsiteY11" fmla="*/ 1192659 h 1358106"/>
                  <a:gd name="connsiteX12" fmla="*/ 387003 w 1450181"/>
                  <a:gd name="connsiteY12" fmla="*/ 1192659 h 1358106"/>
                  <a:gd name="connsiteX13" fmla="*/ 387003 w 1450181"/>
                  <a:gd name="connsiteY13" fmla="*/ 1330772 h 1358106"/>
                  <a:gd name="connsiteX14" fmla="*/ 1077565 w 1450181"/>
                  <a:gd name="connsiteY14" fmla="*/ 1330772 h 1358106"/>
                  <a:gd name="connsiteX15" fmla="*/ 1077565 w 1450181"/>
                  <a:gd name="connsiteY15" fmla="*/ 1192659 h 1358106"/>
                  <a:gd name="connsiteX16" fmla="*/ 870397 w 1450181"/>
                  <a:gd name="connsiteY16" fmla="*/ 1192659 h 1358106"/>
                  <a:gd name="connsiteX17" fmla="*/ 870397 w 1450181"/>
                  <a:gd name="connsiteY17" fmla="*/ 1054547 h 1358106"/>
                  <a:gd name="connsiteX18" fmla="*/ 1330772 w 1450181"/>
                  <a:gd name="connsiteY18" fmla="*/ 1054547 h 1358106"/>
                  <a:gd name="connsiteX19" fmla="*/ 1422847 w 1450181"/>
                  <a:gd name="connsiteY19" fmla="*/ 962472 h 1358106"/>
                  <a:gd name="connsiteX20" fmla="*/ 1422847 w 1450181"/>
                  <a:gd name="connsiteY20" fmla="*/ 133796 h 1358106"/>
                  <a:gd name="connsiteX21" fmla="*/ 1330772 w 1450181"/>
                  <a:gd name="connsiteY21" fmla="*/ 41721 h 1358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</a:cxnLst>
                <a:rect l="l" t="t" r="r" b="b"/>
                <a:pathLst>
                  <a:path w="1450181" h="1358106">
                    <a:moveTo>
                      <a:pt x="1284734" y="916434"/>
                    </a:moveTo>
                    <a:lnTo>
                      <a:pt x="179834" y="916434"/>
                    </a:lnTo>
                    <a:lnTo>
                      <a:pt x="179834" y="179834"/>
                    </a:lnTo>
                    <a:lnTo>
                      <a:pt x="1284734" y="179834"/>
                    </a:lnTo>
                    <a:lnTo>
                      <a:pt x="1284734" y="916434"/>
                    </a:lnTo>
                    <a:close/>
                    <a:moveTo>
                      <a:pt x="1330772" y="41721"/>
                    </a:moveTo>
                    <a:lnTo>
                      <a:pt x="133796" y="41721"/>
                    </a:lnTo>
                    <a:cubicBezTo>
                      <a:pt x="83155" y="41721"/>
                      <a:pt x="41721" y="83155"/>
                      <a:pt x="41721" y="133796"/>
                    </a:cubicBezTo>
                    <a:lnTo>
                      <a:pt x="41721" y="962472"/>
                    </a:lnTo>
                    <a:cubicBezTo>
                      <a:pt x="41721" y="1013113"/>
                      <a:pt x="83155" y="1054547"/>
                      <a:pt x="133796" y="1054547"/>
                    </a:cubicBezTo>
                    <a:lnTo>
                      <a:pt x="594172" y="1054547"/>
                    </a:lnTo>
                    <a:lnTo>
                      <a:pt x="594172" y="1192659"/>
                    </a:lnTo>
                    <a:lnTo>
                      <a:pt x="387003" y="1192659"/>
                    </a:lnTo>
                    <a:lnTo>
                      <a:pt x="387003" y="1330772"/>
                    </a:lnTo>
                    <a:lnTo>
                      <a:pt x="1077565" y="1330772"/>
                    </a:lnTo>
                    <a:lnTo>
                      <a:pt x="1077565" y="1192659"/>
                    </a:lnTo>
                    <a:lnTo>
                      <a:pt x="870397" y="1192659"/>
                    </a:lnTo>
                    <a:lnTo>
                      <a:pt x="870397" y="1054547"/>
                    </a:lnTo>
                    <a:lnTo>
                      <a:pt x="1330772" y="1054547"/>
                    </a:lnTo>
                    <a:cubicBezTo>
                      <a:pt x="1381413" y="1054547"/>
                      <a:pt x="1422847" y="1013113"/>
                      <a:pt x="1422847" y="962472"/>
                    </a:cubicBezTo>
                    <a:lnTo>
                      <a:pt x="1422847" y="133796"/>
                    </a:lnTo>
                    <a:cubicBezTo>
                      <a:pt x="1422847" y="83155"/>
                      <a:pt x="1381413" y="41721"/>
                      <a:pt x="1330772" y="41721"/>
                    </a:cubicBezTo>
                    <a:close/>
                  </a:path>
                </a:pathLst>
              </a:custGeom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  <p:sp>
            <p:nvSpPr>
              <p:cNvPr id="22" name="Freeform: Shape 21">
                <a:extLst>
                  <a:ext uri="{FF2B5EF4-FFF2-40B4-BE49-F238E27FC236}">
                    <a16:creationId xmlns:a16="http://schemas.microsoft.com/office/drawing/2014/main" id="{32A575B7-7B1B-49E9-A0DA-E7ABD74AA4D7}"/>
                  </a:ext>
                </a:extLst>
              </p:cNvPr>
              <p:cNvSpPr/>
              <p:nvPr/>
            </p:nvSpPr>
            <p:spPr>
              <a:xfrm>
                <a:off x="4906516" y="2592010"/>
                <a:ext cx="713581" cy="1358106"/>
              </a:xfrm>
              <a:custGeom>
                <a:avLst/>
                <a:gdLst>
                  <a:gd name="connsiteX0" fmla="*/ 594172 w 713581"/>
                  <a:gd name="connsiteY0" fmla="*/ 271909 h 1358106"/>
                  <a:gd name="connsiteX1" fmla="*/ 133796 w 713581"/>
                  <a:gd name="connsiteY1" fmla="*/ 271909 h 1358106"/>
                  <a:gd name="connsiteX2" fmla="*/ 133796 w 713581"/>
                  <a:gd name="connsiteY2" fmla="*/ 133796 h 1358106"/>
                  <a:gd name="connsiteX3" fmla="*/ 594172 w 713581"/>
                  <a:gd name="connsiteY3" fmla="*/ 133796 h 1358106"/>
                  <a:gd name="connsiteX4" fmla="*/ 594172 w 713581"/>
                  <a:gd name="connsiteY4" fmla="*/ 271909 h 1358106"/>
                  <a:gd name="connsiteX5" fmla="*/ 594172 w 713581"/>
                  <a:gd name="connsiteY5" fmla="*/ 502097 h 1358106"/>
                  <a:gd name="connsiteX6" fmla="*/ 133796 w 713581"/>
                  <a:gd name="connsiteY6" fmla="*/ 502097 h 1358106"/>
                  <a:gd name="connsiteX7" fmla="*/ 133796 w 713581"/>
                  <a:gd name="connsiteY7" fmla="*/ 363984 h 1358106"/>
                  <a:gd name="connsiteX8" fmla="*/ 594172 w 713581"/>
                  <a:gd name="connsiteY8" fmla="*/ 363984 h 1358106"/>
                  <a:gd name="connsiteX9" fmla="*/ 594172 w 713581"/>
                  <a:gd name="connsiteY9" fmla="*/ 502097 h 1358106"/>
                  <a:gd name="connsiteX10" fmla="*/ 363984 w 713581"/>
                  <a:gd name="connsiteY10" fmla="*/ 1192659 h 1358106"/>
                  <a:gd name="connsiteX11" fmla="*/ 294928 w 713581"/>
                  <a:gd name="connsiteY11" fmla="*/ 1123603 h 1358106"/>
                  <a:gd name="connsiteX12" fmla="*/ 363984 w 713581"/>
                  <a:gd name="connsiteY12" fmla="*/ 1054547 h 1358106"/>
                  <a:gd name="connsiteX13" fmla="*/ 433040 w 713581"/>
                  <a:gd name="connsiteY13" fmla="*/ 1123603 h 1358106"/>
                  <a:gd name="connsiteX14" fmla="*/ 363984 w 713581"/>
                  <a:gd name="connsiteY14" fmla="*/ 1192659 h 1358106"/>
                  <a:gd name="connsiteX15" fmla="*/ 594172 w 713581"/>
                  <a:gd name="connsiteY15" fmla="*/ 41721 h 1358106"/>
                  <a:gd name="connsiteX16" fmla="*/ 133796 w 713581"/>
                  <a:gd name="connsiteY16" fmla="*/ 41721 h 1358106"/>
                  <a:gd name="connsiteX17" fmla="*/ 41721 w 713581"/>
                  <a:gd name="connsiteY17" fmla="*/ 133796 h 1358106"/>
                  <a:gd name="connsiteX18" fmla="*/ 41721 w 713581"/>
                  <a:gd name="connsiteY18" fmla="*/ 1238697 h 1358106"/>
                  <a:gd name="connsiteX19" fmla="*/ 133796 w 713581"/>
                  <a:gd name="connsiteY19" fmla="*/ 1330772 h 1358106"/>
                  <a:gd name="connsiteX20" fmla="*/ 594172 w 713581"/>
                  <a:gd name="connsiteY20" fmla="*/ 1330772 h 1358106"/>
                  <a:gd name="connsiteX21" fmla="*/ 686247 w 713581"/>
                  <a:gd name="connsiteY21" fmla="*/ 1238697 h 1358106"/>
                  <a:gd name="connsiteX22" fmla="*/ 686247 w 713581"/>
                  <a:gd name="connsiteY22" fmla="*/ 133796 h 1358106"/>
                  <a:gd name="connsiteX23" fmla="*/ 594172 w 713581"/>
                  <a:gd name="connsiteY23" fmla="*/ 41721 h 135810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</a:cxnLst>
                <a:rect l="l" t="t" r="r" b="b"/>
                <a:pathLst>
                  <a:path w="713581" h="1358106">
                    <a:moveTo>
                      <a:pt x="594172" y="271909"/>
                    </a:moveTo>
                    <a:lnTo>
                      <a:pt x="133796" y="271909"/>
                    </a:lnTo>
                    <a:lnTo>
                      <a:pt x="133796" y="133796"/>
                    </a:lnTo>
                    <a:lnTo>
                      <a:pt x="594172" y="133796"/>
                    </a:lnTo>
                    <a:lnTo>
                      <a:pt x="594172" y="271909"/>
                    </a:lnTo>
                    <a:close/>
                    <a:moveTo>
                      <a:pt x="594172" y="502097"/>
                    </a:moveTo>
                    <a:lnTo>
                      <a:pt x="133796" y="502097"/>
                    </a:lnTo>
                    <a:lnTo>
                      <a:pt x="133796" y="363984"/>
                    </a:lnTo>
                    <a:lnTo>
                      <a:pt x="594172" y="363984"/>
                    </a:lnTo>
                    <a:lnTo>
                      <a:pt x="594172" y="502097"/>
                    </a:lnTo>
                    <a:close/>
                    <a:moveTo>
                      <a:pt x="363984" y="1192659"/>
                    </a:moveTo>
                    <a:cubicBezTo>
                      <a:pt x="324852" y="1192659"/>
                      <a:pt x="294928" y="1162735"/>
                      <a:pt x="294928" y="1123603"/>
                    </a:cubicBezTo>
                    <a:cubicBezTo>
                      <a:pt x="294928" y="1084471"/>
                      <a:pt x="324852" y="1054547"/>
                      <a:pt x="363984" y="1054547"/>
                    </a:cubicBezTo>
                    <a:cubicBezTo>
                      <a:pt x="403116" y="1054547"/>
                      <a:pt x="433040" y="1084471"/>
                      <a:pt x="433040" y="1123603"/>
                    </a:cubicBezTo>
                    <a:cubicBezTo>
                      <a:pt x="433040" y="1162735"/>
                      <a:pt x="403116" y="1192659"/>
                      <a:pt x="363984" y="1192659"/>
                    </a:cubicBezTo>
                    <a:close/>
                    <a:moveTo>
                      <a:pt x="594172" y="41721"/>
                    </a:moveTo>
                    <a:lnTo>
                      <a:pt x="133796" y="41721"/>
                    </a:lnTo>
                    <a:cubicBezTo>
                      <a:pt x="83155" y="41721"/>
                      <a:pt x="41721" y="83155"/>
                      <a:pt x="41721" y="133796"/>
                    </a:cubicBezTo>
                    <a:lnTo>
                      <a:pt x="41721" y="1238697"/>
                    </a:lnTo>
                    <a:cubicBezTo>
                      <a:pt x="41721" y="1289338"/>
                      <a:pt x="83155" y="1330772"/>
                      <a:pt x="133796" y="1330772"/>
                    </a:cubicBezTo>
                    <a:lnTo>
                      <a:pt x="594172" y="1330772"/>
                    </a:lnTo>
                    <a:cubicBezTo>
                      <a:pt x="644813" y="1330772"/>
                      <a:pt x="686247" y="1289338"/>
                      <a:pt x="686247" y="1238697"/>
                    </a:cubicBezTo>
                    <a:lnTo>
                      <a:pt x="686247" y="133796"/>
                    </a:lnTo>
                    <a:cubicBezTo>
                      <a:pt x="686247" y="83155"/>
                      <a:pt x="644813" y="41721"/>
                      <a:pt x="594172" y="41721"/>
                    </a:cubicBezTo>
                    <a:close/>
                  </a:path>
                </a:pathLst>
              </a:custGeom>
              <a:ln/>
            </p:spPr>
            <p:style>
              <a:lnRef idx="3">
                <a:schemeClr val="lt1"/>
              </a:lnRef>
              <a:fillRef idx="1">
                <a:schemeClr val="accent4"/>
              </a:fillRef>
              <a:effectRef idx="1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endParaRPr lang="en-US"/>
              </a:p>
            </p:txBody>
          </p:sp>
        </p:grpSp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BF0DE6EF-2B6F-4E87-A8E2-4D4509AC531A}"/>
              </a:ext>
            </a:extLst>
          </p:cNvPr>
          <p:cNvSpPr/>
          <p:nvPr/>
        </p:nvSpPr>
        <p:spPr>
          <a:xfrm flipH="1">
            <a:off x="7918277" y="1584537"/>
            <a:ext cx="722140" cy="1358106"/>
          </a:xfrm>
          <a:custGeom>
            <a:avLst/>
            <a:gdLst>
              <a:gd name="connsiteX0" fmla="*/ 594172 w 713581"/>
              <a:gd name="connsiteY0" fmla="*/ 271909 h 1358106"/>
              <a:gd name="connsiteX1" fmla="*/ 133796 w 713581"/>
              <a:gd name="connsiteY1" fmla="*/ 271909 h 1358106"/>
              <a:gd name="connsiteX2" fmla="*/ 133796 w 713581"/>
              <a:gd name="connsiteY2" fmla="*/ 133796 h 1358106"/>
              <a:gd name="connsiteX3" fmla="*/ 594172 w 713581"/>
              <a:gd name="connsiteY3" fmla="*/ 133796 h 1358106"/>
              <a:gd name="connsiteX4" fmla="*/ 594172 w 713581"/>
              <a:gd name="connsiteY4" fmla="*/ 271909 h 1358106"/>
              <a:gd name="connsiteX5" fmla="*/ 594172 w 713581"/>
              <a:gd name="connsiteY5" fmla="*/ 502097 h 1358106"/>
              <a:gd name="connsiteX6" fmla="*/ 133796 w 713581"/>
              <a:gd name="connsiteY6" fmla="*/ 502097 h 1358106"/>
              <a:gd name="connsiteX7" fmla="*/ 133796 w 713581"/>
              <a:gd name="connsiteY7" fmla="*/ 363984 h 1358106"/>
              <a:gd name="connsiteX8" fmla="*/ 594172 w 713581"/>
              <a:gd name="connsiteY8" fmla="*/ 363984 h 1358106"/>
              <a:gd name="connsiteX9" fmla="*/ 594172 w 713581"/>
              <a:gd name="connsiteY9" fmla="*/ 502097 h 1358106"/>
              <a:gd name="connsiteX10" fmla="*/ 363984 w 713581"/>
              <a:gd name="connsiteY10" fmla="*/ 1192659 h 1358106"/>
              <a:gd name="connsiteX11" fmla="*/ 294928 w 713581"/>
              <a:gd name="connsiteY11" fmla="*/ 1123603 h 1358106"/>
              <a:gd name="connsiteX12" fmla="*/ 363984 w 713581"/>
              <a:gd name="connsiteY12" fmla="*/ 1054547 h 1358106"/>
              <a:gd name="connsiteX13" fmla="*/ 433040 w 713581"/>
              <a:gd name="connsiteY13" fmla="*/ 1123603 h 1358106"/>
              <a:gd name="connsiteX14" fmla="*/ 363984 w 713581"/>
              <a:gd name="connsiteY14" fmla="*/ 1192659 h 1358106"/>
              <a:gd name="connsiteX15" fmla="*/ 594172 w 713581"/>
              <a:gd name="connsiteY15" fmla="*/ 41721 h 1358106"/>
              <a:gd name="connsiteX16" fmla="*/ 133796 w 713581"/>
              <a:gd name="connsiteY16" fmla="*/ 41721 h 1358106"/>
              <a:gd name="connsiteX17" fmla="*/ 41721 w 713581"/>
              <a:gd name="connsiteY17" fmla="*/ 133796 h 1358106"/>
              <a:gd name="connsiteX18" fmla="*/ 41721 w 713581"/>
              <a:gd name="connsiteY18" fmla="*/ 1238697 h 1358106"/>
              <a:gd name="connsiteX19" fmla="*/ 133796 w 713581"/>
              <a:gd name="connsiteY19" fmla="*/ 1330772 h 1358106"/>
              <a:gd name="connsiteX20" fmla="*/ 594172 w 713581"/>
              <a:gd name="connsiteY20" fmla="*/ 1330772 h 1358106"/>
              <a:gd name="connsiteX21" fmla="*/ 686247 w 713581"/>
              <a:gd name="connsiteY21" fmla="*/ 1238697 h 1358106"/>
              <a:gd name="connsiteX22" fmla="*/ 686247 w 713581"/>
              <a:gd name="connsiteY22" fmla="*/ 133796 h 1358106"/>
              <a:gd name="connsiteX23" fmla="*/ 594172 w 713581"/>
              <a:gd name="connsiteY23" fmla="*/ 41721 h 13581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</a:cxnLst>
            <a:rect l="l" t="t" r="r" b="b"/>
            <a:pathLst>
              <a:path w="713581" h="1358106">
                <a:moveTo>
                  <a:pt x="594172" y="271909"/>
                </a:moveTo>
                <a:lnTo>
                  <a:pt x="133796" y="271909"/>
                </a:lnTo>
                <a:lnTo>
                  <a:pt x="133796" y="133796"/>
                </a:lnTo>
                <a:lnTo>
                  <a:pt x="594172" y="133796"/>
                </a:lnTo>
                <a:lnTo>
                  <a:pt x="594172" y="271909"/>
                </a:lnTo>
                <a:close/>
                <a:moveTo>
                  <a:pt x="594172" y="502097"/>
                </a:moveTo>
                <a:lnTo>
                  <a:pt x="133796" y="502097"/>
                </a:lnTo>
                <a:lnTo>
                  <a:pt x="133796" y="363984"/>
                </a:lnTo>
                <a:lnTo>
                  <a:pt x="594172" y="363984"/>
                </a:lnTo>
                <a:lnTo>
                  <a:pt x="594172" y="502097"/>
                </a:lnTo>
                <a:close/>
                <a:moveTo>
                  <a:pt x="363984" y="1192659"/>
                </a:moveTo>
                <a:cubicBezTo>
                  <a:pt x="324852" y="1192659"/>
                  <a:pt x="294928" y="1162735"/>
                  <a:pt x="294928" y="1123603"/>
                </a:cubicBezTo>
                <a:cubicBezTo>
                  <a:pt x="294928" y="1084471"/>
                  <a:pt x="324852" y="1054547"/>
                  <a:pt x="363984" y="1054547"/>
                </a:cubicBezTo>
                <a:cubicBezTo>
                  <a:pt x="403116" y="1054547"/>
                  <a:pt x="433040" y="1084471"/>
                  <a:pt x="433040" y="1123603"/>
                </a:cubicBezTo>
                <a:cubicBezTo>
                  <a:pt x="433040" y="1162735"/>
                  <a:pt x="403116" y="1192659"/>
                  <a:pt x="363984" y="1192659"/>
                </a:cubicBezTo>
                <a:close/>
                <a:moveTo>
                  <a:pt x="594172" y="41721"/>
                </a:moveTo>
                <a:lnTo>
                  <a:pt x="133796" y="41721"/>
                </a:lnTo>
                <a:cubicBezTo>
                  <a:pt x="83155" y="41721"/>
                  <a:pt x="41721" y="83155"/>
                  <a:pt x="41721" y="133796"/>
                </a:cubicBezTo>
                <a:lnTo>
                  <a:pt x="41721" y="1238697"/>
                </a:lnTo>
                <a:cubicBezTo>
                  <a:pt x="41721" y="1289338"/>
                  <a:pt x="83155" y="1330772"/>
                  <a:pt x="133796" y="1330772"/>
                </a:cubicBezTo>
                <a:lnTo>
                  <a:pt x="594172" y="1330772"/>
                </a:lnTo>
                <a:cubicBezTo>
                  <a:pt x="644813" y="1330772"/>
                  <a:pt x="686247" y="1289338"/>
                  <a:pt x="686247" y="1238697"/>
                </a:cubicBezTo>
                <a:lnTo>
                  <a:pt x="686247" y="133796"/>
                </a:lnTo>
                <a:cubicBezTo>
                  <a:pt x="686247" y="83155"/>
                  <a:pt x="644813" y="41721"/>
                  <a:pt x="594172" y="41721"/>
                </a:cubicBezTo>
                <a:close/>
              </a:path>
            </a:pathLst>
          </a:custGeom>
          <a:ln/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05102172-D590-495D-A047-AD976D031D77}"/>
              </a:ext>
            </a:extLst>
          </p:cNvPr>
          <p:cNvSpPr txBox="1"/>
          <p:nvPr/>
        </p:nvSpPr>
        <p:spPr>
          <a:xfrm>
            <a:off x="1592622" y="2910100"/>
            <a:ext cx="22130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Client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3B15DDBD-CEE4-4C4A-BB23-C215BDB753BC}"/>
              </a:ext>
            </a:extLst>
          </p:cNvPr>
          <p:cNvSpPr txBox="1"/>
          <p:nvPr/>
        </p:nvSpPr>
        <p:spPr>
          <a:xfrm>
            <a:off x="7845392" y="2910100"/>
            <a:ext cx="8679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solidFill>
                  <a:schemeClr val="bg1"/>
                </a:solidFill>
              </a:rPr>
              <a:t>Server</a:t>
            </a:r>
          </a:p>
        </p:txBody>
      </p: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A2337B0C-DC15-41C2-B2C2-40B9FEC6D3CC}"/>
              </a:ext>
            </a:extLst>
          </p:cNvPr>
          <p:cNvCxnSpPr>
            <a:stCxn id="31" idx="2"/>
          </p:cNvCxnSpPr>
          <p:nvPr/>
        </p:nvCxnSpPr>
        <p:spPr>
          <a:xfrm>
            <a:off x="2699126" y="3279432"/>
            <a:ext cx="14257" cy="3171064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8D63B94F-3D1E-4DDD-B741-12146A70DFB5}"/>
              </a:ext>
            </a:extLst>
          </p:cNvPr>
          <p:cNvCxnSpPr/>
          <p:nvPr/>
        </p:nvCxnSpPr>
        <p:spPr>
          <a:xfrm>
            <a:off x="8265090" y="3279432"/>
            <a:ext cx="14257" cy="3171064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E7CB7899-5BA1-495B-A7BF-B68C2A754A61}"/>
              </a:ext>
            </a:extLst>
          </p:cNvPr>
          <p:cNvCxnSpPr>
            <a:cxnSpLocks/>
          </p:cNvCxnSpPr>
          <p:nvPr/>
        </p:nvCxnSpPr>
        <p:spPr>
          <a:xfrm>
            <a:off x="2832653" y="3429000"/>
            <a:ext cx="5307495" cy="17890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42" name="Content Placeholder 2">
            <a:extLst>
              <a:ext uri="{FF2B5EF4-FFF2-40B4-BE49-F238E27FC236}">
                <a16:creationId xmlns:a16="http://schemas.microsoft.com/office/drawing/2014/main" id="{21D9C4FB-A5AB-4A1E-A337-B965DBF55054}"/>
              </a:ext>
            </a:extLst>
          </p:cNvPr>
          <p:cNvSpPr txBox="1">
            <a:spLocks/>
          </p:cNvSpPr>
          <p:nvPr/>
        </p:nvSpPr>
        <p:spPr>
          <a:xfrm>
            <a:off x="3373278" y="2806562"/>
            <a:ext cx="3200330" cy="81253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/>
              <a:t>GET</a:t>
            </a:r>
            <a:r>
              <a:rPr lang="en-US" sz="1600" dirty="0"/>
              <a:t> :   Method </a:t>
            </a:r>
            <a:br>
              <a:rPr lang="en-US" sz="1600" dirty="0"/>
            </a:br>
            <a:r>
              <a:rPr lang="en-US" sz="1600" dirty="0"/>
              <a:t>URL :   /the-resource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...</a:t>
            </a:r>
          </a:p>
        </p:txBody>
      </p: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7B0D58F0-4A74-4F6B-8109-F0F2D0BB5343}"/>
              </a:ext>
            </a:extLst>
          </p:cNvPr>
          <p:cNvCxnSpPr>
            <a:cxnSpLocks/>
          </p:cNvCxnSpPr>
          <p:nvPr/>
        </p:nvCxnSpPr>
        <p:spPr>
          <a:xfrm flipH="1">
            <a:off x="2863103" y="3722038"/>
            <a:ext cx="5307494" cy="79414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Content Placeholder 2">
            <a:extLst>
              <a:ext uri="{FF2B5EF4-FFF2-40B4-BE49-F238E27FC236}">
                <a16:creationId xmlns:a16="http://schemas.microsoft.com/office/drawing/2014/main" id="{3374E6D5-48B6-4116-866A-D12E2184B7C2}"/>
              </a:ext>
            </a:extLst>
          </p:cNvPr>
          <p:cNvSpPr txBox="1">
            <a:spLocks/>
          </p:cNvSpPr>
          <p:nvPr/>
        </p:nvSpPr>
        <p:spPr>
          <a:xfrm>
            <a:off x="5430982" y="3731925"/>
            <a:ext cx="2896482" cy="77457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200</a:t>
            </a:r>
            <a:r>
              <a:rPr lang="en-US" sz="2000" dirty="0"/>
              <a:t> OK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&lt;html&gt;Code...&lt;/html&gt;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4F1E9C1-C4E0-4F7F-83FA-E48726584C94}"/>
              </a:ext>
            </a:extLst>
          </p:cNvPr>
          <p:cNvCxnSpPr/>
          <p:nvPr/>
        </p:nvCxnSpPr>
        <p:spPr>
          <a:xfrm>
            <a:off x="2604052" y="4005471"/>
            <a:ext cx="0" cy="770042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9" name="Content Placeholder 2">
            <a:extLst>
              <a:ext uri="{FF2B5EF4-FFF2-40B4-BE49-F238E27FC236}">
                <a16:creationId xmlns:a16="http://schemas.microsoft.com/office/drawing/2014/main" id="{79D7172B-8C4F-4595-A8CA-73E1F847E623}"/>
              </a:ext>
            </a:extLst>
          </p:cNvPr>
          <p:cNvSpPr txBox="1">
            <a:spLocks/>
          </p:cNvSpPr>
          <p:nvPr/>
        </p:nvSpPr>
        <p:spPr>
          <a:xfrm>
            <a:off x="415657" y="3947728"/>
            <a:ext cx="2276340" cy="92333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Displays the page, then user clicks</a:t>
            </a:r>
            <a:br>
              <a:rPr lang="en-US" sz="2000" dirty="0"/>
            </a:br>
            <a:r>
              <a:rPr lang="en-US" sz="2000" dirty="0"/>
              <a:t>on link.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9234B9CA-4736-47EA-A2D9-2E4CD6D8EC98}"/>
              </a:ext>
            </a:extLst>
          </p:cNvPr>
          <p:cNvCxnSpPr>
            <a:cxnSpLocks/>
          </p:cNvCxnSpPr>
          <p:nvPr/>
        </p:nvCxnSpPr>
        <p:spPr>
          <a:xfrm>
            <a:off x="2895124" y="4928292"/>
            <a:ext cx="5307495" cy="178904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Content Placeholder 2">
            <a:extLst>
              <a:ext uri="{FF2B5EF4-FFF2-40B4-BE49-F238E27FC236}">
                <a16:creationId xmlns:a16="http://schemas.microsoft.com/office/drawing/2014/main" id="{A48FFEB0-4AF2-432A-853A-1B41E0C3AD95}"/>
              </a:ext>
            </a:extLst>
          </p:cNvPr>
          <p:cNvSpPr txBox="1">
            <a:spLocks/>
          </p:cNvSpPr>
          <p:nvPr/>
        </p:nvSpPr>
        <p:spPr>
          <a:xfrm>
            <a:off x="2787371" y="4314178"/>
            <a:ext cx="2897811" cy="812530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1600" b="1" dirty="0"/>
              <a:t>GET</a:t>
            </a:r>
            <a:r>
              <a:rPr lang="en-US" sz="1600" dirty="0"/>
              <a:t> :Method</a:t>
            </a:r>
            <a:br>
              <a:rPr lang="en-US" sz="1600" dirty="0"/>
            </a:br>
            <a:r>
              <a:rPr lang="en-US" sz="1600" dirty="0"/>
              <a:t>URL: /another-resource</a:t>
            </a:r>
            <a:br>
              <a:rPr lang="en-US" sz="2000" dirty="0">
                <a:solidFill>
                  <a:schemeClr val="tx1"/>
                </a:solidFill>
              </a:rPr>
            </a:br>
            <a:r>
              <a:rPr lang="en-US" sz="2000" dirty="0">
                <a:solidFill>
                  <a:schemeClr val="tx1"/>
                </a:solidFill>
              </a:rPr>
              <a:t>...</a:t>
            </a:r>
          </a:p>
        </p:txBody>
      </p: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12333098-F3C9-461B-8C00-718CA57A586B}"/>
              </a:ext>
            </a:extLst>
          </p:cNvPr>
          <p:cNvCxnSpPr>
            <a:cxnSpLocks/>
          </p:cNvCxnSpPr>
          <p:nvPr/>
        </p:nvCxnSpPr>
        <p:spPr>
          <a:xfrm flipH="1">
            <a:off x="2878664" y="5287310"/>
            <a:ext cx="5307494" cy="79414"/>
          </a:xfrm>
          <a:prstGeom prst="straightConnector1">
            <a:avLst/>
          </a:prstGeom>
          <a:ln w="28575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Content Placeholder 2">
            <a:extLst>
              <a:ext uri="{FF2B5EF4-FFF2-40B4-BE49-F238E27FC236}">
                <a16:creationId xmlns:a16="http://schemas.microsoft.com/office/drawing/2014/main" id="{8C6D1499-45BA-40A9-B23B-B1BF55F99977}"/>
              </a:ext>
            </a:extLst>
          </p:cNvPr>
          <p:cNvSpPr txBox="1">
            <a:spLocks/>
          </p:cNvSpPr>
          <p:nvPr/>
        </p:nvSpPr>
        <p:spPr>
          <a:xfrm>
            <a:off x="5516850" y="5366724"/>
            <a:ext cx="2801378" cy="77457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b="1" dirty="0"/>
              <a:t>200</a:t>
            </a:r>
            <a:r>
              <a:rPr lang="en-US" sz="2000" dirty="0"/>
              <a:t> OK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&lt;html&gt;Code...&lt;/html&gt;</a:t>
            </a:r>
          </a:p>
        </p:txBody>
      </p:sp>
      <p:cxnSp>
        <p:nvCxnSpPr>
          <p:cNvPr id="55" name="Straight Connector 54">
            <a:extLst>
              <a:ext uri="{FF2B5EF4-FFF2-40B4-BE49-F238E27FC236}">
                <a16:creationId xmlns:a16="http://schemas.microsoft.com/office/drawing/2014/main" id="{55664A78-1EA8-4A53-801B-293D9843FDAF}"/>
              </a:ext>
            </a:extLst>
          </p:cNvPr>
          <p:cNvCxnSpPr/>
          <p:nvPr/>
        </p:nvCxnSpPr>
        <p:spPr>
          <a:xfrm>
            <a:off x="2611181" y="5553674"/>
            <a:ext cx="0" cy="770042"/>
          </a:xfrm>
          <a:prstGeom prst="line">
            <a:avLst/>
          </a:prstGeom>
          <a:ln w="1905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6" name="Content Placeholder 2">
            <a:extLst>
              <a:ext uri="{FF2B5EF4-FFF2-40B4-BE49-F238E27FC236}">
                <a16:creationId xmlns:a16="http://schemas.microsoft.com/office/drawing/2014/main" id="{DE332ED9-207C-4741-8DD0-628CBFB097A5}"/>
              </a:ext>
            </a:extLst>
          </p:cNvPr>
          <p:cNvSpPr txBox="1">
            <a:spLocks/>
          </p:cNvSpPr>
          <p:nvPr/>
        </p:nvSpPr>
        <p:spPr>
          <a:xfrm>
            <a:off x="422786" y="5495931"/>
            <a:ext cx="2276340" cy="646331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2000" dirty="0"/>
              <a:t>Displays the other page, ...</a:t>
            </a:r>
          </a:p>
        </p:txBody>
      </p:sp>
      <p:pic>
        <p:nvPicPr>
          <p:cNvPr id="27" name="Picture 2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661262" y="6341312"/>
            <a:ext cx="2248609" cy="40010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 flipH="1">
            <a:off x="1276092" y="2974295"/>
            <a:ext cx="1257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(1)</a:t>
            </a:r>
          </a:p>
        </p:txBody>
      </p:sp>
      <p:sp>
        <p:nvSpPr>
          <p:cNvPr id="29" name="TextBox 28"/>
          <p:cNvSpPr txBox="1"/>
          <p:nvPr/>
        </p:nvSpPr>
        <p:spPr>
          <a:xfrm flipH="1">
            <a:off x="8389545" y="4005471"/>
            <a:ext cx="1257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(2)</a:t>
            </a:r>
          </a:p>
        </p:txBody>
      </p:sp>
      <p:sp>
        <p:nvSpPr>
          <p:cNvPr id="30" name="TextBox 29"/>
          <p:cNvSpPr txBox="1"/>
          <p:nvPr/>
        </p:nvSpPr>
        <p:spPr>
          <a:xfrm flipH="1">
            <a:off x="1982304" y="4766413"/>
            <a:ext cx="1257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(3)</a:t>
            </a:r>
          </a:p>
        </p:txBody>
      </p:sp>
      <p:sp>
        <p:nvSpPr>
          <p:cNvPr id="33" name="TextBox 32"/>
          <p:cNvSpPr txBox="1"/>
          <p:nvPr/>
        </p:nvSpPr>
        <p:spPr>
          <a:xfrm flipH="1">
            <a:off x="8223734" y="5232535"/>
            <a:ext cx="12577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chemeClr val="accent2"/>
                </a:solidFill>
              </a:rPr>
              <a:t>(4)</a:t>
            </a:r>
          </a:p>
        </p:txBody>
      </p:sp>
    </p:spTree>
    <p:extLst>
      <p:ext uri="{BB962C8B-B14F-4D97-AF65-F5344CB8AC3E}">
        <p14:creationId xmlns:p14="http://schemas.microsoft.com/office/powerpoint/2010/main" val="20365452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31" grpId="0"/>
      <p:bldP spid="32" grpId="0"/>
      <p:bldP spid="42" grpId="0"/>
      <p:bldP spid="46" grpId="0"/>
      <p:bldP spid="49" grpId="0"/>
      <p:bldP spid="51" grpId="0"/>
      <p:bldP spid="53" grpId="0"/>
      <p:bldP spid="5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65577"/>
            <a:ext cx="10515600" cy="956396"/>
          </a:xfrm>
        </p:spPr>
        <p:txBody>
          <a:bodyPr/>
          <a:lstStyle/>
          <a:p>
            <a:r>
              <a:rPr lang="en-US" dirty="0"/>
              <a:t>Traditional web applications</a:t>
            </a:r>
          </a:p>
        </p:txBody>
      </p:sp>
      <p:sp>
        <p:nvSpPr>
          <p:cNvPr id="26" name="Content Placeholder 2">
            <a:extLst>
              <a:ext uri="{FF2B5EF4-FFF2-40B4-BE49-F238E27FC236}">
                <a16:creationId xmlns:a16="http://schemas.microsoft.com/office/drawing/2014/main" id="{90BF46C0-69BC-4E12-AEAC-203149C3A0D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30477"/>
            <a:ext cx="10515600" cy="1392689"/>
          </a:xfrm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en-US" dirty="0"/>
              <a:t>The interface is built on HTML &amp; HTTP.</a:t>
            </a:r>
          </a:p>
          <a:p>
            <a:r>
              <a:rPr lang="en-US" dirty="0"/>
              <a:t>Drawbacks:</a:t>
            </a:r>
          </a:p>
          <a:p>
            <a:pPr lvl="1"/>
            <a:r>
              <a:rPr lang="en-US" dirty="0"/>
              <a:t>The client must understand both HTTP and HTML.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31DDA90-BF4C-467B-9ACC-AB77A19CA5FB}"/>
              </a:ext>
            </a:extLst>
          </p:cNvPr>
          <p:cNvSpPr txBox="1">
            <a:spLocks/>
          </p:cNvSpPr>
          <p:nvPr/>
        </p:nvSpPr>
        <p:spPr>
          <a:xfrm>
            <a:off x="838200" y="3502699"/>
            <a:ext cx="10515600" cy="1273169"/>
          </a:xfrm>
          <a:prstGeom prst="rect">
            <a:avLst/>
          </a:prstGeom>
        </p:spPr>
        <p:txBody>
          <a:bodyPr vert="horz" wrap="square" lIns="91440" tIns="45720" rIns="91440" bIns="45720" rtlCol="0">
            <a:sp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HTTP &amp; HTML can be used.</a:t>
            </a:r>
          </a:p>
          <a:p>
            <a:pPr lvl="1"/>
            <a:r>
              <a:rPr lang="en-US" dirty="0"/>
              <a:t>The GUI on smartphones does not use HTML.</a:t>
            </a:r>
          </a:p>
          <a:p>
            <a:pPr marL="457200" lvl="1" indent="0">
              <a:buNone/>
            </a:pP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83332" y="4859335"/>
            <a:ext cx="6693868" cy="1616547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0157" y="5982418"/>
            <a:ext cx="2473085" cy="6792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16496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29176" y="582928"/>
            <a:ext cx="11501792" cy="658720"/>
          </a:xfrm>
        </p:spPr>
        <p:txBody>
          <a:bodyPr>
            <a:normAutofit fontScale="90000"/>
          </a:bodyPr>
          <a:lstStyle/>
          <a:p>
            <a:r>
              <a:rPr lang="en-US" dirty="0"/>
              <a:t>A</a:t>
            </a:r>
            <a:r>
              <a:rPr lang="en-US" sz="3600" dirty="0"/>
              <a:t>pplication</a:t>
            </a:r>
            <a:r>
              <a:rPr lang="en-US" dirty="0"/>
              <a:t> p</a:t>
            </a:r>
            <a:r>
              <a:rPr lang="en-US" sz="3600" dirty="0"/>
              <a:t>rogramming</a:t>
            </a:r>
            <a:r>
              <a:rPr lang="en-US" dirty="0"/>
              <a:t> i</a:t>
            </a:r>
            <a:r>
              <a:rPr lang="en-US" sz="3600" dirty="0"/>
              <a:t>nterface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type="subTitle" idx="1"/>
          </p:nvPr>
        </p:nvSpPr>
        <p:spPr>
          <a:xfrm>
            <a:off x="429176" y="1900367"/>
            <a:ext cx="5666824" cy="2751522"/>
          </a:xfrm>
        </p:spPr>
        <p:txBody>
          <a:bodyPr wrap="square">
            <a:spAutoFit/>
          </a:bodyPr>
          <a:lstStyle/>
          <a:p>
            <a:r>
              <a:rPr lang="en-US" dirty="0"/>
              <a:t>API stands for the Application Programming Interface, They are basically a collection of functions and procedures which allows us to communicate two application or library. For example, It like a connector as seen in the picture. All data connects to our organization through API</a:t>
            </a:r>
            <a:endParaRPr lang="en-IN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2177" y="1689045"/>
            <a:ext cx="5578791" cy="3421434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5935" y="6250883"/>
            <a:ext cx="2395033" cy="5320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6704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1480" y="1316183"/>
            <a:ext cx="11741041" cy="53617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31590" y="665018"/>
            <a:ext cx="1176041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In one line, API is its an interface between different software programs or service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47917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35788" y="498620"/>
            <a:ext cx="10855667" cy="568180"/>
          </a:xfrm>
        </p:spPr>
        <p:txBody>
          <a:bodyPr>
            <a:noAutofit/>
          </a:bodyPr>
          <a:lstStyle/>
          <a:p>
            <a:r>
              <a:rPr lang="en-IN" sz="3600" dirty="0"/>
              <a:t>What is REST API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54182" y="1288472"/>
            <a:ext cx="11194473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fontAlgn="base"/>
            <a:r>
              <a:rPr lang="en-US" sz="2000" dirty="0">
                <a:solidFill>
                  <a:schemeClr val="bg1"/>
                </a:solidFill>
              </a:rPr>
              <a:t>REST is a software architectural style that defines the set of rules to be used for creating web services. </a:t>
            </a:r>
          </a:p>
          <a:p>
            <a:pPr fontAlgn="base"/>
            <a:endParaRPr lang="en-US" sz="2000" dirty="0">
              <a:solidFill>
                <a:schemeClr val="bg1"/>
              </a:solidFill>
            </a:endParaRPr>
          </a:p>
          <a:p>
            <a:r>
              <a:rPr lang="en-IN" sz="2000" dirty="0">
                <a:solidFill>
                  <a:schemeClr val="bg1"/>
                </a:solidFill>
              </a:rPr>
              <a:t>REST acronym.</a:t>
            </a:r>
          </a:p>
          <a:p>
            <a:r>
              <a:rPr lang="en-IN" sz="2000" dirty="0">
                <a:solidFill>
                  <a:schemeClr val="bg1"/>
                </a:solidFill>
              </a:rPr>
              <a:t> - </a:t>
            </a:r>
            <a:r>
              <a:rPr lang="en-IN" sz="2000" b="1" dirty="0" err="1">
                <a:solidFill>
                  <a:srgbClr val="92D050"/>
                </a:solidFill>
              </a:rPr>
              <a:t>REpresentational</a:t>
            </a:r>
            <a:r>
              <a:rPr lang="en-IN" sz="2000" dirty="0">
                <a:solidFill>
                  <a:schemeClr val="bg1"/>
                </a:solidFill>
              </a:rPr>
              <a:t> means formats (such as XML, JSON, YAML, HTML, etc.)</a:t>
            </a:r>
          </a:p>
          <a:p>
            <a:r>
              <a:rPr lang="en-IN" sz="2000" dirty="0">
                <a:solidFill>
                  <a:schemeClr val="bg1"/>
                </a:solidFill>
              </a:rPr>
              <a:t> - </a:t>
            </a:r>
            <a:r>
              <a:rPr lang="en-IN" sz="2000" b="1" dirty="0">
                <a:solidFill>
                  <a:srgbClr val="92D050"/>
                </a:solidFill>
              </a:rPr>
              <a:t>State</a:t>
            </a:r>
            <a:r>
              <a:rPr lang="en-IN" sz="2000" dirty="0">
                <a:solidFill>
                  <a:schemeClr val="bg1"/>
                </a:solidFill>
              </a:rPr>
              <a:t> means data</a:t>
            </a:r>
          </a:p>
          <a:p>
            <a:r>
              <a:rPr lang="en-IN" sz="2000" dirty="0">
                <a:solidFill>
                  <a:schemeClr val="bg1"/>
                </a:solidFill>
              </a:rPr>
              <a:t> - </a:t>
            </a:r>
            <a:r>
              <a:rPr lang="en-IN" sz="2000" b="1" dirty="0">
                <a:solidFill>
                  <a:srgbClr val="92D050"/>
                </a:solidFill>
              </a:rPr>
              <a:t>Transfer</a:t>
            </a:r>
            <a:r>
              <a:rPr lang="en-IN" sz="2000" dirty="0">
                <a:solidFill>
                  <a:schemeClr val="bg1"/>
                </a:solidFill>
              </a:rPr>
              <a:t> means carrying data between consumer and provider using the HTTP protocol</a:t>
            </a:r>
          </a:p>
          <a:p>
            <a:pPr fontAlgn="base"/>
            <a:endParaRPr lang="en-US" sz="2000" dirty="0">
              <a:solidFill>
                <a:schemeClr val="bg1"/>
              </a:solidFill>
            </a:endParaRPr>
          </a:p>
          <a:p>
            <a:pPr fontAlgn="base"/>
            <a:r>
              <a:rPr lang="en-US" sz="2000" dirty="0">
                <a:solidFill>
                  <a:schemeClr val="bg1"/>
                </a:solidFill>
              </a:rPr>
              <a:t>It allows requesting systems to access and manipulate web resources by using a uniform and predefined set of rules.</a:t>
            </a:r>
          </a:p>
          <a:p>
            <a:r>
              <a:rPr lang="en-IN" sz="2000" dirty="0">
                <a:solidFill>
                  <a:schemeClr val="bg1"/>
                </a:solidFill>
              </a:rPr>
              <a:t>   </a:t>
            </a:r>
          </a:p>
          <a:p>
            <a:r>
              <a:rPr lang="en-IN" sz="2000" dirty="0">
                <a:solidFill>
                  <a:schemeClr val="bg1"/>
                </a:solidFill>
              </a:rPr>
              <a:t> 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49462" y="6288227"/>
            <a:ext cx="2199193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4012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7243" y="1385311"/>
            <a:ext cx="4579557" cy="4738398"/>
          </a:xfrm>
        </p:spPr>
        <p:txBody>
          <a:bodyPr>
            <a:normAutofit lnSpcReduction="10000"/>
          </a:bodyPr>
          <a:lstStyle/>
          <a:p>
            <a:r>
              <a:rPr lang="en-US" dirty="0"/>
              <a:t>Consider a scenario where you are using the </a:t>
            </a:r>
            <a:r>
              <a:rPr lang="en-US" b="1" dirty="0">
                <a:solidFill>
                  <a:srgbClr val="FFC000"/>
                </a:solidFill>
              </a:rPr>
              <a:t>Book My Show </a:t>
            </a:r>
            <a:r>
              <a:rPr lang="en-US" dirty="0"/>
              <a:t>app. Now, obviously, this application needs a lot of Input data, as the data present in the application is never static that means data is always changing in these applications.</a:t>
            </a:r>
            <a:br>
              <a:rPr lang="en-US" dirty="0"/>
            </a:br>
            <a:endParaRPr lang="en-US" dirty="0"/>
          </a:p>
          <a:p>
            <a:endParaRPr lang="en-IN" dirty="0"/>
          </a:p>
          <a:p>
            <a:r>
              <a:rPr lang="en-US" dirty="0"/>
              <a:t>Either it is movies getting released on dates, or various cities showing different languages movies at various times of the day. It’s never static </a:t>
            </a:r>
            <a:endParaRPr lang="en-IN" dirty="0"/>
          </a:p>
        </p:txBody>
      </p:sp>
      <p:sp>
        <p:nvSpPr>
          <p:cNvPr id="4" name="Title 3"/>
          <p:cNvSpPr txBox="1">
            <a:spLocks noGrp="1"/>
          </p:cNvSpPr>
          <p:nvPr>
            <p:ph type="ctrTitle"/>
          </p:nvPr>
        </p:nvSpPr>
        <p:spPr>
          <a:xfrm>
            <a:off x="408079" y="508377"/>
            <a:ext cx="11501792" cy="7017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dirty="0">
                <a:solidFill>
                  <a:schemeClr val="bg1"/>
                </a:solidFill>
              </a:rPr>
              <a:t>Why you need REST API?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5449" y="1487825"/>
            <a:ext cx="7077484" cy="373533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49462" y="6288227"/>
            <a:ext cx="2199193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37126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2660" y="761855"/>
            <a:ext cx="6352939" cy="2736407"/>
          </a:xfrm>
        </p:spPr>
        <p:txBody>
          <a:bodyPr>
            <a:normAutofit/>
          </a:bodyPr>
          <a:lstStyle/>
          <a:p>
            <a:r>
              <a:rPr lang="en-US" dirty="0"/>
              <a:t>Over here, the response sent to the client is in the form of an HTML Web Page. </a:t>
            </a:r>
            <a:br>
              <a:rPr lang="en-US" dirty="0"/>
            </a:br>
            <a:r>
              <a:rPr lang="en-US" b="1" dirty="0">
                <a:solidFill>
                  <a:srgbClr val="FFC000"/>
                </a:solidFill>
              </a:rPr>
              <a:t>But, do you think this is the response that you would expect when you send a request?</a:t>
            </a:r>
            <a:endParaRPr lang="en-IN" b="1" dirty="0">
              <a:solidFill>
                <a:srgbClr val="FFC000"/>
              </a:solidFill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7641" y="623309"/>
            <a:ext cx="4645712" cy="2258437"/>
          </a:xfrm>
          <a:prstGeom prst="rect">
            <a:avLst/>
          </a:prstGeom>
        </p:spPr>
      </p:pic>
      <p:sp>
        <p:nvSpPr>
          <p:cNvPr id="5" name="Subtitle 2"/>
          <p:cNvSpPr txBox="1">
            <a:spLocks/>
          </p:cNvSpPr>
          <p:nvPr/>
        </p:nvSpPr>
        <p:spPr>
          <a:xfrm>
            <a:off x="352659" y="3366510"/>
            <a:ext cx="5604795" cy="2964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bg1"/>
                </a:solidFill>
                <a:latin typeface="Georgia" panose="02040502050405020303" pitchFamily="18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b="1" dirty="0">
              <a:solidFill>
                <a:srgbClr val="FFC000"/>
              </a:solidFill>
            </a:endParaRPr>
          </a:p>
          <a:p>
            <a:r>
              <a:rPr lang="en-US" sz="3200" b="1" dirty="0">
                <a:solidFill>
                  <a:srgbClr val="FFC000"/>
                </a:solidFill>
              </a:rPr>
              <a:t>Well, NO. </a:t>
            </a:r>
            <a:br>
              <a:rPr lang="en-US" dirty="0"/>
            </a:br>
            <a:r>
              <a:rPr lang="en-US" dirty="0"/>
              <a:t>Since,  you would prefer the data returned by the server, in response to the request of the client is either in the format of JSON or XML</a:t>
            </a:r>
            <a:r>
              <a:rPr lang="en-IN" dirty="0"/>
              <a:t> </a:t>
            </a:r>
            <a:r>
              <a:rPr lang="en-US" dirty="0"/>
              <a:t>rather than the HTML page.</a:t>
            </a:r>
            <a:br>
              <a:rPr lang="en-US" dirty="0"/>
            </a:br>
            <a:endParaRPr lang="en-IN" dirty="0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02295" y="3323555"/>
            <a:ext cx="5581058" cy="2964672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9462" y="6288227"/>
            <a:ext cx="2199193" cy="4096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94910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RestAssured#2 - Introduction to REST API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4957" y="2312266"/>
            <a:ext cx="11433443" cy="43240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/>
          <p:cNvSpPr txBox="1"/>
          <p:nvPr/>
        </p:nvSpPr>
        <p:spPr>
          <a:xfrm>
            <a:off x="404957" y="585373"/>
            <a:ext cx="1153766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chemeClr val="bg1"/>
                </a:solidFill>
              </a:rPr>
              <a:t>- Well, this data is received from the Server or most commonly known as a Web-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   server. 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- The client requests the server for the required information, via an API, and then, </a:t>
            </a:r>
            <a:br>
              <a:rPr lang="en-US" sz="2400" dirty="0">
                <a:solidFill>
                  <a:schemeClr val="bg1"/>
                </a:solidFill>
              </a:rPr>
            </a:br>
            <a:r>
              <a:rPr lang="en-US" sz="2400" dirty="0">
                <a:solidFill>
                  <a:schemeClr val="bg1"/>
                </a:solidFill>
              </a:rPr>
              <a:t>   the server sends a response to the client in the format of JSON or XML.</a:t>
            </a:r>
            <a:endParaRPr lang="en-IN" sz="24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04807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14400" y="3144252"/>
            <a:ext cx="1251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42421" y="3938336"/>
            <a:ext cx="1251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(2)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724526" y="4495799"/>
            <a:ext cx="125128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>
                <a:solidFill>
                  <a:schemeClr val="accent2"/>
                </a:solidFill>
              </a:rPr>
              <a:t>(3)</a:t>
            </a:r>
          </a:p>
        </p:txBody>
      </p:sp>
    </p:spTree>
    <p:extLst>
      <p:ext uri="{BB962C8B-B14F-4D97-AF65-F5344CB8AC3E}">
        <p14:creationId xmlns:p14="http://schemas.microsoft.com/office/powerpoint/2010/main" val="17767811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49643" y="651309"/>
            <a:ext cx="11501792" cy="817273"/>
          </a:xfrm>
        </p:spPr>
        <p:txBody>
          <a:bodyPr>
            <a:noAutofit/>
          </a:bodyPr>
          <a:lstStyle/>
          <a:p>
            <a:r>
              <a:rPr lang="en-US" sz="2800" dirty="0"/>
              <a:t> </a:t>
            </a:r>
            <a:r>
              <a:rPr lang="en-US" sz="2800" b="1" dirty="0">
                <a:hlinkClick r:id="rId2"/>
              </a:rPr>
              <a:t>CRUD</a:t>
            </a:r>
            <a:r>
              <a:rPr lang="en-US" sz="2800" dirty="0"/>
              <a:t> stands for </a:t>
            </a:r>
            <a:r>
              <a:rPr lang="en-US" sz="2800" b="1" dirty="0"/>
              <a:t>C</a:t>
            </a:r>
            <a:r>
              <a:rPr lang="en-US" sz="2800" dirty="0"/>
              <a:t>reate, </a:t>
            </a:r>
            <a:r>
              <a:rPr lang="en-US" sz="2800" b="1" dirty="0"/>
              <a:t>R</a:t>
            </a:r>
            <a:r>
              <a:rPr lang="en-US" sz="2800" dirty="0"/>
              <a:t>ead, </a:t>
            </a:r>
            <a:r>
              <a:rPr lang="en-US" sz="2800" b="1" dirty="0"/>
              <a:t>U</a:t>
            </a:r>
            <a:r>
              <a:rPr lang="en-US" sz="2800" dirty="0"/>
              <a:t>pdate, and </a:t>
            </a:r>
            <a:r>
              <a:rPr lang="en-US" sz="2800" b="1" dirty="0"/>
              <a:t>D</a:t>
            </a:r>
            <a:r>
              <a:rPr lang="en-US" sz="2800" dirty="0"/>
              <a:t>elete, which make up these four fundamental operations.</a:t>
            </a:r>
            <a:endParaRPr lang="en-IN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141" y="1692619"/>
            <a:ext cx="11076796" cy="496399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0748" y="2023602"/>
            <a:ext cx="1162212" cy="4001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9819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EST API Benefits | Zestard Technologie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6410" y="491835"/>
            <a:ext cx="11775373" cy="61444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40063" y="2727157"/>
            <a:ext cx="8830284" cy="1042739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2748" y="1657808"/>
            <a:ext cx="8706162" cy="10693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994648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7351" y="637165"/>
            <a:ext cx="11501792" cy="471199"/>
          </a:xfrm>
        </p:spPr>
        <p:txBody>
          <a:bodyPr/>
          <a:lstStyle/>
          <a:p>
            <a:r>
              <a:rPr lang="en-IN" dirty="0">
                <a:solidFill>
                  <a:srgbClr val="FFB500"/>
                </a:solidFill>
              </a:rPr>
              <a:t>HTTP GET Method</a:t>
            </a:r>
          </a:p>
        </p:txBody>
      </p:sp>
      <p:pic>
        <p:nvPicPr>
          <p:cNvPr id="4098" name="Picture 2" descr="How to send a request with Postman | MAKOLYT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7540" y="2881746"/>
            <a:ext cx="7251603" cy="38145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7539" y="678729"/>
            <a:ext cx="7251603" cy="20025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81891" y="1426058"/>
            <a:ext cx="3837709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GET is used to request data from a specified resource</a:t>
            </a:r>
            <a:r>
              <a:rPr lang="en-US" dirty="0">
                <a:solidFill>
                  <a:schemeClr val="bg1"/>
                </a:solidFill>
              </a:rPr>
              <a:t>. </a:t>
            </a:r>
          </a:p>
          <a:p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GET requests can be cached. 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GET requests remain in the browser history.</a:t>
            </a:r>
            <a:endParaRPr lang="en-IN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9427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7351" y="637165"/>
            <a:ext cx="11501792" cy="471199"/>
          </a:xfrm>
        </p:spPr>
        <p:txBody>
          <a:bodyPr/>
          <a:lstStyle/>
          <a:p>
            <a:r>
              <a:rPr lang="en-IN" dirty="0">
                <a:solidFill>
                  <a:srgbClr val="FFB500"/>
                </a:solidFill>
              </a:rPr>
              <a:t>HTTP POST 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119" y="1142232"/>
            <a:ext cx="4585854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POST is </a:t>
            </a:r>
            <a:r>
              <a:rPr lang="en-US" b="1" dirty="0">
                <a:solidFill>
                  <a:schemeClr val="bg1"/>
                </a:solidFill>
              </a:rPr>
              <a:t>used to create data to a server </a:t>
            </a:r>
            <a:br>
              <a:rPr lang="en-US" b="1" dirty="0"/>
            </a:b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POST requests are never cached. 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POST requests do not remain in the browser history.</a:t>
            </a: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When you send a request body, Postman automatically adds the proper content headers for you.</a:t>
            </a:r>
          </a:p>
          <a:p>
            <a:pPr marL="342900" indent="-342900"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POST is not idempotent means if you execute POST request multiple times, you'll create a new resource multiple times despite them having the same data being passed in.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36973" y="1350050"/>
            <a:ext cx="7177160" cy="1025309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6973" y="2721749"/>
            <a:ext cx="7142170" cy="3900724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084" y="3370276"/>
            <a:ext cx="2162371" cy="1301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818227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7351" y="637165"/>
            <a:ext cx="11501792" cy="471199"/>
          </a:xfrm>
        </p:spPr>
        <p:txBody>
          <a:bodyPr/>
          <a:lstStyle/>
          <a:p>
            <a:r>
              <a:rPr lang="en-IN" dirty="0">
                <a:solidFill>
                  <a:srgbClr val="FFB500"/>
                </a:solidFill>
              </a:rPr>
              <a:t>HTTP PUT 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09518" y="1308847"/>
            <a:ext cx="5004984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PUT is </a:t>
            </a:r>
            <a:r>
              <a:rPr lang="en-US" b="1" dirty="0">
                <a:solidFill>
                  <a:schemeClr val="bg1"/>
                </a:solidFill>
              </a:rPr>
              <a:t>used to </a:t>
            </a:r>
            <a:r>
              <a:rPr lang="en-IN" dirty="0">
                <a:solidFill>
                  <a:schemeClr val="bg1"/>
                </a:solidFill>
              </a:rPr>
              <a:t>to modify a resource.</a:t>
            </a:r>
            <a:r>
              <a:rPr lang="en-US" b="1" dirty="0">
                <a:solidFill>
                  <a:schemeClr val="bg1"/>
                </a:solidFill>
              </a:rPr>
              <a:t> To create/update a resource</a:t>
            </a:r>
            <a:br>
              <a:rPr lang="en-US" b="1" dirty="0"/>
            </a:br>
            <a:endParaRPr lang="en-US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PUT updates the entire resource with data that is passed in the body payload. If there is no resource that matches the request, it will create a new resource.</a:t>
            </a:r>
          </a:p>
          <a:p>
            <a:pPr marL="342900" indent="-342900">
              <a:buAutoNum type="arabicPeriod"/>
            </a:pPr>
            <a:endParaRPr lang="en-IN" dirty="0">
              <a:solidFill>
                <a:schemeClr val="bg1"/>
              </a:solidFill>
            </a:endParaRPr>
          </a:p>
          <a:p>
            <a:pPr marL="342900" indent="-342900">
              <a:buAutoNum type="arabicPeriod"/>
            </a:pPr>
            <a:r>
              <a:rPr lang="en-US" dirty="0">
                <a:solidFill>
                  <a:schemeClr val="bg1"/>
                </a:solidFill>
              </a:rPr>
              <a:t>PUT requests are idempotent, meaning that executing the same. PUT request will always produce the same result</a:t>
            </a:r>
            <a:endParaRPr lang="en-IN" dirty="0">
              <a:solidFill>
                <a:schemeClr val="bg1"/>
              </a:solidFill>
            </a:endParaRPr>
          </a:p>
        </p:txBody>
      </p:sp>
      <p:pic>
        <p:nvPicPr>
          <p:cNvPr id="5122" name="Picture 2" descr="Postman Tutorial Part 8 – How to Send PUT Request in Postman - Make  Selenium Easy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5720" y="2326254"/>
            <a:ext cx="6342207" cy="444547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75719" y="451671"/>
            <a:ext cx="6342207" cy="17143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525393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77351" y="637165"/>
            <a:ext cx="11501792" cy="471199"/>
          </a:xfrm>
        </p:spPr>
        <p:txBody>
          <a:bodyPr/>
          <a:lstStyle/>
          <a:p>
            <a:r>
              <a:rPr lang="en-IN" dirty="0">
                <a:solidFill>
                  <a:srgbClr val="FFB500"/>
                </a:solidFill>
              </a:rPr>
              <a:t>HTTP   DELETE  Method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4856" y="1312977"/>
            <a:ext cx="50049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DELETE is </a:t>
            </a:r>
            <a:r>
              <a:rPr lang="en-US" b="1" dirty="0">
                <a:solidFill>
                  <a:schemeClr val="bg1"/>
                </a:solidFill>
              </a:rPr>
              <a:t>used to </a:t>
            </a:r>
            <a:r>
              <a:rPr lang="en-IN" dirty="0">
                <a:solidFill>
                  <a:schemeClr val="bg1"/>
                </a:solidFill>
              </a:rPr>
              <a:t>to delete a resource</a:t>
            </a:r>
            <a:br>
              <a:rPr lang="en-US" b="1" dirty="0"/>
            </a:br>
            <a:endParaRPr lang="en-US" dirty="0">
              <a:solidFill>
                <a:schemeClr val="bg1"/>
              </a:solidFill>
            </a:endParaRPr>
          </a:p>
          <a:p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79840" y="515680"/>
            <a:ext cx="6441249" cy="1811884"/>
          </a:xfrm>
          <a:prstGeom prst="rect">
            <a:avLst/>
          </a:prstGeom>
        </p:spPr>
      </p:pic>
      <p:pic>
        <p:nvPicPr>
          <p:cNvPr id="7170" name="Picture 2" descr="Postman Tutorial Part 11 – Sending DELETE Request in Postman - Make  Selenium Easy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5755" y="2660236"/>
            <a:ext cx="6425334" cy="40417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330730"/>
      </p:ext>
    </p:extLst>
  </p:cSld>
  <p:clrMapOvr>
    <a:masterClrMapping/>
  </p:clrMapOvr>
</p:sld>
</file>

<file path=ppt/theme/theme1.xml><?xml version="1.0" encoding="utf-8"?>
<a:theme xmlns:a="http://schemas.openxmlformats.org/drawingml/2006/main" name="JU Grå">
  <a:themeElements>
    <a:clrScheme name="JU">
      <a:dk1>
        <a:srgbClr val="000000"/>
      </a:dk1>
      <a:lt1>
        <a:srgbClr val="FFFFFF"/>
      </a:lt1>
      <a:dk2>
        <a:srgbClr val="003865"/>
      </a:dk2>
      <a:lt2>
        <a:srgbClr val="EBEBDF"/>
      </a:lt2>
      <a:accent1>
        <a:srgbClr val="961B81"/>
      </a:accent1>
      <a:accent2>
        <a:srgbClr val="FFB500"/>
      </a:accent2>
      <a:accent3>
        <a:srgbClr val="003865"/>
      </a:accent3>
      <a:accent4>
        <a:srgbClr val="EBEBDF"/>
      </a:accent4>
      <a:accent5>
        <a:srgbClr val="009CDE"/>
      </a:accent5>
      <a:accent6>
        <a:srgbClr val="007A33"/>
      </a:accent6>
      <a:hlink>
        <a:srgbClr val="EBEBDF"/>
      </a:hlink>
      <a:folHlink>
        <a:srgbClr val="961B81"/>
      </a:folHlink>
    </a:clrScheme>
    <a:fontScheme name="Custom 1">
      <a:majorFont>
        <a:latin typeface="Arial"/>
        <a:ea typeface=""/>
        <a:cs typeface=""/>
      </a:majorFont>
      <a:minorFont>
        <a:latin typeface="Georgi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64029</TotalTime>
  <Words>706</Words>
  <Application>Microsoft Office PowerPoint</Application>
  <PresentationFormat>Widescreen</PresentationFormat>
  <Paragraphs>73</Paragraphs>
  <Slides>16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0" baseType="lpstr">
      <vt:lpstr>Arial</vt:lpstr>
      <vt:lpstr>Calibri</vt:lpstr>
      <vt:lpstr>Georgia</vt:lpstr>
      <vt:lpstr>JU Grå</vt:lpstr>
      <vt:lpstr>REST API basics</vt:lpstr>
      <vt:lpstr>Traditional web applications</vt:lpstr>
      <vt:lpstr>Traditional web applications</vt:lpstr>
      <vt:lpstr>Application programming interface</vt:lpstr>
      <vt:lpstr>PowerPoint Presentation</vt:lpstr>
      <vt:lpstr>PowerPoint Presentation</vt:lpstr>
      <vt:lpstr>Why you need REST API?</vt:lpstr>
      <vt:lpstr>PowerPoint Presentation</vt:lpstr>
      <vt:lpstr>PowerPoint Presentation</vt:lpstr>
      <vt:lpstr>PowerPoint Presentation</vt:lpstr>
      <vt:lpstr> CRUD stands for Create, Read, Update, and Delete, which make up these four fundamental operations.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Jönköping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Oskar Pollack</dc:creator>
  <cp:lastModifiedBy>Shyani Sharma</cp:lastModifiedBy>
  <cp:revision>553</cp:revision>
  <dcterms:created xsi:type="dcterms:W3CDTF">2015-07-17T09:22:03Z</dcterms:created>
  <dcterms:modified xsi:type="dcterms:W3CDTF">2026-07-30T10:20:45Z</dcterms:modified>
</cp:coreProperties>
</file>